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US" dirty="0"/>
              <a:t>Implementation of IoT Communication Models and Protocols</a:t>
            </a:r>
            <a:endParaRPr lang="en-US" altLang="en-US" dirty="0"/>
          </a:p>
        </p:txBody>
      </p:sp>
      <p:sp>
        <p:nvSpPr>
          <p:cNvPr id="3" name="Subtitle 2"/>
          <p:cNvSpPr>
            <a:spLocks noGrp="1"/>
          </p:cNvSpPr>
          <p:nvPr>
            <p:ph type="subTitle" idx="1"/>
          </p:nvPr>
        </p:nvSpPr>
        <p:spPr/>
        <p:txBody>
          <a:bodyPr/>
          <a:lstStyle/>
          <a:p>
            <a:r>
              <a:rPr lang="en-IN" altLang="en-US"/>
              <a:t>Vraj Suratwala </a:t>
            </a:r>
            <a:endParaRPr lang="en-IN" altLang="en-US"/>
          </a:p>
          <a:p>
            <a:r>
              <a:rPr lang="en-IN" altLang="en-US"/>
              <a:t>Department of ICT, VNSGU</a:t>
            </a:r>
            <a:endParaRPr lang="en-I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Introduction</a:t>
            </a:r>
            <a:endParaRPr lang="en-US" altLang="en-US"/>
          </a:p>
        </p:txBody>
      </p:sp>
      <p:sp>
        <p:nvSpPr>
          <p:cNvPr id="3" name="Content Placeholder 2"/>
          <p:cNvSpPr>
            <a:spLocks noGrp="1"/>
          </p:cNvSpPr>
          <p:nvPr>
            <p:ph idx="1"/>
          </p:nvPr>
        </p:nvSpPr>
        <p:spPr>
          <a:xfrm>
            <a:off x="838200" y="1825625"/>
            <a:ext cx="8763000" cy="4351655"/>
          </a:xfrm>
        </p:spPr>
        <p:txBody>
          <a:bodyPr/>
          <a:p>
            <a:r>
              <a:rPr lang="en-US" altLang="en-US"/>
              <a:t>IoT communication refers to the exchange of data between sensors, devices, gateways, servers, cloud platforms, and users through communication networks.</a:t>
            </a:r>
            <a:endParaRPr lang="en-US" altLang="en-US"/>
          </a:p>
          <a:p>
            <a:endParaRPr lang="en-US" altLang="en-US"/>
          </a:p>
          <a:p>
            <a:r>
              <a:rPr lang="en-US" altLang="en-US"/>
              <a:t>In an IoT system, devices continuously collect data from the physical environment and communicate this data to other devices or applications. Different communication models and protocols are used depending on the application, distance, power requirements, data size, </a:t>
            </a:r>
            <a:br>
              <a:rPr lang="en-US" altLang="en-US"/>
            </a:br>
            <a:r>
              <a:rPr lang="en-US" altLang="en-US"/>
              <a:t>and network conditions.</a:t>
            </a:r>
            <a:endParaRPr lang="en-US" altLang="en-US"/>
          </a:p>
        </p:txBody>
      </p:sp>
      <p:pic>
        <p:nvPicPr>
          <p:cNvPr id="4" name="Picture 3"/>
          <p:cNvPicPr>
            <a:picLocks noChangeAspect="1"/>
          </p:cNvPicPr>
          <p:nvPr/>
        </p:nvPicPr>
        <p:blipFill>
          <a:blip r:embed="rId1"/>
          <a:stretch>
            <a:fillRect/>
          </a:stretch>
        </p:blipFill>
        <p:spPr>
          <a:xfrm>
            <a:off x="9361170" y="1691005"/>
            <a:ext cx="2767330" cy="3790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IoT Communication Models</a:t>
            </a:r>
            <a:endParaRPr lang="en-US" altLang="en-US"/>
          </a:p>
        </p:txBody>
      </p:sp>
      <p:sp>
        <p:nvSpPr>
          <p:cNvPr id="3" name="Content Placeholder 2"/>
          <p:cNvSpPr>
            <a:spLocks noGrp="1"/>
          </p:cNvSpPr>
          <p:nvPr>
            <p:ph idx="1"/>
          </p:nvPr>
        </p:nvSpPr>
        <p:spPr/>
        <p:txBody>
          <a:bodyPr/>
          <a:p>
            <a:r>
              <a:rPr lang="en-US" altLang="en-US"/>
              <a:t>There are four important IoT communication models:</a:t>
            </a:r>
            <a:endParaRPr lang="en-US" altLang="en-US"/>
          </a:p>
          <a:p>
            <a:pPr lvl="1"/>
            <a:r>
              <a:rPr lang="en-US" altLang="en-US"/>
              <a:t>Request–Response Model</a:t>
            </a:r>
            <a:endParaRPr lang="en-US" altLang="en-US"/>
          </a:p>
          <a:p>
            <a:pPr lvl="1"/>
            <a:r>
              <a:rPr lang="en-US" altLang="en-US"/>
              <a:t>Publish–Subscribe Model</a:t>
            </a:r>
            <a:endParaRPr lang="en-US" altLang="en-US"/>
          </a:p>
          <a:p>
            <a:pPr lvl="1"/>
            <a:r>
              <a:rPr lang="en-US" altLang="en-US"/>
              <a:t>Push–Pull Model</a:t>
            </a:r>
            <a:endParaRPr lang="en-US" altLang="en-US"/>
          </a:p>
          <a:p>
            <a:pPr lvl="1"/>
            <a:r>
              <a:rPr lang="en-US" altLang="en-US"/>
              <a:t>Exclusive Pair Model</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2.1 Request–Response Model</a:t>
            </a:r>
            <a:endParaRPr lang="en-US" altLang="en-US"/>
          </a:p>
        </p:txBody>
      </p:sp>
      <p:sp>
        <p:nvSpPr>
          <p:cNvPr id="3" name="Content Placeholder 2"/>
          <p:cNvSpPr>
            <a:spLocks noGrp="1"/>
          </p:cNvSpPr>
          <p:nvPr>
            <p:ph idx="1"/>
          </p:nvPr>
        </p:nvSpPr>
        <p:spPr/>
        <p:txBody>
          <a:bodyPr>
            <a:normAutofit fontScale="90000" lnSpcReduction="20000"/>
          </a:bodyPr>
          <a:p>
            <a:r>
              <a:rPr lang="en-US" altLang="en-US"/>
              <a:t>In this model, a client sends a request to a server, and the server sends back a response.</a:t>
            </a:r>
            <a:endParaRPr lang="en-US" altLang="en-US"/>
          </a:p>
          <a:p>
            <a:r>
              <a:rPr lang="en-US" altLang="en-US"/>
              <a:t>Client / IoT Device</a:t>
            </a:r>
            <a:endParaRPr lang="en-US" altLang="en-US"/>
          </a:p>
          <a:p>
            <a:r>
              <a:rPr lang="en-US" altLang="en-US"/>
              <a:t>        │</a:t>
            </a:r>
            <a:endParaRPr lang="en-US" altLang="en-US"/>
          </a:p>
          <a:p>
            <a:r>
              <a:rPr lang="en-US" altLang="en-US"/>
              <a:t>     Request</a:t>
            </a:r>
            <a:endParaRPr lang="en-US" altLang="en-US"/>
          </a:p>
          <a:p>
            <a:r>
              <a:rPr lang="en-US" altLang="en-US"/>
              <a:t>        ↓</a:t>
            </a:r>
            <a:endParaRPr lang="en-US" altLang="en-US"/>
          </a:p>
          <a:p>
            <a:r>
              <a:rPr lang="en-US" altLang="en-US"/>
              <a:t>      Server</a:t>
            </a:r>
            <a:endParaRPr lang="en-US" altLang="en-US"/>
          </a:p>
          <a:p>
            <a:r>
              <a:rPr lang="en-US" altLang="en-US"/>
              <a:t>        │</a:t>
            </a:r>
            <a:endParaRPr lang="en-US" altLang="en-US"/>
          </a:p>
          <a:p>
            <a:r>
              <a:rPr lang="en-US" altLang="en-US"/>
              <a:t>     Response</a:t>
            </a:r>
            <a:endParaRPr lang="en-US" altLang="en-US"/>
          </a:p>
          <a:p>
            <a:r>
              <a:rPr lang="en-US" altLang="en-US"/>
              <a:t>        ↓</a:t>
            </a:r>
            <a:endParaRPr lang="en-US" altLang="en-US"/>
          </a:p>
          <a:p>
            <a:r>
              <a:rPr lang="en-US" altLang="en-US"/>
              <a:t>Client / IoT Device</a:t>
            </a:r>
            <a:endParaRPr lang="en-US" altLang="en-US"/>
          </a:p>
        </p:txBody>
      </p:sp>
      <p:sp>
        <p:nvSpPr>
          <p:cNvPr id="4" name="Text Box 3"/>
          <p:cNvSpPr txBox="1"/>
          <p:nvPr/>
        </p:nvSpPr>
        <p:spPr>
          <a:xfrm>
            <a:off x="4351020" y="2500630"/>
            <a:ext cx="7002780" cy="1502410"/>
          </a:xfrm>
          <a:prstGeom prst="rect">
            <a:avLst/>
          </a:prstGeom>
        </p:spPr>
        <p:txBody>
          <a:bodyPr>
            <a:noAutofit/>
          </a:bodyPr>
          <a:p>
            <a:pPr>
              <a:spcAft>
                <a:spcPct val="60000"/>
              </a:spcAft>
            </a:pPr>
            <a:r>
              <a:rPr sz="2200" b="1"/>
              <a:t>Example</a:t>
            </a:r>
            <a:endParaRPr sz="2200" b="1"/>
          </a:p>
          <a:p>
            <a:r>
              <a:rPr sz="1600"/>
              <a:t>A mobile application requests the current temperature:</a:t>
            </a:r>
            <a:endParaRPr sz="1600"/>
          </a:p>
          <a:p>
            <a:r>
              <a:rPr sz="1600"/>
              <a:t>Mobile App → Request → IoT Server
Mobile App ← Response ← IoT Server</a:t>
            </a:r>
            <a:endParaRPr sz="1600"/>
          </a:p>
          <a:p>
            <a:endParaRPr sz="1600"/>
          </a:p>
          <a:p>
            <a:r>
              <a:rPr lang="en-US" altLang="en-US" sz="1600"/>
              <a:t>Common Protocol</a:t>
            </a:r>
            <a:endParaRPr lang="en-US" altLang="en-US" sz="1600"/>
          </a:p>
          <a:p>
            <a:endParaRPr lang="en-US" altLang="en-US" sz="1600"/>
          </a:p>
          <a:p>
            <a:r>
              <a:rPr lang="en-US" altLang="en-US" sz="1600"/>
              <a:t>HTTP/HTTPS is commonly used for request–response communication.</a:t>
            </a:r>
            <a:endParaRPr lang="en-US" altLang="en-US" sz="1600"/>
          </a:p>
          <a:p>
            <a:endParaRPr lang="en-US" altLang="en-US" sz="1600"/>
          </a:p>
          <a:p>
            <a:r>
              <a:rPr lang="en-US" altLang="en-US" sz="1600"/>
              <a:t>Applications</a:t>
            </a:r>
            <a:endParaRPr lang="en-US" altLang="en-US" sz="1600"/>
          </a:p>
          <a:p>
            <a:r>
              <a:rPr lang="en-US" altLang="en-US" sz="1600"/>
              <a:t>Web APIs</a:t>
            </a:r>
            <a:endParaRPr lang="en-US" altLang="en-US" sz="1600"/>
          </a:p>
          <a:p>
            <a:r>
              <a:rPr lang="en-US" altLang="en-US" sz="1600"/>
              <a:t>IoT dashboards</a:t>
            </a:r>
            <a:endParaRPr lang="en-US" altLang="en-US" sz="1600"/>
          </a:p>
          <a:p>
            <a:r>
              <a:rPr lang="en-US" altLang="en-US" sz="1600"/>
              <a:t>Retrieving sensor information</a:t>
            </a:r>
            <a:endParaRPr lang="en-US" altLang="en-US" sz="1600"/>
          </a:p>
          <a:p>
            <a:r>
              <a:rPr lang="en-US" altLang="en-US" sz="1600"/>
              <a:t>Device configuration</a:t>
            </a:r>
            <a:endParaRPr lang="en-US"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2.2 Publish–Subscribe Model</a:t>
            </a:r>
            <a:endParaRPr lang="en-US" altLang="en-US"/>
          </a:p>
        </p:txBody>
      </p:sp>
      <p:sp>
        <p:nvSpPr>
          <p:cNvPr id="3" name="Content Placeholder 2"/>
          <p:cNvSpPr>
            <a:spLocks noGrp="1"/>
          </p:cNvSpPr>
          <p:nvPr>
            <p:ph idx="1"/>
          </p:nvPr>
        </p:nvSpPr>
        <p:spPr/>
        <p:txBody>
          <a:bodyPr/>
          <a:p>
            <a:r>
              <a:rPr lang="en-US" altLang="en-US"/>
              <a:t>In the Publish–Subscribe (Pub-Sub) model, devices do not communicate directly with each other.</a:t>
            </a:r>
            <a:endParaRPr lang="en-US" altLang="en-US"/>
          </a:p>
          <a:p>
            <a:endParaRPr lang="en-US" altLang="en-US"/>
          </a:p>
          <a:p>
            <a:r>
              <a:rPr lang="en-US" altLang="en-US"/>
              <a:t>A central broker manages the communication.</a:t>
            </a:r>
            <a:endParaRPr lang="en-US" altLang="en-US"/>
          </a:p>
          <a:p>
            <a:endParaRPr lang="en-US" altLang="en-US"/>
          </a:p>
          <a:p>
            <a:r>
              <a:rPr lang="en-US" altLang="en-US"/>
              <a:t>Publisher → Sends messages</a:t>
            </a:r>
            <a:endParaRPr lang="en-US" altLang="en-US"/>
          </a:p>
          <a:p>
            <a:r>
              <a:rPr lang="en-US" altLang="en-US"/>
              <a:t>Broker → Receives and distributes messages</a:t>
            </a:r>
            <a:endParaRPr lang="en-US" altLang="en-US"/>
          </a:p>
          <a:p>
            <a:r>
              <a:rPr lang="en-US" altLang="en-US"/>
              <a:t>Subscriber → Receives messages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Publish–Subscribe Model</a:t>
            </a:r>
            <a:endParaRPr lang="en-US"/>
          </a:p>
        </p:txBody>
      </p:sp>
      <p:pic>
        <p:nvPicPr>
          <p:cNvPr id="4" name="Content Placeholder 3"/>
          <p:cNvPicPr>
            <a:picLocks noChangeAspect="1"/>
          </p:cNvPicPr>
          <p:nvPr>
            <p:ph idx="1"/>
          </p:nvPr>
        </p:nvPicPr>
        <p:blipFill>
          <a:blip r:embed="rId1"/>
          <a:stretch>
            <a:fillRect/>
          </a:stretch>
        </p:blipFill>
        <p:spPr>
          <a:xfrm>
            <a:off x="9029065" y="1504315"/>
            <a:ext cx="2515235" cy="4490720"/>
          </a:xfrm>
          <a:prstGeom prst="rect">
            <a:avLst/>
          </a:prstGeom>
        </p:spPr>
      </p:pic>
      <p:sp>
        <p:nvSpPr>
          <p:cNvPr id="5" name="Text Box 4"/>
          <p:cNvSpPr txBox="1"/>
          <p:nvPr/>
        </p:nvSpPr>
        <p:spPr>
          <a:xfrm>
            <a:off x="838200" y="1504315"/>
            <a:ext cx="5826125" cy="4490720"/>
          </a:xfrm>
          <a:prstGeom prst="rect">
            <a:avLst/>
          </a:prstGeom>
        </p:spPr>
        <p:txBody>
          <a:bodyPr>
            <a:noAutofit/>
          </a:bodyPr>
          <a:p>
            <a:pPr>
              <a:spcAft>
                <a:spcPct val="60000"/>
              </a:spcAft>
            </a:pPr>
            <a:r>
              <a:rPr sz="2200" b="1"/>
              <a:t>Example</a:t>
            </a:r>
            <a:endParaRPr sz="2200" b="1"/>
          </a:p>
          <a:p>
            <a:r>
              <a:rPr sz="1600"/>
              <a:t>A temperature sensor publishes:</a:t>
            </a:r>
            <a:endParaRPr sz="1600"/>
          </a:p>
          <a:p>
            <a:r>
              <a:rPr sz="1600"/>
              <a:t>Topic: home/temperature
Value: 29°C</a:t>
            </a:r>
            <a:endParaRPr sz="1600"/>
          </a:p>
          <a:p>
            <a:r>
              <a:rPr sz="1600"/>
              <a:t>Any subscriber to home/temperature receives the value.</a:t>
            </a:r>
            <a:endParaRPr sz="1600"/>
          </a:p>
          <a:p>
            <a:pPr>
              <a:spcAft>
                <a:spcPct val="60000"/>
              </a:spcAft>
            </a:pPr>
            <a:r>
              <a:rPr sz="2200" b="1"/>
              <a:t>Common Protocol</a:t>
            </a:r>
            <a:endParaRPr sz="2200" b="1"/>
          </a:p>
          <a:p>
            <a:r>
              <a:rPr sz="1600"/>
              <a:t>MQTT is the most important example.</a:t>
            </a:r>
            <a:endParaRPr sz="1600"/>
          </a:p>
          <a:p>
            <a:pPr>
              <a:spcAft>
                <a:spcPct val="60000"/>
              </a:spcAft>
            </a:pPr>
            <a:r>
              <a:rPr sz="2200" b="1"/>
              <a:t>Applications</a:t>
            </a:r>
            <a:endParaRPr sz="2200" b="1"/>
          </a:p>
          <a:p>
            <a:pPr>
              <a:buFont typeface="Arial" panose="020B0604020202020204"/>
              <a:buChar char="•"/>
            </a:pPr>
            <a:r>
              <a:rPr sz="1600"/>
              <a:t> Smart homes </a:t>
            </a:r>
            <a:endParaRPr sz="1600"/>
          </a:p>
          <a:p>
            <a:pPr>
              <a:buFont typeface="Arial" panose="020B0604020202020204"/>
              <a:buChar char="•"/>
            </a:pPr>
            <a:r>
              <a:rPr sz="1600"/>
              <a:t> Industrial IoT </a:t>
            </a:r>
            <a:endParaRPr sz="1600"/>
          </a:p>
          <a:p>
            <a:pPr>
              <a:buFont typeface="Arial" panose="020B0604020202020204"/>
              <a:buChar char="•"/>
            </a:pPr>
            <a:r>
              <a:rPr sz="1600"/>
              <a:t> Sensor monitoring </a:t>
            </a:r>
            <a:endParaRPr sz="1600"/>
          </a:p>
          <a:p>
            <a:pPr>
              <a:buFont typeface="Arial" panose="020B0604020202020204"/>
              <a:buChar char="•"/>
            </a:pPr>
            <a:r>
              <a:rPr sz="1600"/>
              <a:t> Real-time notifications</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2.3 Push–Pull Model</a:t>
            </a:r>
            <a:endParaRPr lang="en-US" altLang="en-US"/>
          </a:p>
        </p:txBody>
      </p:sp>
      <p:sp>
        <p:nvSpPr>
          <p:cNvPr id="3" name="Content Placeholder 2"/>
          <p:cNvSpPr>
            <a:spLocks noGrp="1"/>
          </p:cNvSpPr>
          <p:nvPr>
            <p:ph idx="1"/>
          </p:nvPr>
        </p:nvSpPr>
        <p:spPr/>
        <p:txBody>
          <a:bodyPr>
            <a:normAutofit fontScale="90000"/>
          </a:bodyPr>
          <a:p>
            <a:r>
              <a:rPr lang="en-US" altLang="en-US"/>
              <a:t>In the Push–Pull model, one component pushes data into a queue, while another component pulls data from the queue for processing.</a:t>
            </a:r>
            <a:endParaRPr lang="en-US" altLang="en-US"/>
          </a:p>
          <a:p>
            <a:r>
              <a:rPr lang="en-US" altLang="en-US"/>
              <a:t>Example</a:t>
            </a:r>
            <a:endParaRPr lang="en-US" altLang="en-US"/>
          </a:p>
          <a:p>
            <a:r>
              <a:rPr lang="en-US" altLang="en-US"/>
              <a:t>Multiple IoT sensors can continuously push readings into a queue. A processing system pulls those readings and processes them.</a:t>
            </a:r>
            <a:endParaRPr lang="en-US" altLang="en-US"/>
          </a:p>
          <a:p>
            <a:r>
              <a:rPr lang="en-US" altLang="en-US"/>
              <a:t>Applications</a:t>
            </a:r>
            <a:endParaRPr lang="en-US" altLang="en-US"/>
          </a:p>
          <a:p>
            <a:pPr lvl="1"/>
            <a:r>
              <a:rPr lang="en-US" altLang="en-US"/>
              <a:t>Data collection</a:t>
            </a:r>
            <a:endParaRPr lang="en-US" altLang="en-US"/>
          </a:p>
          <a:p>
            <a:pPr lvl="1"/>
            <a:r>
              <a:rPr lang="en-US" altLang="en-US"/>
              <a:t>Distributed processing</a:t>
            </a:r>
            <a:endParaRPr lang="en-US" altLang="en-US"/>
          </a:p>
          <a:p>
            <a:pPr lvl="1"/>
            <a:r>
              <a:rPr lang="en-US" altLang="en-US"/>
              <a:t>Large-scale sensor systems</a:t>
            </a:r>
            <a:endParaRPr lang="en-US" altLang="en-US"/>
          </a:p>
          <a:p>
            <a:pPr lvl="1"/>
            <a:r>
              <a:rPr lang="en-US" altLang="en-US"/>
              <a:t>Data pipelines</a:t>
            </a:r>
            <a:endParaRPr lang="en-US" altLang="en-US"/>
          </a:p>
        </p:txBody>
      </p:sp>
      <p:pic>
        <p:nvPicPr>
          <p:cNvPr id="4" name="Picture 3"/>
          <p:cNvPicPr>
            <a:picLocks noChangeAspect="1"/>
          </p:cNvPicPr>
          <p:nvPr/>
        </p:nvPicPr>
        <p:blipFill>
          <a:blip r:embed="rId1"/>
          <a:stretch>
            <a:fillRect/>
          </a:stretch>
        </p:blipFill>
        <p:spPr>
          <a:xfrm>
            <a:off x="9244330" y="3890645"/>
            <a:ext cx="2404110" cy="25488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2.4 Exclusive Pair Model</a:t>
            </a:r>
            <a:endParaRPr lang="en-US"/>
          </a:p>
        </p:txBody>
      </p:sp>
      <p:sp>
        <p:nvSpPr>
          <p:cNvPr id="3" name="Content Placeholder 2"/>
          <p:cNvSpPr>
            <a:spLocks noGrp="1"/>
          </p:cNvSpPr>
          <p:nvPr>
            <p:ph idx="1"/>
          </p:nvPr>
        </p:nvSpPr>
        <p:spPr/>
        <p:txBody>
          <a:bodyPr>
            <a:normAutofit lnSpcReduction="20000"/>
          </a:bodyPr>
          <a:p>
            <a:r>
              <a:rPr lang="en-US" altLang="en-US"/>
              <a:t>In the Exclusive Pair model, two devices establish a persistent, two-way connection and communicate directly.</a:t>
            </a:r>
            <a:endParaRPr lang="en-US" altLang="en-US"/>
          </a:p>
          <a:p>
            <a:endParaRPr lang="en-US" altLang="en-US"/>
          </a:p>
          <a:p>
            <a:r>
              <a:rPr lang="en-US" altLang="en-US"/>
              <a:t>┌────────────┐  Two-way   ┌────────────┐</a:t>
            </a:r>
            <a:endParaRPr lang="en-US" altLang="en-US"/>
          </a:p>
          <a:p>
            <a:r>
              <a:rPr lang="en-US" altLang="en-US"/>
              <a:t>│ IoT Device │◄──────────►│   Server  </a:t>
            </a:r>
            <a:r>
              <a:rPr lang="" altLang="en-US"/>
              <a:t>	</a:t>
            </a:r>
            <a:r>
              <a:rPr lang="en-US" altLang="en-US"/>
              <a:t> │</a:t>
            </a:r>
            <a:endParaRPr lang="en-US" altLang="en-US"/>
          </a:p>
          <a:p>
            <a:r>
              <a:rPr lang="en-US" altLang="en-US"/>
              <a:t>└────────────┘ Connection  └────────────┘</a:t>
            </a:r>
            <a:endParaRPr lang="en-US" altLang="en-US"/>
          </a:p>
          <a:p>
            <a:endParaRPr lang="en-US" altLang="en-US"/>
          </a:p>
          <a:p>
            <a:r>
              <a:rPr lang="en-US" altLang="en-US"/>
              <a:t>Both devices can send and receive data.</a:t>
            </a:r>
            <a:endParaRPr lang="en-US" altLang="en-US"/>
          </a:p>
        </p:txBody>
      </p:sp>
      <p:sp>
        <p:nvSpPr>
          <p:cNvPr id="4" name="Text Box 3"/>
          <p:cNvSpPr txBox="1"/>
          <p:nvPr/>
        </p:nvSpPr>
        <p:spPr>
          <a:xfrm>
            <a:off x="7112000" y="4126230"/>
            <a:ext cx="5080000" cy="2494280"/>
          </a:xfrm>
          <a:prstGeom prst="rect">
            <a:avLst/>
          </a:prstGeom>
        </p:spPr>
        <p:txBody>
          <a:bodyPr>
            <a:spAutoFit/>
          </a:bodyPr>
          <a:p>
            <a:pPr>
              <a:spcAft>
                <a:spcPct val="60000"/>
              </a:spcAft>
            </a:pPr>
            <a:r>
              <a:rPr sz="2200" b="1"/>
              <a:t>Common Example</a:t>
            </a:r>
            <a:endParaRPr sz="2200" b="1"/>
          </a:p>
          <a:p>
            <a:r>
              <a:rPr sz="1600"/>
              <a:t>WebSocket can provide continuous two-way communication between a client and server.</a:t>
            </a:r>
            <a:endParaRPr sz="1600"/>
          </a:p>
          <a:p>
            <a:pPr>
              <a:spcAft>
                <a:spcPct val="60000"/>
              </a:spcAft>
            </a:pPr>
            <a:r>
              <a:rPr sz="2200" b="1"/>
              <a:t>Applications</a:t>
            </a:r>
            <a:endParaRPr sz="2200" b="1"/>
          </a:p>
          <a:p>
            <a:pPr>
              <a:buFont typeface="Arial" panose="020B0604020202020204"/>
              <a:buChar char="•"/>
            </a:pPr>
            <a:r>
              <a:rPr sz="1600"/>
              <a:t> Real-time monitoring </a:t>
            </a:r>
            <a:endParaRPr sz="1600"/>
          </a:p>
          <a:p>
            <a:pPr>
              <a:buFont typeface="Arial" panose="020B0604020202020204"/>
              <a:buChar char="•"/>
            </a:pPr>
            <a:r>
              <a:rPr sz="1600"/>
              <a:t> Live control systems </a:t>
            </a:r>
            <a:endParaRPr sz="1600"/>
          </a:p>
          <a:p>
            <a:pPr>
              <a:buFont typeface="Arial" panose="020B0604020202020204"/>
              <a:buChar char="•"/>
            </a:pPr>
            <a:r>
              <a:rPr sz="1600"/>
              <a:t> Device-to-device commun</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723265" y="365125"/>
            <a:ext cx="10942320" cy="45326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IN" altLang=""/>
              <a:t>Thank You</a:t>
            </a:r>
            <a:endParaRPr lang="en-IN" altLang=""/>
          </a:p>
        </p:txBody>
      </p:sp>
      <p:sp>
        <p:nvSpPr>
          <p:cNvPr id="5" name="Subtitle 4"/>
          <p:cNvSpPr>
            <a:spLocks noGrp="1"/>
          </p:cNvSpPr>
          <p:nvPr>
            <p:ph type="subTitle" idx="1"/>
          </p:nvPr>
        </p:nvSpPr>
        <p:spPr/>
        <p:txBody>
          <a:bodyPr/>
          <a:p>
            <a:r>
              <a:rPr lang="en-IN" altLang="en-US"/>
              <a:t>Vraj Suratwala</a:t>
            </a:r>
            <a:endParaRPr lang="en-IN" altLang="en-US"/>
          </a:p>
          <a:p>
            <a:r>
              <a:rPr lang="en-IN" altLang="en-US"/>
              <a:t>Department of ICT, VNSGU</a:t>
            </a:r>
            <a:endParaRPr lang="en-I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2655</Words>
  <Application>WPS Presentation</Application>
  <PresentationFormat>Widescreen</PresentationFormat>
  <Paragraphs>103</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Calibri Light</vt:lpstr>
      <vt:lpstr>Calibri</vt:lpstr>
      <vt:lpstr>Microsoft YaHei</vt:lpstr>
      <vt:lpstr>Arial Unicode MS</vt:lpstr>
      <vt:lpstr>Mangal</vt:lpstr>
      <vt:lpstr>Arial</vt:lpstr>
      <vt:lpstr>Shruti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9</cp:revision>
  <dcterms:created xsi:type="dcterms:W3CDTF">2025-07-23T00:59:00Z</dcterms:created>
  <dcterms:modified xsi:type="dcterms:W3CDTF">2026-09-20T15:01:41Z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48123665AA9D48D9A991F532B7C8A60A_11</vt:lpwstr>
  </property>
  <property fmtid="{D5CDD505-2E9C-101B-9397-08002B2CF9AE}" pid="3" name="KSOProductBuildVer">
    <vt:lpwstr>1033-12.1.0.25862</vt:lpwstr>
  </property>
</Properties>
</file>