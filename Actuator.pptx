
<file path=[Content_Types].xml><?xml version="1.0" encoding="utf-8"?>
<Types xmlns="http://schemas.openxmlformats.org/package/2006/content-types">
  <Default Extension="jpeg" ContentType="image/jpeg"/>
  <Default Extension="JPG" ContentType="image/.jpg"/>
  <Default Extension="emf" ContentType="image/x-em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87" r:id="rId3"/>
    <p:sldId id="288" r:id="rId4"/>
    <p:sldId id="266" r:id="rId5"/>
    <p:sldId id="267" r:id="rId6"/>
    <p:sldId id="271" r:id="rId7"/>
    <p:sldId id="268" r:id="rId8"/>
    <p:sldId id="259" r:id="rId9"/>
    <p:sldId id="260" r:id="rId10"/>
    <p:sldId id="261" r:id="rId11"/>
    <p:sldId id="262" r:id="rId12"/>
    <p:sldId id="269" r:id="rId13"/>
    <p:sldId id="270" r:id="rId14"/>
    <p:sldId id="272" r:id="rId15"/>
    <p:sldId id="273" r:id="rId16"/>
    <p:sldId id="285" r:id="rId17"/>
    <p:sldId id="286" r:id="rId1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snapToGrid="0" showGuides="1">
      <p:cViewPr varScale="1">
        <p:scale>
          <a:sx n="68" d="100"/>
          <a:sy n="68" d="100"/>
        </p:scale>
        <p:origin x="-1446"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notesMaster" Target="notesMasters/notesMaster1.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A63E6703-2702-430A-8EC4-77C9005A2978}" type="datetimeFigureOut">
              <a:rPr lang="en-US" smtClean="0"/>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2C54234-9B17-4668-8AD8-D25B0A5A2C3B}"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A3417A3D-B5B2-42AB-90C4-469960DD51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3417A3D-B5B2-42AB-90C4-469960DD51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A3417A3D-B5B2-42AB-90C4-469960DD51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A3417A3D-B5B2-42AB-90C4-469960DD511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629842" y="2505075"/>
            <a:ext cx="3868340"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29150" y="2505075"/>
            <a:ext cx="3887391"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A3417A3D-B5B2-42AB-90C4-469960DD5110}"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A3417A3D-B5B2-42AB-90C4-469960DD5110}"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3417A3D-B5B2-42AB-90C4-469960DD5110}"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3417A3D-B5B2-42AB-90C4-469960DD511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A3417A3D-B5B2-42AB-90C4-469960DD5110}"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3417A3D-B5B2-42AB-90C4-469960DD51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3417A3D-B5B2-42AB-90C4-469960DD5110}"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C02E989-8082-4F22-B12A-AD37AFA41E67}"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3417A3D-B5B2-42AB-90C4-469960DD5110}" type="datetimeFigureOut">
              <a:rPr lang="en-US" smtClean="0"/>
            </a:fld>
            <a:endParaRPr 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C02E989-8082-4F22-B12A-AD37AFA41E67}"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em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6.png"/><Relationship Id="rId1" Type="http://schemas.openxmlformats.org/officeDocument/2006/relationships/image" Target="../media/image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jpe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Actuator</a:t>
            </a:r>
            <a:br>
              <a:rPr lang="en-US" b="1" dirty="0" smtClean="0"/>
            </a:br>
            <a:endParaRPr lang="en-US" dirty="0"/>
          </a:p>
        </p:txBody>
      </p:sp>
      <p:sp>
        <p:nvSpPr>
          <p:cNvPr id="3" name="Content Placeholder 2"/>
          <p:cNvSpPr>
            <a:spLocks noGrp="1"/>
          </p:cNvSpPr>
          <p:nvPr>
            <p:ph sz="half" idx="1"/>
          </p:nvPr>
        </p:nvSpPr>
        <p:spPr>
          <a:xfrm>
            <a:off x="628650" y="1562735"/>
            <a:ext cx="7882304" cy="3351286"/>
          </a:xfrm>
        </p:spPr>
        <p:txBody>
          <a:bodyPr>
            <a:noAutofit/>
          </a:bodyPr>
          <a:lstStyle/>
          <a:p>
            <a:pPr algn="just"/>
            <a:r>
              <a:rPr lang="en-US" sz="4000" b="1" dirty="0" smtClean="0">
                <a:latin typeface="Times New Roman" panose="02020503050405090304" pitchFamily="18" charset="0"/>
                <a:cs typeface="Times New Roman" panose="02020503050405090304" pitchFamily="18" charset="0"/>
              </a:rPr>
              <a:t>An actuator is a machine part that receives feedback from a control signal and then begins movement. The actuator makes distinct motions depending on the machine’s purpose once it receives electricity.</a:t>
            </a:r>
            <a:endParaRPr lang="en-US" sz="4000" b="1" dirty="0" smtClean="0">
              <a:latin typeface="Times New Roman" panose="02020503050405090304" pitchFamily="18" charset="0"/>
              <a:cs typeface="Times New Roman" panose="02020503050405090304" pitchFamily="18" charset="0"/>
            </a:endParaRPr>
          </a:p>
          <a:p>
            <a:endParaRPr lang="en-US" sz="4000" dirty="0">
              <a:latin typeface="Times New Roman" panose="02020503050405090304" pitchFamily="18" charset="0"/>
              <a:cs typeface="Times New Roman" panose="02020503050405090304"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604910"/>
            <a:ext cx="7886700" cy="5725551"/>
          </a:xfrm>
        </p:spPr>
        <p:txBody>
          <a:bodyPr>
            <a:normAutofit/>
          </a:bodyPr>
          <a:lstStyle/>
          <a:p>
            <a:pPr algn="just" fontAlgn="base"/>
            <a:r>
              <a:rPr lang="en-US" dirty="0" smtClean="0">
                <a:latin typeface="Times New Roman" panose="02020503050405090304" pitchFamily="18" charset="0"/>
                <a:cs typeface="Times New Roman" panose="02020503050405090304" pitchFamily="18" charset="0"/>
              </a:rPr>
              <a:t>At least one actuator can be found in any portion of a piece of equipment or appliance that converts </a:t>
            </a:r>
            <a:r>
              <a:rPr lang="en-US" b="1" dirty="0" smtClean="0">
                <a:latin typeface="Times New Roman Bold" panose="02020503050405090304" charset="0"/>
                <a:cs typeface="Times New Roman Bold" panose="02020503050405090304" charset="0"/>
              </a:rPr>
              <a:t>electrical energy into motion, </a:t>
            </a:r>
            <a:endParaRPr lang="en-US" b="1" dirty="0" smtClean="0">
              <a:latin typeface="Times New Roman Bold" panose="02020503050405090304" charset="0"/>
              <a:cs typeface="Times New Roman Bold" panose="02020503050405090304" charset="0"/>
            </a:endParaRPr>
          </a:p>
          <a:p>
            <a:pPr lvl="1" algn="just" fontAlgn="base"/>
            <a:r>
              <a:rPr lang="en-US" dirty="0" smtClean="0">
                <a:latin typeface="Times New Roman" panose="02020503050405090304" pitchFamily="18" charset="0"/>
                <a:cs typeface="Times New Roman" panose="02020503050405090304" pitchFamily="18" charset="0"/>
              </a:rPr>
              <a:t>such as ventilation fans, blenders, or refrigerators. Actuators are also used in electric vehicles.</a:t>
            </a:r>
            <a:endParaRPr lang="en-US" dirty="0" smtClean="0">
              <a:latin typeface="Times New Roman" panose="02020503050405090304" pitchFamily="18" charset="0"/>
              <a:cs typeface="Times New Roman" panose="02020503050405090304" pitchFamily="18" charset="0"/>
            </a:endParaRPr>
          </a:p>
          <a:p>
            <a:pPr algn="just" fontAlgn="base"/>
            <a:r>
              <a:rPr lang="en-US" dirty="0" smtClean="0">
                <a:latin typeface="Times New Roman" panose="02020503050405090304" pitchFamily="18" charset="0"/>
                <a:cs typeface="Times New Roman" panose="02020503050405090304" pitchFamily="18" charset="0"/>
              </a:rPr>
              <a:t>Stepper motors are a type of actuator that receives digital pulses and converts them into mechanical motion. Robots, smart tools, and automated cutting equipment all use stepper motors.</a:t>
            </a:r>
            <a:endParaRPr lang="en-US" dirty="0" smtClean="0">
              <a:latin typeface="Times New Roman" panose="02020503050405090304" pitchFamily="18" charset="0"/>
              <a:cs typeface="Times New Roman" panose="02020503050405090304" pitchFamily="18" charset="0"/>
            </a:endParaRPr>
          </a:p>
          <a:p>
            <a:pPr algn="just" fontAlgn="base"/>
            <a:r>
              <a:rPr lang="en-US" dirty="0" smtClean="0">
                <a:latin typeface="Times New Roman" panose="02020503050405090304" pitchFamily="18" charset="0"/>
                <a:cs typeface="Times New Roman" panose="02020503050405090304" pitchFamily="18" charset="0"/>
              </a:rPr>
              <a:t>Hydraulic cylinders are linear motion devices that use a tube, piston, and rod to function. Bulldozers, backhoes, and excavators are examples of vehicles that use hydraulic action.</a:t>
            </a:r>
            <a:endParaRPr lang="en-US" dirty="0" smtClean="0">
              <a:latin typeface="Times New Roman" panose="02020503050405090304" pitchFamily="18" charset="0"/>
              <a:cs typeface="Times New Roman" panose="02020503050405090304" pitchFamily="18" charset="0"/>
            </a:endParaRPr>
          </a:p>
          <a:p>
            <a:endParaRPr lang="en-US" dirty="0"/>
          </a:p>
        </p:txBody>
      </p:sp>
      <p:sp>
        <p:nvSpPr>
          <p:cNvPr id="4" name="Content Placeholder 3"/>
          <p:cNvSpPr txBox="1"/>
          <p:nvPr/>
        </p:nvSpPr>
        <p:spPr>
          <a:xfrm>
            <a:off x="548640" y="6217919"/>
            <a:ext cx="8008913" cy="240396"/>
          </a:xfrm>
          <a:prstGeom prst="rect">
            <a:avLst/>
          </a:prstGeom>
        </p:spPr>
        <p:txBody>
          <a:bodyPr>
            <a:normAutofit fontScale="47500" lnSpcReduction="20000"/>
          </a:body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90204" pitchFamily="34" charset="0"/>
              <a:buChar char="•"/>
              <a:defRPr/>
            </a:pPr>
            <a:r>
              <a:rPr kumimoji="0" lang="en-US" sz="2800" b="0" i="0" u="none" strike="noStrike" kern="1200" cap="none" spc="0" normalizeH="0" baseline="0" noProof="0" smtClean="0">
                <a:ln>
                  <a:noFill/>
                </a:ln>
                <a:solidFill>
                  <a:schemeClr val="tx1"/>
                </a:solidFill>
                <a:effectLst/>
                <a:uLnTx/>
                <a:uFillTx/>
                <a:latin typeface="+mn-lt"/>
                <a:ea typeface="+mn-ea"/>
                <a:cs typeface="+mn-cs"/>
              </a:rPr>
              <a:t>Source: https://www.linquip.com/blog/types-of-actuators/</a:t>
            </a:r>
            <a:endParaRPr kumimoji="0" lang="en-US" sz="2800" b="0" i="0" u="none" strike="noStrike" kern="1200" cap="none" spc="0" normalizeH="0" baseline="0" noProof="0" dirty="0">
              <a:ln>
                <a:noFill/>
              </a:ln>
              <a:solidFill>
                <a:schemeClr val="tx1"/>
              </a:solidFill>
              <a:effectLst/>
              <a:uLnTx/>
              <a:uFillTx/>
              <a:latin typeface="+mn-lt"/>
              <a:ea typeface="+mn-ea"/>
              <a:cs typeface="+mn-cs"/>
            </a:endParaRP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smtClean="0"/>
              <a:t>ACTUATORS</a:t>
            </a:r>
            <a:endParaRPr lang="en-US" u="sng" dirty="0"/>
          </a:p>
        </p:txBody>
      </p:sp>
      <p:sp>
        <p:nvSpPr>
          <p:cNvPr id="3" name="Content Placeholder 2"/>
          <p:cNvSpPr>
            <a:spLocks noGrp="1"/>
          </p:cNvSpPr>
          <p:nvPr>
            <p:ph idx="1"/>
          </p:nvPr>
        </p:nvSpPr>
        <p:spPr>
          <a:xfrm>
            <a:off x="628650" y="1457135"/>
            <a:ext cx="8283338" cy="5011904"/>
          </a:xfrm>
        </p:spPr>
        <p:txBody>
          <a:bodyPr>
            <a:normAutofit fontScale="92500" lnSpcReduction="10000"/>
          </a:bodyPr>
          <a:lstStyle/>
          <a:p>
            <a:pPr algn="just"/>
            <a:r>
              <a:rPr lang="en-US" b="1" i="1" dirty="0"/>
              <a:t>Actuators are the devices which provide the actual motive force for the robot joints. </a:t>
            </a:r>
            <a:endParaRPr lang="en-US" b="1" i="1" dirty="0"/>
          </a:p>
          <a:p>
            <a:pPr algn="just"/>
            <a:r>
              <a:rPr lang="en-US" sz="2600" dirty="0" smtClean="0"/>
              <a:t>Actuators are the muscles of robots. If you imagine that the links and the joints are the skeleton of the robot, the actuators act as muscles, which moves or rotate the links to change the configuration of robots. The actuators must have enough power to accelerate and decelerate the links and to carry the loads, yet be light, economical, accurate, responsive, reliable and easy to maintain.</a:t>
            </a:r>
            <a:endParaRPr lang="en-US" sz="2600" dirty="0" smtClean="0"/>
          </a:p>
          <a:p>
            <a:pPr algn="just"/>
            <a:r>
              <a:rPr lang="en-US" dirty="0" smtClean="0"/>
              <a:t>Actuators in robotic system basically consists of :</a:t>
            </a:r>
            <a:endParaRPr lang="en-US" dirty="0" smtClean="0"/>
          </a:p>
          <a:p>
            <a:pPr lvl="1" algn="just"/>
            <a:r>
              <a:rPr lang="en-US" dirty="0" smtClean="0"/>
              <a:t>A power supply.</a:t>
            </a:r>
            <a:endParaRPr lang="en-US" dirty="0" smtClean="0"/>
          </a:p>
          <a:p>
            <a:pPr lvl="1" algn="just"/>
            <a:r>
              <a:rPr lang="en-US" dirty="0" smtClean="0"/>
              <a:t>A power amplifier.</a:t>
            </a:r>
            <a:endParaRPr lang="en-US" dirty="0" smtClean="0"/>
          </a:p>
          <a:p>
            <a:pPr lvl="1" algn="just"/>
            <a:r>
              <a:rPr lang="en-US" dirty="0" smtClean="0"/>
              <a:t>A servomotor.</a:t>
            </a:r>
            <a:endParaRPr lang="en-US" dirty="0" smtClean="0"/>
          </a:p>
          <a:p>
            <a:pPr lvl="1" algn="just"/>
            <a:r>
              <a:rPr lang="en-US" dirty="0" smtClean="0"/>
              <a:t>A transmission system.</a:t>
            </a:r>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b="1" u="sng" dirty="0" smtClean="0"/>
              <a:t>Actuator system</a:t>
            </a:r>
            <a:endParaRPr lang="en-US" sz="3200" b="1" u="sng" dirty="0" smtClean="0"/>
          </a:p>
        </p:txBody>
      </p:sp>
      <p:sp>
        <p:nvSpPr>
          <p:cNvPr id="4" name="Rectangle 3"/>
          <p:cNvSpPr/>
          <p:nvPr/>
        </p:nvSpPr>
        <p:spPr>
          <a:xfrm>
            <a:off x="914400" y="1371600"/>
            <a:ext cx="1981200" cy="9144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srgbClr val="FF0000"/>
                </a:solidFill>
              </a:rPr>
              <a:t>POWER</a:t>
            </a:r>
            <a:endParaRPr lang="en-US" sz="2400" b="1" dirty="0" smtClean="0">
              <a:solidFill>
                <a:srgbClr val="FF0000"/>
              </a:solidFill>
            </a:endParaRPr>
          </a:p>
          <a:p>
            <a:pPr algn="ctr"/>
            <a:r>
              <a:rPr lang="en-US" sz="2400" b="1" dirty="0" smtClean="0">
                <a:solidFill>
                  <a:srgbClr val="FF0000"/>
                </a:solidFill>
              </a:rPr>
              <a:t>SUPPLIES</a:t>
            </a:r>
            <a:endParaRPr lang="en-US" sz="2400" b="1" dirty="0">
              <a:solidFill>
                <a:srgbClr val="FF0000"/>
              </a:solidFill>
            </a:endParaRPr>
          </a:p>
        </p:txBody>
      </p:sp>
      <p:sp>
        <p:nvSpPr>
          <p:cNvPr id="5" name="Rectangle 4"/>
          <p:cNvSpPr/>
          <p:nvPr/>
        </p:nvSpPr>
        <p:spPr>
          <a:xfrm>
            <a:off x="914400" y="2971800"/>
            <a:ext cx="198120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400" b="1" dirty="0" smtClean="0">
                <a:solidFill>
                  <a:srgbClr val="FF0000"/>
                </a:solidFill>
              </a:rPr>
              <a:t>POWER</a:t>
            </a:r>
            <a:endParaRPr lang="en-US" sz="2400" b="1" dirty="0" smtClean="0">
              <a:solidFill>
                <a:srgbClr val="FF0000"/>
              </a:solidFill>
            </a:endParaRPr>
          </a:p>
          <a:p>
            <a:pPr algn="ctr"/>
            <a:r>
              <a:rPr lang="en-US" sz="2400" b="1" dirty="0" smtClean="0">
                <a:solidFill>
                  <a:srgbClr val="FF0000"/>
                </a:solidFill>
              </a:rPr>
              <a:t>AMPLIFIER</a:t>
            </a:r>
            <a:endParaRPr lang="en-US" sz="2400" b="1" dirty="0" smtClean="0">
              <a:solidFill>
                <a:srgbClr val="FF0000"/>
              </a:solidFill>
            </a:endParaRPr>
          </a:p>
        </p:txBody>
      </p:sp>
      <p:sp>
        <p:nvSpPr>
          <p:cNvPr id="6" name="Rectangle 5"/>
          <p:cNvSpPr/>
          <p:nvPr/>
        </p:nvSpPr>
        <p:spPr>
          <a:xfrm>
            <a:off x="6172200" y="2971800"/>
            <a:ext cx="220980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2000" b="1" dirty="0" smtClean="0">
                <a:solidFill>
                  <a:srgbClr val="FF0000"/>
                </a:solidFill>
              </a:rPr>
              <a:t>TRANSMISSION</a:t>
            </a:r>
            <a:endParaRPr lang="en-US" sz="2000" b="1" dirty="0" smtClean="0">
              <a:solidFill>
                <a:srgbClr val="FF0000"/>
              </a:solidFill>
            </a:endParaRPr>
          </a:p>
        </p:txBody>
      </p:sp>
      <p:sp>
        <p:nvSpPr>
          <p:cNvPr id="7" name="Rectangle 6"/>
          <p:cNvSpPr/>
          <p:nvPr/>
        </p:nvSpPr>
        <p:spPr>
          <a:xfrm>
            <a:off x="3352800" y="2971800"/>
            <a:ext cx="2362200" cy="990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b="1" dirty="0" smtClean="0">
                <a:solidFill>
                  <a:srgbClr val="FF0000"/>
                </a:solidFill>
              </a:rPr>
              <a:t>MOTOR</a:t>
            </a:r>
            <a:endParaRPr lang="en-US" sz="1400" b="1" dirty="0" smtClean="0">
              <a:solidFill>
                <a:srgbClr val="FF0000"/>
              </a:solidFill>
            </a:endParaRPr>
          </a:p>
          <a:p>
            <a:pPr algn="ctr"/>
            <a:r>
              <a:rPr lang="en-US" sz="1400" b="1" dirty="0" smtClean="0">
                <a:solidFill>
                  <a:srgbClr val="FF0000"/>
                </a:solidFill>
              </a:rPr>
              <a:t>OR</a:t>
            </a:r>
            <a:endParaRPr lang="en-US" sz="1400" b="1" dirty="0" smtClean="0">
              <a:solidFill>
                <a:srgbClr val="FF0000"/>
              </a:solidFill>
            </a:endParaRPr>
          </a:p>
          <a:p>
            <a:pPr algn="ctr"/>
            <a:r>
              <a:rPr lang="en-US" b="1" dirty="0" smtClean="0">
                <a:solidFill>
                  <a:srgbClr val="FF0000"/>
                </a:solidFill>
              </a:rPr>
              <a:t>SERVO MOTOR</a:t>
            </a:r>
            <a:endParaRPr lang="en-US" b="1" dirty="0" smtClean="0">
              <a:solidFill>
                <a:srgbClr val="FF0000"/>
              </a:solidFill>
            </a:endParaRPr>
          </a:p>
        </p:txBody>
      </p:sp>
      <p:sp>
        <p:nvSpPr>
          <p:cNvPr id="8" name="Rectangle 7"/>
          <p:cNvSpPr/>
          <p:nvPr/>
        </p:nvSpPr>
        <p:spPr>
          <a:xfrm>
            <a:off x="1295400" y="2438400"/>
            <a:ext cx="838200" cy="369332"/>
          </a:xfrm>
          <a:prstGeom prst="rect">
            <a:avLst/>
          </a:prstGeom>
        </p:spPr>
        <p:txBody>
          <a:bodyPr wrap="square">
            <a:spAutoFit/>
          </a:bodyPr>
          <a:lstStyle/>
          <a:p>
            <a:pPr algn="ctr"/>
            <a:r>
              <a:rPr lang="en-US" b="1" dirty="0" smtClean="0">
                <a:solidFill>
                  <a:srgbClr val="FF0000"/>
                </a:solidFill>
              </a:rPr>
              <a:t>P</a:t>
            </a:r>
            <a:r>
              <a:rPr lang="en-US" sz="1100" b="1" dirty="0" smtClean="0">
                <a:solidFill>
                  <a:srgbClr val="FF0000"/>
                </a:solidFill>
              </a:rPr>
              <a:t>P</a:t>
            </a:r>
            <a:endParaRPr lang="en-US" b="1" dirty="0" smtClean="0">
              <a:solidFill>
                <a:srgbClr val="FF0000"/>
              </a:solidFill>
            </a:endParaRPr>
          </a:p>
        </p:txBody>
      </p:sp>
      <p:sp>
        <p:nvSpPr>
          <p:cNvPr id="9" name="Rectangle 8"/>
          <p:cNvSpPr/>
          <p:nvPr/>
        </p:nvSpPr>
        <p:spPr>
          <a:xfrm>
            <a:off x="8534400" y="2971800"/>
            <a:ext cx="431528" cy="646331"/>
          </a:xfrm>
          <a:prstGeom prst="rect">
            <a:avLst/>
          </a:prstGeom>
        </p:spPr>
        <p:txBody>
          <a:bodyPr wrap="none">
            <a:spAutoFit/>
          </a:bodyPr>
          <a:lstStyle/>
          <a:p>
            <a:pPr algn="ctr"/>
            <a:r>
              <a:rPr lang="en-US" b="1" dirty="0" err="1" smtClean="0">
                <a:solidFill>
                  <a:srgbClr val="FF0000"/>
                </a:solidFill>
              </a:rPr>
              <a:t>Pu</a:t>
            </a:r>
            <a:endParaRPr lang="en-US" b="1" dirty="0" smtClean="0">
              <a:solidFill>
                <a:srgbClr val="FF0000"/>
              </a:solidFill>
            </a:endParaRPr>
          </a:p>
          <a:p>
            <a:pPr algn="ctr"/>
            <a:endParaRPr lang="en-US" b="1" dirty="0" smtClean="0">
              <a:solidFill>
                <a:srgbClr val="FF0000"/>
              </a:solidFill>
            </a:endParaRPr>
          </a:p>
        </p:txBody>
      </p:sp>
      <p:sp>
        <p:nvSpPr>
          <p:cNvPr id="10" name="Rectangle 9"/>
          <p:cNvSpPr/>
          <p:nvPr/>
        </p:nvSpPr>
        <p:spPr>
          <a:xfrm>
            <a:off x="2971800" y="3048000"/>
            <a:ext cx="396262" cy="369332"/>
          </a:xfrm>
          <a:prstGeom prst="rect">
            <a:avLst/>
          </a:prstGeom>
        </p:spPr>
        <p:txBody>
          <a:bodyPr wrap="none">
            <a:spAutoFit/>
          </a:bodyPr>
          <a:lstStyle/>
          <a:p>
            <a:pPr algn="ctr"/>
            <a:r>
              <a:rPr lang="en-US" b="1" dirty="0" smtClean="0">
                <a:solidFill>
                  <a:srgbClr val="FF0000"/>
                </a:solidFill>
              </a:rPr>
              <a:t>P</a:t>
            </a:r>
            <a:r>
              <a:rPr lang="en-US" sz="1400" b="1" dirty="0" smtClean="0">
                <a:solidFill>
                  <a:srgbClr val="FF0000"/>
                </a:solidFill>
              </a:rPr>
              <a:t>a</a:t>
            </a:r>
            <a:endParaRPr lang="en-US" b="1" dirty="0" smtClean="0">
              <a:solidFill>
                <a:srgbClr val="FF0000"/>
              </a:solidFill>
            </a:endParaRPr>
          </a:p>
        </p:txBody>
      </p:sp>
      <p:sp>
        <p:nvSpPr>
          <p:cNvPr id="11" name="Rectangle 10"/>
          <p:cNvSpPr/>
          <p:nvPr/>
        </p:nvSpPr>
        <p:spPr>
          <a:xfrm>
            <a:off x="5715000" y="3048000"/>
            <a:ext cx="453970" cy="369332"/>
          </a:xfrm>
          <a:prstGeom prst="rect">
            <a:avLst/>
          </a:prstGeom>
        </p:spPr>
        <p:txBody>
          <a:bodyPr wrap="none">
            <a:spAutoFit/>
          </a:bodyPr>
          <a:lstStyle/>
          <a:p>
            <a:pPr algn="ctr"/>
            <a:r>
              <a:rPr lang="en-US" b="1" dirty="0" smtClean="0">
                <a:solidFill>
                  <a:srgbClr val="FF0000"/>
                </a:solidFill>
              </a:rPr>
              <a:t>P</a:t>
            </a:r>
            <a:r>
              <a:rPr lang="en-US" sz="1400" b="1" dirty="0" smtClean="0">
                <a:solidFill>
                  <a:srgbClr val="FF0000"/>
                </a:solidFill>
              </a:rPr>
              <a:t>m</a:t>
            </a:r>
            <a:endParaRPr lang="en-US" b="1" dirty="0" smtClean="0">
              <a:solidFill>
                <a:srgbClr val="FF0000"/>
              </a:solidFill>
            </a:endParaRPr>
          </a:p>
        </p:txBody>
      </p:sp>
      <p:sp>
        <p:nvSpPr>
          <p:cNvPr id="12" name="Rectangle 11"/>
          <p:cNvSpPr/>
          <p:nvPr/>
        </p:nvSpPr>
        <p:spPr>
          <a:xfrm>
            <a:off x="304800" y="3200400"/>
            <a:ext cx="383438" cy="369332"/>
          </a:xfrm>
          <a:prstGeom prst="rect">
            <a:avLst/>
          </a:prstGeom>
        </p:spPr>
        <p:txBody>
          <a:bodyPr wrap="none">
            <a:spAutoFit/>
          </a:bodyPr>
          <a:lstStyle/>
          <a:p>
            <a:pPr algn="ctr"/>
            <a:r>
              <a:rPr lang="en-US" b="1" dirty="0" smtClean="0">
                <a:solidFill>
                  <a:srgbClr val="FF0000"/>
                </a:solidFill>
              </a:rPr>
              <a:t>P</a:t>
            </a:r>
            <a:r>
              <a:rPr lang="en-US" sz="1400" b="1" dirty="0" smtClean="0">
                <a:solidFill>
                  <a:srgbClr val="FF0000"/>
                </a:solidFill>
              </a:rPr>
              <a:t>c</a:t>
            </a:r>
            <a:endParaRPr lang="en-US" b="1" dirty="0" smtClean="0">
              <a:solidFill>
                <a:srgbClr val="FF0000"/>
              </a:solidFill>
            </a:endParaRPr>
          </a:p>
        </p:txBody>
      </p:sp>
      <p:sp>
        <p:nvSpPr>
          <p:cNvPr id="13" name="Rectangle 12"/>
          <p:cNvSpPr/>
          <p:nvPr/>
        </p:nvSpPr>
        <p:spPr>
          <a:xfrm>
            <a:off x="1676400" y="4572000"/>
            <a:ext cx="466794" cy="369332"/>
          </a:xfrm>
          <a:prstGeom prst="rect">
            <a:avLst/>
          </a:prstGeom>
        </p:spPr>
        <p:txBody>
          <a:bodyPr wrap="none">
            <a:spAutoFit/>
          </a:bodyPr>
          <a:lstStyle/>
          <a:p>
            <a:pPr algn="ctr"/>
            <a:r>
              <a:rPr lang="en-US" b="1" dirty="0" err="1" smtClean="0">
                <a:solidFill>
                  <a:srgbClr val="FF0000"/>
                </a:solidFill>
              </a:rPr>
              <a:t>P</a:t>
            </a:r>
            <a:r>
              <a:rPr lang="en-US" sz="1200" b="1" dirty="0" err="1" smtClean="0">
                <a:solidFill>
                  <a:srgbClr val="FF0000"/>
                </a:solidFill>
              </a:rPr>
              <a:t>da</a:t>
            </a:r>
            <a:endParaRPr lang="en-US" b="1" dirty="0" smtClean="0">
              <a:solidFill>
                <a:srgbClr val="FF0000"/>
              </a:solidFill>
            </a:endParaRPr>
          </a:p>
        </p:txBody>
      </p:sp>
      <p:sp>
        <p:nvSpPr>
          <p:cNvPr id="14" name="Rectangle 13"/>
          <p:cNvSpPr/>
          <p:nvPr/>
        </p:nvSpPr>
        <p:spPr>
          <a:xfrm>
            <a:off x="4343400" y="4572000"/>
            <a:ext cx="452368" cy="369332"/>
          </a:xfrm>
          <a:prstGeom prst="rect">
            <a:avLst/>
          </a:prstGeom>
        </p:spPr>
        <p:txBody>
          <a:bodyPr wrap="none">
            <a:spAutoFit/>
          </a:bodyPr>
          <a:lstStyle/>
          <a:p>
            <a:pPr algn="ctr"/>
            <a:r>
              <a:rPr lang="en-US" b="1" dirty="0" err="1" smtClean="0">
                <a:solidFill>
                  <a:srgbClr val="FF0000"/>
                </a:solidFill>
              </a:rPr>
              <a:t>P</a:t>
            </a:r>
            <a:r>
              <a:rPr lang="en-US" sz="1200" b="1" dirty="0" err="1" smtClean="0">
                <a:solidFill>
                  <a:srgbClr val="FF0000"/>
                </a:solidFill>
              </a:rPr>
              <a:t>ds</a:t>
            </a:r>
            <a:endParaRPr lang="en-US" b="1" dirty="0" smtClean="0">
              <a:solidFill>
                <a:srgbClr val="FF0000"/>
              </a:solidFill>
            </a:endParaRPr>
          </a:p>
        </p:txBody>
      </p:sp>
      <p:sp>
        <p:nvSpPr>
          <p:cNvPr id="15" name="Rectangle 14"/>
          <p:cNvSpPr/>
          <p:nvPr/>
        </p:nvSpPr>
        <p:spPr>
          <a:xfrm>
            <a:off x="7162800" y="4495800"/>
            <a:ext cx="444352" cy="369332"/>
          </a:xfrm>
          <a:prstGeom prst="rect">
            <a:avLst/>
          </a:prstGeom>
        </p:spPr>
        <p:txBody>
          <a:bodyPr wrap="none">
            <a:spAutoFit/>
          </a:bodyPr>
          <a:lstStyle/>
          <a:p>
            <a:pPr algn="ctr"/>
            <a:r>
              <a:rPr lang="en-US" b="1" dirty="0" err="1" smtClean="0">
                <a:solidFill>
                  <a:srgbClr val="FF0000"/>
                </a:solidFill>
              </a:rPr>
              <a:t>P</a:t>
            </a:r>
            <a:r>
              <a:rPr lang="en-US" sz="1200" b="1" dirty="0" err="1" smtClean="0">
                <a:solidFill>
                  <a:srgbClr val="FF0000"/>
                </a:solidFill>
              </a:rPr>
              <a:t>dt</a:t>
            </a:r>
            <a:endParaRPr lang="en-US" b="1" dirty="0" smtClean="0">
              <a:solidFill>
                <a:srgbClr val="FF0000"/>
              </a:solidFill>
            </a:endParaRPr>
          </a:p>
        </p:txBody>
      </p:sp>
      <p:cxnSp>
        <p:nvCxnSpPr>
          <p:cNvPr id="17" name="Straight Arrow Connector 16"/>
          <p:cNvCxnSpPr>
            <a:stCxn id="4" idx="2"/>
            <a:endCxn id="5" idx="0"/>
          </p:cNvCxnSpPr>
          <p:nvPr/>
        </p:nvCxnSpPr>
        <p:spPr>
          <a:xfrm rot="5400000">
            <a:off x="1562100" y="2628900"/>
            <a:ext cx="685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a:stCxn id="5" idx="2"/>
          </p:cNvCxnSpPr>
          <p:nvPr/>
        </p:nvCxnSpPr>
        <p:spPr>
          <a:xfrm rot="5400000">
            <a:off x="1600200" y="4267200"/>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rot="5400000">
            <a:off x="4267994" y="4266406"/>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p:nvPr/>
        </p:nvCxnSpPr>
        <p:spPr>
          <a:xfrm rot="5400000">
            <a:off x="7011194" y="4266406"/>
            <a:ext cx="6096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p:cNvCxnSpPr/>
          <p:nvPr/>
        </p:nvCxnSpPr>
        <p:spPr>
          <a:xfrm rot="10800000" flipH="1">
            <a:off x="5715000" y="34290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0800000" flipH="1">
            <a:off x="2895600" y="34290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10800000" flipH="1">
            <a:off x="457200" y="35052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4019550" y="718820"/>
            <a:ext cx="5029200" cy="1723549"/>
          </a:xfrm>
          <a:prstGeom prst="rect">
            <a:avLst/>
          </a:prstGeom>
        </p:spPr>
        <p:txBody>
          <a:bodyPr wrap="square">
            <a:spAutoFit/>
          </a:bodyPr>
          <a:lstStyle/>
          <a:p>
            <a:r>
              <a:rPr lang="en-US" b="1" dirty="0" smtClean="0">
                <a:solidFill>
                  <a:srgbClr val="FF0000"/>
                </a:solidFill>
              </a:rPr>
              <a:t>P</a:t>
            </a:r>
            <a:r>
              <a:rPr lang="en-US" sz="1200" b="1" dirty="0" smtClean="0">
                <a:solidFill>
                  <a:srgbClr val="FF0000"/>
                </a:solidFill>
              </a:rPr>
              <a:t>p</a:t>
            </a:r>
            <a:r>
              <a:rPr lang="en-US" b="1" dirty="0" smtClean="0">
                <a:solidFill>
                  <a:srgbClr val="FF0000"/>
                </a:solidFill>
              </a:rPr>
              <a:t> : Primary source of power (Electric, </a:t>
            </a:r>
            <a:r>
              <a:rPr lang="en-US" b="1" dirty="0" err="1" smtClean="0">
                <a:solidFill>
                  <a:srgbClr val="FF0000"/>
                </a:solidFill>
              </a:rPr>
              <a:t>Press.fluid</a:t>
            </a:r>
            <a:r>
              <a:rPr lang="en-US" b="1" dirty="0" smtClean="0">
                <a:solidFill>
                  <a:srgbClr val="FF0000"/>
                </a:solidFill>
              </a:rPr>
              <a:t>, compress. Air)</a:t>
            </a:r>
            <a:endParaRPr lang="en-US" b="1" dirty="0" smtClean="0">
              <a:solidFill>
                <a:srgbClr val="FF0000"/>
              </a:solidFill>
            </a:endParaRPr>
          </a:p>
          <a:p>
            <a:r>
              <a:rPr lang="en-US" b="1" dirty="0" smtClean="0">
                <a:solidFill>
                  <a:srgbClr val="FF0000"/>
                </a:solidFill>
              </a:rPr>
              <a:t>P</a:t>
            </a:r>
            <a:r>
              <a:rPr lang="en-US" sz="1400" b="1" dirty="0" smtClean="0">
                <a:solidFill>
                  <a:srgbClr val="FF0000"/>
                </a:solidFill>
              </a:rPr>
              <a:t>c  :  Input control power usually electric .</a:t>
            </a:r>
            <a:endParaRPr lang="en-US" sz="1400" b="1" dirty="0" smtClean="0">
              <a:solidFill>
                <a:srgbClr val="FF0000"/>
              </a:solidFill>
            </a:endParaRPr>
          </a:p>
          <a:p>
            <a:r>
              <a:rPr lang="en-US" sz="1600" b="1" dirty="0" smtClean="0">
                <a:solidFill>
                  <a:srgbClr val="FF0000"/>
                </a:solidFill>
              </a:rPr>
              <a:t>P</a:t>
            </a:r>
            <a:r>
              <a:rPr lang="en-US" sz="1400" b="1" dirty="0" smtClean="0">
                <a:solidFill>
                  <a:srgbClr val="FF0000"/>
                </a:solidFill>
              </a:rPr>
              <a:t>a</a:t>
            </a:r>
            <a:r>
              <a:rPr lang="en-US" sz="1100" b="1" dirty="0" smtClean="0">
                <a:solidFill>
                  <a:srgbClr val="FF0000"/>
                </a:solidFill>
              </a:rPr>
              <a:t>   : </a:t>
            </a:r>
            <a:r>
              <a:rPr lang="en-US" sz="1400" b="1" dirty="0" smtClean="0">
                <a:solidFill>
                  <a:srgbClr val="FF0000"/>
                </a:solidFill>
              </a:rPr>
              <a:t> Input power to motor Electric, Hydraulic, or Pneumatic.</a:t>
            </a:r>
            <a:endParaRPr lang="en-US" sz="1400" b="1" dirty="0" smtClean="0">
              <a:solidFill>
                <a:srgbClr val="FF0000"/>
              </a:solidFill>
            </a:endParaRPr>
          </a:p>
          <a:p>
            <a:r>
              <a:rPr lang="en-US" b="1" dirty="0" smtClean="0">
                <a:solidFill>
                  <a:srgbClr val="FF0000"/>
                </a:solidFill>
              </a:rPr>
              <a:t>P</a:t>
            </a:r>
            <a:r>
              <a:rPr lang="en-US" sz="1200" b="1" dirty="0" smtClean="0">
                <a:solidFill>
                  <a:srgbClr val="FF0000"/>
                </a:solidFill>
              </a:rPr>
              <a:t>m</a:t>
            </a:r>
            <a:r>
              <a:rPr lang="en-US" b="1" dirty="0" smtClean="0">
                <a:solidFill>
                  <a:srgbClr val="FF0000"/>
                </a:solidFill>
              </a:rPr>
              <a:t>: Power output from motor.</a:t>
            </a:r>
            <a:endParaRPr lang="en-US" b="1" dirty="0" smtClean="0">
              <a:solidFill>
                <a:srgbClr val="FF0000"/>
              </a:solidFill>
            </a:endParaRPr>
          </a:p>
          <a:p>
            <a:r>
              <a:rPr lang="en-US" b="1" dirty="0" err="1" smtClean="0">
                <a:solidFill>
                  <a:srgbClr val="FF0000"/>
                </a:solidFill>
              </a:rPr>
              <a:t>Pu</a:t>
            </a:r>
            <a:r>
              <a:rPr lang="en-US" b="1" dirty="0" smtClean="0">
                <a:solidFill>
                  <a:srgbClr val="FF0000"/>
                </a:solidFill>
              </a:rPr>
              <a:t> : mechanical power required</a:t>
            </a:r>
            <a:endParaRPr lang="en-US" b="1" dirty="0" smtClean="0">
              <a:solidFill>
                <a:srgbClr val="FF0000"/>
              </a:solidFill>
            </a:endParaRPr>
          </a:p>
        </p:txBody>
      </p:sp>
      <p:sp>
        <p:nvSpPr>
          <p:cNvPr id="33" name="Rectangle 32"/>
          <p:cNvSpPr/>
          <p:nvPr/>
        </p:nvSpPr>
        <p:spPr>
          <a:xfrm>
            <a:off x="914400" y="5243195"/>
            <a:ext cx="5867400" cy="615553"/>
          </a:xfrm>
          <a:prstGeom prst="rect">
            <a:avLst/>
          </a:prstGeom>
        </p:spPr>
        <p:txBody>
          <a:bodyPr wrap="square">
            <a:spAutoFit/>
          </a:bodyPr>
          <a:lstStyle/>
          <a:p>
            <a:r>
              <a:rPr lang="en-US" b="1" dirty="0" err="1" smtClean="0">
                <a:solidFill>
                  <a:srgbClr val="FF0000"/>
                </a:solidFill>
              </a:rPr>
              <a:t>P</a:t>
            </a:r>
            <a:r>
              <a:rPr lang="en-US" sz="1200" b="1" dirty="0" err="1" smtClean="0">
                <a:solidFill>
                  <a:srgbClr val="FF0000"/>
                </a:solidFill>
              </a:rPr>
              <a:t>ds</a:t>
            </a:r>
            <a:r>
              <a:rPr lang="en-US" sz="1600" b="1" dirty="0" smtClean="0">
                <a:solidFill>
                  <a:srgbClr val="FF0000"/>
                </a:solidFill>
              </a:rPr>
              <a:t>, </a:t>
            </a:r>
            <a:r>
              <a:rPr lang="en-US" sz="1600" b="1" dirty="0" err="1">
                <a:solidFill>
                  <a:srgbClr val="FF0000"/>
                </a:solidFill>
              </a:rPr>
              <a:t>P</a:t>
            </a:r>
            <a:r>
              <a:rPr lang="en-US" sz="1200" b="1" dirty="0" err="1" smtClean="0">
                <a:solidFill>
                  <a:srgbClr val="FF0000"/>
                </a:solidFill>
              </a:rPr>
              <a:t>dt</a:t>
            </a:r>
            <a:r>
              <a:rPr lang="en-US" sz="1600" b="1" dirty="0" smtClean="0">
                <a:solidFill>
                  <a:srgbClr val="FF0000"/>
                </a:solidFill>
              </a:rPr>
              <a:t> , </a:t>
            </a:r>
            <a:r>
              <a:rPr lang="en-US" sz="1600" b="1" dirty="0" err="1">
                <a:solidFill>
                  <a:srgbClr val="FF0000"/>
                </a:solidFill>
              </a:rPr>
              <a:t>P</a:t>
            </a:r>
            <a:r>
              <a:rPr lang="en-US" sz="1200" b="1" dirty="0" err="1" smtClean="0">
                <a:solidFill>
                  <a:srgbClr val="FF0000"/>
                </a:solidFill>
              </a:rPr>
              <a:t>da</a:t>
            </a:r>
            <a:r>
              <a:rPr lang="en-US" sz="1600" b="1" dirty="0" smtClean="0">
                <a:solidFill>
                  <a:srgbClr val="FF0000"/>
                </a:solidFill>
              </a:rPr>
              <a:t> : Powers lost in dissipation for the conversion performed by the </a:t>
            </a:r>
            <a:r>
              <a:rPr lang="en-US" sz="1600" b="1" dirty="0">
                <a:solidFill>
                  <a:srgbClr val="FF0000"/>
                </a:solidFill>
              </a:rPr>
              <a:t>A</a:t>
            </a:r>
            <a:r>
              <a:rPr lang="en-US" sz="1600" b="1" dirty="0" smtClean="0">
                <a:solidFill>
                  <a:srgbClr val="FF0000"/>
                </a:solidFill>
              </a:rPr>
              <a:t>mplifier, Motor, Transmission</a:t>
            </a:r>
            <a:endParaRPr lang="en-US" b="1" dirty="0" smtClean="0">
              <a:solidFill>
                <a:srgbClr val="FF0000"/>
              </a:solidFill>
            </a:endParaRPr>
          </a:p>
        </p:txBody>
      </p:sp>
      <p:cxnSp>
        <p:nvCxnSpPr>
          <p:cNvPr id="34" name="Straight Arrow Connector 33"/>
          <p:cNvCxnSpPr/>
          <p:nvPr/>
        </p:nvCxnSpPr>
        <p:spPr>
          <a:xfrm rot="10800000" flipH="1">
            <a:off x="8382000" y="3429000"/>
            <a:ext cx="45397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ISSUES/CHARACTERISTICS  OF AN ACTUATOR </a:t>
            </a:r>
            <a:endParaRPr lang="en-US" b="1" u="sng" dirty="0"/>
          </a:p>
        </p:txBody>
      </p:sp>
      <p:sp>
        <p:nvSpPr>
          <p:cNvPr id="3" name="Content Placeholder 2"/>
          <p:cNvSpPr>
            <a:spLocks noGrp="1"/>
          </p:cNvSpPr>
          <p:nvPr>
            <p:ph idx="1"/>
          </p:nvPr>
        </p:nvSpPr>
        <p:spPr/>
        <p:txBody>
          <a:bodyPr>
            <a:normAutofit/>
          </a:bodyPr>
          <a:lstStyle/>
          <a:p>
            <a:r>
              <a:rPr lang="en-US" dirty="0" smtClean="0"/>
              <a:t>Load (e.g. torque to overcome own inertia)</a:t>
            </a:r>
            <a:endParaRPr lang="en-US" dirty="0" smtClean="0"/>
          </a:p>
          <a:p>
            <a:r>
              <a:rPr lang="en-US" dirty="0" smtClean="0"/>
              <a:t>Speed (fast enough but not too fast)</a:t>
            </a:r>
            <a:endParaRPr lang="en-US" dirty="0" smtClean="0"/>
          </a:p>
          <a:p>
            <a:r>
              <a:rPr lang="en-US" dirty="0" smtClean="0"/>
              <a:t>Accuracy (will it move to where you want?)</a:t>
            </a:r>
            <a:endParaRPr lang="en-US" dirty="0" smtClean="0"/>
          </a:p>
          <a:p>
            <a:r>
              <a:rPr lang="en-US" dirty="0" smtClean="0"/>
              <a:t>Resolution (can you specify exactly where?)</a:t>
            </a:r>
            <a:endParaRPr lang="en-US" dirty="0" smtClean="0"/>
          </a:p>
          <a:p>
            <a:r>
              <a:rPr lang="en-US" dirty="0" smtClean="0"/>
              <a:t>Repeatability (will it do this every time?)</a:t>
            </a:r>
            <a:endParaRPr lang="en-US" dirty="0" smtClean="0"/>
          </a:p>
          <a:p>
            <a:r>
              <a:rPr lang="en-US" dirty="0" smtClean="0"/>
              <a:t>Reliability (mean time between failures)</a:t>
            </a:r>
            <a:endParaRPr lang="en-US" dirty="0" smtClean="0"/>
          </a:p>
          <a:p>
            <a:r>
              <a:rPr lang="en-US" dirty="0" smtClean="0"/>
              <a:t>Power consumption (how to feed it)</a:t>
            </a:r>
            <a:endParaRPr lang="en-US" dirty="0" smtClean="0"/>
          </a:p>
          <a:p>
            <a:r>
              <a:rPr lang="en-US" dirty="0" smtClean="0"/>
              <a:t>Energy supply &amp; its weight.</a:t>
            </a:r>
            <a:endParaRPr lang="en-US" dirty="0" smtClean="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4119" y="72788"/>
            <a:ext cx="8229600" cy="1143000"/>
          </a:xfrm>
        </p:spPr>
        <p:txBody>
          <a:bodyPr/>
          <a:lstStyle/>
          <a:p>
            <a:r>
              <a:rPr lang="en-US" b="1" u="sng" dirty="0" smtClean="0"/>
              <a:t>TYPES OF ACTUATORS</a:t>
            </a:r>
            <a:endParaRPr lang="en-US" b="1" u="sng" dirty="0"/>
          </a:p>
        </p:txBody>
      </p:sp>
      <p:sp>
        <p:nvSpPr>
          <p:cNvPr id="3" name="Content Placeholder 2"/>
          <p:cNvSpPr>
            <a:spLocks noGrp="1"/>
          </p:cNvSpPr>
          <p:nvPr>
            <p:ph idx="1"/>
          </p:nvPr>
        </p:nvSpPr>
        <p:spPr>
          <a:xfrm>
            <a:off x="410570" y="952500"/>
            <a:ext cx="6752230" cy="5635625"/>
          </a:xfrm>
        </p:spPr>
        <p:txBody>
          <a:bodyPr>
            <a:normAutofit/>
          </a:bodyPr>
          <a:lstStyle/>
          <a:p>
            <a:r>
              <a:rPr lang="en-US" dirty="0" smtClean="0"/>
              <a:t>Based on the source of Input Power actuators are classified in to three groups :</a:t>
            </a:r>
            <a:endParaRPr lang="en-US" dirty="0" smtClean="0"/>
          </a:p>
          <a:p>
            <a:pPr marL="971550" lvl="1" indent="-514350">
              <a:buFont typeface="+mj-lt"/>
              <a:buAutoNum type="arabicPeriod"/>
            </a:pPr>
            <a:r>
              <a:rPr lang="en-US" dirty="0" smtClean="0"/>
              <a:t>Pneumatic Actuators.</a:t>
            </a:r>
            <a:endParaRPr lang="en-US" dirty="0" smtClean="0"/>
          </a:p>
          <a:p>
            <a:pPr lvl="2"/>
            <a:r>
              <a:rPr lang="en-US" dirty="0" smtClean="0"/>
              <a:t>These utilize pneumatic energy provided by the compressor and transforms it into mechanical energy by means of pistons or turbines.</a:t>
            </a:r>
            <a:endParaRPr lang="en-US" dirty="0" smtClean="0"/>
          </a:p>
          <a:p>
            <a:pPr marL="971550" lvl="1" indent="-514350">
              <a:buFont typeface="+mj-lt"/>
              <a:buAutoNum type="arabicPeriod"/>
            </a:pPr>
            <a:r>
              <a:rPr lang="en-US" dirty="0" smtClean="0"/>
              <a:t>Hydraulic Actuators.</a:t>
            </a:r>
            <a:endParaRPr lang="en-US" dirty="0" smtClean="0"/>
          </a:p>
          <a:p>
            <a:pPr lvl="2" algn="just"/>
            <a:r>
              <a:rPr lang="en-US" dirty="0" smtClean="0"/>
              <a:t>These Transform the energy stored in reservoir into mechanical energy by means of suitable pumps.</a:t>
            </a:r>
            <a:endParaRPr lang="en-US" dirty="0" smtClean="0"/>
          </a:p>
          <a:p>
            <a:pPr marL="971550" lvl="1" indent="-514350">
              <a:buAutoNum type="arabicPeriod" startAt="3"/>
            </a:pPr>
            <a:r>
              <a:rPr lang="en-US" dirty="0" smtClean="0"/>
              <a:t>Electric Actuators.</a:t>
            </a:r>
            <a:endParaRPr lang="en-US" dirty="0" smtClean="0"/>
          </a:p>
          <a:p>
            <a:pPr lvl="2" algn="just"/>
            <a:r>
              <a:rPr lang="en-US" dirty="0" smtClean="0"/>
              <a:t>Electric actuators are simply electro-mechanical devices which allow movement through the use of an electrically controlled systems of gears</a:t>
            </a:r>
            <a:endParaRPr lang="en-US" dirty="0" smtClean="0"/>
          </a:p>
        </p:txBody>
      </p:sp>
      <p:pic>
        <p:nvPicPr>
          <p:cNvPr id="15361" name="Picture 1"/>
          <p:cNvPicPr>
            <a:picLocks noChangeAspect="1" noChangeArrowheads="1"/>
          </p:cNvPicPr>
          <p:nvPr/>
        </p:nvPicPr>
        <p:blipFill>
          <a:blip r:embed="rId1"/>
          <a:srcRect/>
          <a:stretch>
            <a:fillRect/>
          </a:stretch>
        </p:blipFill>
        <p:spPr bwMode="auto">
          <a:xfrm>
            <a:off x="7162800" y="3429000"/>
            <a:ext cx="1911350" cy="3159125"/>
          </a:xfrm>
          <a:prstGeom prst="rect">
            <a:avLst/>
          </a:prstGeom>
          <a:noFill/>
          <a:ln w="9525">
            <a:noFill/>
            <a:miter lim="800000"/>
            <a:headEnd/>
            <a:tailEnd/>
          </a:ln>
        </p:spPr>
      </p:pic>
      <p:pic>
        <p:nvPicPr>
          <p:cNvPr id="15363" name="Picture 3"/>
          <p:cNvPicPr>
            <a:picLocks noChangeAspect="1" noChangeArrowheads="1"/>
          </p:cNvPicPr>
          <p:nvPr/>
        </p:nvPicPr>
        <p:blipFill>
          <a:blip r:embed="rId2"/>
          <a:srcRect/>
          <a:stretch>
            <a:fillRect/>
          </a:stretch>
        </p:blipFill>
        <p:spPr bwMode="auto">
          <a:xfrm>
            <a:off x="7162800" y="914400"/>
            <a:ext cx="1795463" cy="1447800"/>
          </a:xfrm>
          <a:prstGeom prst="rect">
            <a:avLst/>
          </a:prstGeom>
          <a:noFill/>
          <a:ln w="9525">
            <a:noFill/>
            <a:miter lim="800000"/>
            <a:headEnd/>
            <a:tailEnd/>
          </a:ln>
        </p:spPr>
      </p:pic>
      <p:pic>
        <p:nvPicPr>
          <p:cNvPr id="15364" name="Picture 4"/>
          <p:cNvPicPr>
            <a:picLocks noChangeAspect="1" noChangeArrowheads="1"/>
          </p:cNvPicPr>
          <p:nvPr/>
        </p:nvPicPr>
        <p:blipFill>
          <a:blip r:embed="rId3"/>
          <a:srcRect/>
          <a:stretch>
            <a:fillRect/>
          </a:stretch>
        </p:blipFill>
        <p:spPr bwMode="auto">
          <a:xfrm>
            <a:off x="7132637" y="2239962"/>
            <a:ext cx="2011363" cy="153035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2137" y="365126"/>
            <a:ext cx="8133213" cy="1325563"/>
          </a:xfrm>
        </p:spPr>
        <p:txBody>
          <a:bodyPr/>
          <a:lstStyle/>
          <a:p>
            <a:r>
              <a:rPr lang="en-US" sz="3600" b="1" i="1" dirty="0" smtClean="0"/>
              <a:t>Pneumatic </a:t>
            </a:r>
            <a:r>
              <a:rPr lang="en-US" sz="3600" b="1" dirty="0" smtClean="0"/>
              <a:t>and </a:t>
            </a:r>
            <a:r>
              <a:rPr lang="en-US" sz="3600" b="1" i="1" dirty="0" smtClean="0"/>
              <a:t>Hydraulic </a:t>
            </a:r>
            <a:r>
              <a:rPr lang="en-US" sz="3600" b="1" dirty="0" smtClean="0"/>
              <a:t>Actuators</a:t>
            </a:r>
            <a:endParaRPr lang="en-US" sz="3600" b="1" dirty="0" smtClean="0"/>
          </a:p>
        </p:txBody>
      </p:sp>
      <p:sp>
        <p:nvSpPr>
          <p:cNvPr id="3" name="Content Placeholder 2"/>
          <p:cNvSpPr>
            <a:spLocks noGrp="1"/>
          </p:cNvSpPr>
          <p:nvPr>
            <p:ph idx="1"/>
          </p:nvPr>
        </p:nvSpPr>
        <p:spPr>
          <a:xfrm>
            <a:off x="628650" y="1433015"/>
            <a:ext cx="8283338" cy="5036024"/>
          </a:xfrm>
        </p:spPr>
        <p:txBody>
          <a:bodyPr>
            <a:noAutofit/>
          </a:bodyPr>
          <a:lstStyle/>
          <a:p>
            <a:pPr algn="just"/>
            <a:r>
              <a:rPr lang="en-US" dirty="0" smtClean="0"/>
              <a:t>Both </a:t>
            </a:r>
            <a:r>
              <a:rPr lang="en-US" dirty="0"/>
              <a:t>these actuators are powered by moving </a:t>
            </a:r>
            <a:r>
              <a:rPr lang="en-US" dirty="0" smtClean="0"/>
              <a:t>fluids.</a:t>
            </a:r>
            <a:endParaRPr lang="en-US" dirty="0" smtClean="0"/>
          </a:p>
          <a:p>
            <a:pPr algn="just"/>
            <a:r>
              <a:rPr lang="en-US" dirty="0"/>
              <a:t>In the first case, the fluid is compressed air </a:t>
            </a:r>
            <a:r>
              <a:rPr lang="en-US" i="1" dirty="0" smtClean="0"/>
              <a:t>and</a:t>
            </a:r>
            <a:endParaRPr lang="en-US" dirty="0"/>
          </a:p>
          <a:p>
            <a:pPr algn="just"/>
            <a:r>
              <a:rPr lang="en-US" dirty="0" smtClean="0"/>
              <a:t>In </a:t>
            </a:r>
            <a:r>
              <a:rPr lang="en-US" dirty="0"/>
              <a:t>the second case, the fluid is pressurized oil</a:t>
            </a:r>
            <a:r>
              <a:rPr lang="en-US" dirty="0" smtClean="0"/>
              <a:t>.</a:t>
            </a:r>
            <a:endParaRPr lang="en-US" dirty="0" smtClean="0"/>
          </a:p>
          <a:p>
            <a:pPr algn="just"/>
            <a:r>
              <a:rPr lang="en-US" dirty="0"/>
              <a:t>Pneumatic systems typically operate at </a:t>
            </a:r>
            <a:r>
              <a:rPr lang="en-US" dirty="0" smtClean="0"/>
              <a:t>about </a:t>
            </a:r>
            <a:r>
              <a:rPr lang="en-US" b="1" dirty="0" smtClean="0"/>
              <a:t>100lb/in2</a:t>
            </a:r>
            <a:endParaRPr lang="en-US" b="1" dirty="0" smtClean="0"/>
          </a:p>
          <a:p>
            <a:pPr algn="just"/>
            <a:r>
              <a:rPr lang="en-US" dirty="0" smtClean="0"/>
              <a:t>Hydraulic </a:t>
            </a:r>
            <a:r>
              <a:rPr lang="en-US" dirty="0"/>
              <a:t>systems at </a:t>
            </a:r>
            <a:r>
              <a:rPr lang="en-US" b="1" dirty="0"/>
              <a:t>1000 to 3000 </a:t>
            </a:r>
            <a:r>
              <a:rPr lang="en-US" b="1" dirty="0" err="1"/>
              <a:t>lb</a:t>
            </a:r>
            <a:r>
              <a:rPr lang="en-US" b="1" dirty="0"/>
              <a:t>/in2</a:t>
            </a:r>
            <a:r>
              <a:rPr lang="en-US" dirty="0" smtClean="0"/>
              <a:t>.</a:t>
            </a:r>
            <a:endParaRPr lang="en-US" dirty="0" smtClean="0"/>
          </a:p>
          <a:p>
            <a:pPr>
              <a:buFont typeface="Wingdings" panose="05000000000000000000" pitchFamily="2" charset="2"/>
              <a:buChar char="§"/>
            </a:pPr>
            <a:r>
              <a:rPr lang="en-US" dirty="0"/>
              <a:t>Both Hydraulic and Pneumatic actuators are classified as</a:t>
            </a:r>
            <a:endParaRPr lang="en-US" dirty="0"/>
          </a:p>
          <a:p>
            <a:pPr lvl="2"/>
            <a:r>
              <a:rPr lang="en-US" sz="2800" dirty="0"/>
              <a:t>linear Actuators (Cylinders).</a:t>
            </a:r>
            <a:endParaRPr lang="en-US" sz="2800" dirty="0"/>
          </a:p>
          <a:p>
            <a:pPr lvl="2"/>
            <a:r>
              <a:rPr lang="en-US" sz="2800" dirty="0"/>
              <a:t>Rotary Actuators (Motors).</a:t>
            </a:r>
            <a:endParaRPr lang="en-US" sz="2800" dirty="0"/>
          </a:p>
          <a:p>
            <a:pPr algn="just"/>
            <a:endParaRPr lang="en-US" dirty="0"/>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3534413" y="1334590"/>
            <a:ext cx="4879878" cy="4876387"/>
          </a:xfrm>
          <a:prstGeom prst="rect">
            <a:avLst/>
          </a:prstGeom>
        </p:spPr>
      </p:pic>
      <p:sp>
        <p:nvSpPr>
          <p:cNvPr id="5" name="Title 1"/>
          <p:cNvSpPr>
            <a:spLocks noGrp="1"/>
          </p:cNvSpPr>
          <p:nvPr>
            <p:ph type="title"/>
          </p:nvPr>
        </p:nvSpPr>
        <p:spPr>
          <a:xfrm>
            <a:off x="382137" y="365126"/>
            <a:ext cx="8133213" cy="1325563"/>
          </a:xfrm>
        </p:spPr>
        <p:txBody>
          <a:bodyPr/>
          <a:lstStyle/>
          <a:p>
            <a:r>
              <a:rPr lang="en-US" b="1" i="1" dirty="0" smtClean="0"/>
              <a:t>Pneumatic </a:t>
            </a:r>
            <a:r>
              <a:rPr lang="en-US" b="1" dirty="0" smtClean="0"/>
              <a:t>and </a:t>
            </a:r>
            <a:r>
              <a:rPr lang="en-US" b="1" i="1" dirty="0" smtClean="0"/>
              <a:t>Hydraulic </a:t>
            </a:r>
            <a:r>
              <a:rPr lang="en-US" b="1" dirty="0" smtClean="0"/>
              <a:t>Actuators</a:t>
            </a:r>
            <a:endParaRPr lang="en-US" dirty="0"/>
          </a:p>
        </p:txBody>
      </p:sp>
      <p:sp>
        <p:nvSpPr>
          <p:cNvPr id="2" name="TextBox 1"/>
          <p:cNvSpPr txBox="1"/>
          <p:nvPr/>
        </p:nvSpPr>
        <p:spPr>
          <a:xfrm>
            <a:off x="248265" y="2718255"/>
            <a:ext cx="3957851" cy="523220"/>
          </a:xfrm>
          <a:prstGeom prst="rect">
            <a:avLst/>
          </a:prstGeom>
          <a:noFill/>
        </p:spPr>
        <p:txBody>
          <a:bodyPr wrap="square" rtlCol="0">
            <a:spAutoFit/>
          </a:bodyPr>
          <a:lstStyle/>
          <a:p>
            <a:r>
              <a:rPr lang="en-US" sz="2800" b="1" i="1" dirty="0"/>
              <a:t>linear Actuators</a:t>
            </a:r>
            <a:endParaRPr lang="en-US" sz="2800" b="1" i="1" dirty="0"/>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5393" y="1690689"/>
            <a:ext cx="7886700" cy="4351338"/>
          </a:xfrm>
        </p:spPr>
        <p:txBody>
          <a:bodyPr>
            <a:normAutofit/>
          </a:bodyPr>
          <a:lstStyle/>
          <a:p>
            <a:pPr algn="just">
              <a:lnSpc>
                <a:spcPct val="100000"/>
              </a:lnSpc>
            </a:pPr>
            <a:r>
              <a:rPr lang="en-US" dirty="0"/>
              <a:t>The simplest power </a:t>
            </a:r>
            <a:r>
              <a:rPr lang="en-US" dirty="0" smtClean="0"/>
              <a:t>device could </a:t>
            </a:r>
            <a:r>
              <a:rPr lang="en-US" dirty="0"/>
              <a:t>be used to actuate a linear joint by means of a moving piston</a:t>
            </a:r>
            <a:r>
              <a:rPr lang="en-US" dirty="0" smtClean="0"/>
              <a:t>.</a:t>
            </a:r>
            <a:endParaRPr lang="en-US" dirty="0" smtClean="0"/>
          </a:p>
          <a:p>
            <a:pPr algn="just">
              <a:lnSpc>
                <a:spcPct val="100000"/>
              </a:lnSpc>
            </a:pPr>
            <a:r>
              <a:rPr lang="en-US" dirty="0" smtClean="0"/>
              <a:t>There are two relationships of particular interest when discussing actuators:</a:t>
            </a:r>
            <a:endParaRPr lang="en-US" dirty="0" smtClean="0"/>
          </a:p>
          <a:p>
            <a:pPr marL="971550" lvl="1" indent="-514350">
              <a:buFont typeface="+mj-lt"/>
              <a:buAutoNum type="arabicPeriod"/>
            </a:pPr>
            <a:r>
              <a:rPr lang="en-US" sz="2800" dirty="0" smtClean="0"/>
              <a:t>The </a:t>
            </a:r>
            <a:r>
              <a:rPr lang="en-US" sz="2800" dirty="0"/>
              <a:t>velocity of the actuator with respect to input power and </a:t>
            </a:r>
            <a:endParaRPr lang="en-US" sz="2800" dirty="0"/>
          </a:p>
          <a:p>
            <a:pPr marL="971550" lvl="1" indent="-514350">
              <a:buFont typeface="+mj-lt"/>
              <a:buAutoNum type="arabicPeriod"/>
            </a:pPr>
            <a:r>
              <a:rPr lang="en-US" sz="2800" dirty="0" smtClean="0"/>
              <a:t>Force </a:t>
            </a:r>
            <a:r>
              <a:rPr lang="en-US" sz="2800" dirty="0"/>
              <a:t>of the actuator with respect to the input power</a:t>
            </a:r>
            <a:r>
              <a:rPr lang="en-US" dirty="0"/>
              <a:t>. </a:t>
            </a:r>
            <a:endParaRPr lang="en-US" dirty="0" smtClean="0"/>
          </a:p>
          <a:p>
            <a:pPr lvl="1"/>
            <a:endParaRPr lang="en-US" dirty="0"/>
          </a:p>
        </p:txBody>
      </p:sp>
      <p:sp>
        <p:nvSpPr>
          <p:cNvPr id="7" name="Title 1"/>
          <p:cNvSpPr>
            <a:spLocks noGrp="1"/>
          </p:cNvSpPr>
          <p:nvPr>
            <p:ph type="title"/>
          </p:nvPr>
        </p:nvSpPr>
        <p:spPr>
          <a:xfrm>
            <a:off x="382137" y="365126"/>
            <a:ext cx="8133213" cy="1325563"/>
          </a:xfrm>
        </p:spPr>
        <p:txBody>
          <a:bodyPr/>
          <a:lstStyle/>
          <a:p>
            <a:r>
              <a:rPr lang="en-US" b="1" i="1" dirty="0" smtClean="0"/>
              <a:t>Pneumatic </a:t>
            </a:r>
            <a:r>
              <a:rPr lang="en-US" b="1" dirty="0" smtClean="0"/>
              <a:t>and </a:t>
            </a:r>
            <a:r>
              <a:rPr lang="en-US" b="1" i="1" dirty="0" smtClean="0"/>
              <a:t>Hydraulic </a:t>
            </a:r>
            <a:r>
              <a:rPr lang="en-US" b="1" dirty="0" smtClean="0"/>
              <a:t>Actuators</a:t>
            </a:r>
            <a:endParaRPr lang="en-US" dirty="0"/>
          </a:p>
        </p:txBody>
      </p:sp>
      <p:sp>
        <p:nvSpPr>
          <p:cNvPr id="4" name="TextBox 3"/>
          <p:cNvSpPr txBox="1"/>
          <p:nvPr/>
        </p:nvSpPr>
        <p:spPr>
          <a:xfrm>
            <a:off x="4065885" y="1167585"/>
            <a:ext cx="3957851" cy="523220"/>
          </a:xfrm>
          <a:prstGeom prst="rect">
            <a:avLst/>
          </a:prstGeom>
          <a:noFill/>
        </p:spPr>
        <p:txBody>
          <a:bodyPr wrap="square" rtlCol="0">
            <a:spAutoFit/>
          </a:bodyPr>
          <a:lstStyle/>
          <a:p>
            <a:r>
              <a:rPr lang="en-US" sz="2800" b="1" i="1" dirty="0"/>
              <a:t>linear Actuators</a:t>
            </a:r>
            <a:endParaRPr lang="en-US" sz="2800" b="1" i="1" dirty="0"/>
          </a:p>
        </p:txBody>
      </p:sp>
    </p:spTree>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Picture 3"/>
          <p:cNvPicPr>
            <a:picLocks noChangeAspect="1"/>
          </p:cNvPicPr>
          <p:nvPr/>
        </p:nvPicPr>
        <p:blipFill>
          <a:blip r:embed="rId1"/>
          <a:stretch>
            <a:fillRect/>
          </a:stretch>
        </p:blipFill>
        <p:spPr>
          <a:xfrm>
            <a:off x="574016" y="1690689"/>
            <a:ext cx="5674273" cy="2017519"/>
          </a:xfrm>
          <a:prstGeom prst="rect">
            <a:avLst/>
          </a:prstGeom>
        </p:spPr>
      </p:pic>
      <p:pic>
        <p:nvPicPr>
          <p:cNvPr id="5" name="Picture 4"/>
          <p:cNvPicPr>
            <a:picLocks noChangeAspect="1"/>
          </p:cNvPicPr>
          <p:nvPr/>
        </p:nvPicPr>
        <p:blipFill>
          <a:blip r:embed="rId2"/>
          <a:stretch>
            <a:fillRect/>
          </a:stretch>
        </p:blipFill>
        <p:spPr>
          <a:xfrm>
            <a:off x="3083857" y="3708086"/>
            <a:ext cx="5191125" cy="2981325"/>
          </a:xfrm>
          <a:prstGeom prst="rect">
            <a:avLst/>
          </a:prstGeom>
        </p:spPr>
      </p:pic>
      <p:sp>
        <p:nvSpPr>
          <p:cNvPr id="6" name="Title 1"/>
          <p:cNvSpPr>
            <a:spLocks noGrp="1"/>
          </p:cNvSpPr>
          <p:nvPr>
            <p:ph type="title"/>
          </p:nvPr>
        </p:nvSpPr>
        <p:spPr>
          <a:xfrm>
            <a:off x="382137" y="365126"/>
            <a:ext cx="8133213" cy="1325563"/>
          </a:xfrm>
        </p:spPr>
        <p:txBody>
          <a:bodyPr/>
          <a:lstStyle/>
          <a:p>
            <a:r>
              <a:rPr lang="en-US" b="1" i="1" dirty="0" smtClean="0"/>
              <a:t>Pneumatic </a:t>
            </a:r>
            <a:r>
              <a:rPr lang="en-US" b="1" dirty="0" smtClean="0"/>
              <a:t>and </a:t>
            </a:r>
            <a:r>
              <a:rPr lang="en-US" b="1" i="1" dirty="0" smtClean="0"/>
              <a:t>Hydraulic </a:t>
            </a:r>
            <a:r>
              <a:rPr lang="en-US" b="1" dirty="0" smtClean="0"/>
              <a:t>Actuators</a:t>
            </a:r>
            <a:endParaRPr lang="en-US" dirty="0"/>
          </a:p>
        </p:txBody>
      </p:sp>
      <p:sp>
        <p:nvSpPr>
          <p:cNvPr id="7" name="TextBox 6"/>
          <p:cNvSpPr txBox="1"/>
          <p:nvPr/>
        </p:nvSpPr>
        <p:spPr>
          <a:xfrm>
            <a:off x="3700125" y="1083130"/>
            <a:ext cx="3957851" cy="523220"/>
          </a:xfrm>
          <a:prstGeom prst="rect">
            <a:avLst/>
          </a:prstGeom>
          <a:noFill/>
        </p:spPr>
        <p:txBody>
          <a:bodyPr wrap="square" rtlCol="0">
            <a:spAutoFit/>
          </a:bodyPr>
          <a:lstStyle/>
          <a:p>
            <a:r>
              <a:rPr lang="en-US" sz="2800" b="1" i="1" dirty="0"/>
              <a:t>linear Actuators</a:t>
            </a:r>
            <a:endParaRPr lang="en-US" sz="2800" b="1" i="1" dirty="0"/>
          </a:p>
        </p:txBody>
      </p:sp>
    </p:spTree>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le 1"/>
          <p:cNvSpPr>
            <a:spLocks noGrp="1"/>
          </p:cNvSpPr>
          <p:nvPr>
            <p:ph type="title"/>
          </p:nvPr>
        </p:nvSpPr>
        <p:spPr>
          <a:xfrm>
            <a:off x="382137" y="365126"/>
            <a:ext cx="8133213" cy="1325563"/>
          </a:xfrm>
        </p:spPr>
        <p:txBody>
          <a:bodyPr/>
          <a:lstStyle/>
          <a:p>
            <a:r>
              <a:rPr lang="en-US" b="1" i="1" dirty="0" smtClean="0"/>
              <a:t>Pneumatic </a:t>
            </a:r>
            <a:r>
              <a:rPr lang="en-US" b="1" dirty="0" smtClean="0"/>
              <a:t>and </a:t>
            </a:r>
            <a:r>
              <a:rPr lang="en-US" b="1" i="1" dirty="0" smtClean="0"/>
              <a:t>Hydraulic </a:t>
            </a:r>
            <a:r>
              <a:rPr lang="en-US" b="1" dirty="0" smtClean="0"/>
              <a:t>Actuators</a:t>
            </a:r>
            <a:endParaRPr lang="en-US" dirty="0"/>
          </a:p>
        </p:txBody>
      </p:sp>
      <p:pic>
        <p:nvPicPr>
          <p:cNvPr id="5" name="Picture 4"/>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548736" y="1857810"/>
            <a:ext cx="6509698" cy="4824446"/>
          </a:xfrm>
          <a:prstGeom prst="rect">
            <a:avLst/>
          </a:prstGeom>
        </p:spPr>
      </p:pic>
      <p:sp>
        <p:nvSpPr>
          <p:cNvPr id="6" name="TextBox 5"/>
          <p:cNvSpPr txBox="1"/>
          <p:nvPr/>
        </p:nvSpPr>
        <p:spPr>
          <a:xfrm>
            <a:off x="3985875" y="1167585"/>
            <a:ext cx="3957851" cy="523220"/>
          </a:xfrm>
          <a:prstGeom prst="rect">
            <a:avLst/>
          </a:prstGeom>
          <a:noFill/>
        </p:spPr>
        <p:txBody>
          <a:bodyPr wrap="square" rtlCol="0">
            <a:spAutoFit/>
          </a:bodyPr>
          <a:lstStyle/>
          <a:p>
            <a:r>
              <a:rPr lang="en-US" sz="2800" b="1" i="1" dirty="0"/>
              <a:t>Rotary Actuators</a:t>
            </a:r>
            <a:endParaRPr lang="en-US" sz="2800" b="1" i="1" dirty="0"/>
          </a:p>
        </p:txBody>
      </p:sp>
    </p:spTree>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825625"/>
            <a:ext cx="8174156" cy="4779892"/>
          </a:xfrm>
        </p:spPr>
        <p:txBody>
          <a:bodyPr/>
          <a:lstStyle/>
          <a:p>
            <a:pPr algn="just"/>
            <a:r>
              <a:rPr lang="en-US" dirty="0"/>
              <a:t>There </a:t>
            </a:r>
            <a:r>
              <a:rPr lang="en-US" dirty="0" smtClean="0"/>
              <a:t>is a relationship </a:t>
            </a:r>
            <a:r>
              <a:rPr lang="en-US" dirty="0"/>
              <a:t>of particular interest when discussing </a:t>
            </a:r>
            <a:r>
              <a:rPr lang="en-US" dirty="0" smtClean="0"/>
              <a:t>Rotary actuator:</a:t>
            </a:r>
            <a:endParaRPr lang="en-US" dirty="0"/>
          </a:p>
          <a:p>
            <a:pPr algn="just"/>
            <a:r>
              <a:rPr lang="en-US" dirty="0" smtClean="0"/>
              <a:t>The angular velocity, </a:t>
            </a:r>
            <a:r>
              <a:rPr lang="el-GR" dirty="0" smtClean="0"/>
              <a:t>ω</a:t>
            </a:r>
            <a:r>
              <a:rPr lang="en-US" dirty="0" smtClean="0"/>
              <a:t>, and Torque, T.</a:t>
            </a:r>
            <a:endParaRPr lang="en-US" dirty="0"/>
          </a:p>
          <a:p>
            <a:pPr algn="just"/>
            <a:endParaRPr lang="en-US" dirty="0" smtClean="0"/>
          </a:p>
          <a:p>
            <a:pPr algn="just"/>
            <a:endParaRPr lang="en-US" dirty="0"/>
          </a:p>
          <a:p>
            <a:pPr algn="just"/>
            <a:endParaRPr lang="en-US" dirty="0" smtClean="0"/>
          </a:p>
          <a:p>
            <a:pPr algn="just"/>
            <a:endParaRPr lang="en-US" dirty="0"/>
          </a:p>
          <a:p>
            <a:pPr algn="just"/>
            <a:r>
              <a:rPr lang="en-US" i="1" dirty="0" smtClean="0"/>
              <a:t>R</a:t>
            </a:r>
            <a:r>
              <a:rPr lang="en-US" dirty="0" smtClean="0"/>
              <a:t>, outer radius of the vane., </a:t>
            </a:r>
            <a:r>
              <a:rPr lang="en-US" i="1" dirty="0" smtClean="0"/>
              <a:t>r</a:t>
            </a:r>
            <a:r>
              <a:rPr lang="en-US" dirty="0" smtClean="0"/>
              <a:t>, inner radius., </a:t>
            </a:r>
            <a:r>
              <a:rPr lang="en-US" i="1" dirty="0" smtClean="0"/>
              <a:t>h,</a:t>
            </a:r>
            <a:r>
              <a:rPr lang="en-US" dirty="0" smtClean="0"/>
              <a:t> thickness of the vane.,</a:t>
            </a:r>
            <a:r>
              <a:rPr lang="el-GR" dirty="0"/>
              <a:t> </a:t>
            </a:r>
            <a:r>
              <a:rPr lang="el-GR" i="1" dirty="0" smtClean="0"/>
              <a:t>ω</a:t>
            </a:r>
            <a:r>
              <a:rPr lang="en-US" i="1" dirty="0" smtClean="0"/>
              <a:t>, </a:t>
            </a:r>
            <a:r>
              <a:rPr lang="en-US" dirty="0" smtClean="0"/>
              <a:t>angular velocity., </a:t>
            </a:r>
            <a:r>
              <a:rPr lang="en-US" i="1" dirty="0" smtClean="0"/>
              <a:t>T,</a:t>
            </a:r>
            <a:r>
              <a:rPr lang="en-US" dirty="0" smtClean="0"/>
              <a:t> torque.</a:t>
            </a:r>
            <a:r>
              <a:rPr lang="en-US" i="1" dirty="0" smtClean="0"/>
              <a:t> </a:t>
            </a:r>
            <a:endParaRPr lang="en-US" i="1" dirty="0"/>
          </a:p>
        </p:txBody>
      </p:sp>
      <p:sp>
        <p:nvSpPr>
          <p:cNvPr id="4" name="Title 1"/>
          <p:cNvSpPr>
            <a:spLocks noGrp="1"/>
          </p:cNvSpPr>
          <p:nvPr>
            <p:ph type="title"/>
          </p:nvPr>
        </p:nvSpPr>
        <p:spPr>
          <a:xfrm>
            <a:off x="382137" y="365126"/>
            <a:ext cx="8133213" cy="1325563"/>
          </a:xfrm>
        </p:spPr>
        <p:txBody>
          <a:bodyPr/>
          <a:lstStyle/>
          <a:p>
            <a:r>
              <a:rPr lang="en-US" b="1" i="1" dirty="0" smtClean="0"/>
              <a:t>Pneumatic </a:t>
            </a:r>
            <a:r>
              <a:rPr lang="en-US" b="1" dirty="0" smtClean="0"/>
              <a:t>and </a:t>
            </a:r>
            <a:r>
              <a:rPr lang="en-US" b="1" i="1" dirty="0" smtClean="0"/>
              <a:t>Hydraulic </a:t>
            </a:r>
            <a:r>
              <a:rPr lang="en-US" b="1" dirty="0" smtClean="0"/>
              <a:t>Actuators</a:t>
            </a:r>
            <a:endParaRPr lang="en-US" dirty="0"/>
          </a:p>
        </p:txBody>
      </p:sp>
      <p:sp>
        <p:nvSpPr>
          <p:cNvPr id="5" name="TextBox 4"/>
          <p:cNvSpPr txBox="1"/>
          <p:nvPr/>
        </p:nvSpPr>
        <p:spPr>
          <a:xfrm>
            <a:off x="3722985" y="1167585"/>
            <a:ext cx="3957851" cy="523220"/>
          </a:xfrm>
          <a:prstGeom prst="rect">
            <a:avLst/>
          </a:prstGeom>
          <a:noFill/>
        </p:spPr>
        <p:txBody>
          <a:bodyPr wrap="square" rtlCol="0">
            <a:spAutoFit/>
          </a:bodyPr>
          <a:lstStyle/>
          <a:p>
            <a:r>
              <a:rPr lang="en-US" sz="2800" b="1" i="1" dirty="0"/>
              <a:t>Rotary Actuators</a:t>
            </a:r>
            <a:endParaRPr lang="en-US" sz="2800" b="1" i="1" dirty="0"/>
          </a:p>
        </p:txBody>
      </p:sp>
      <p:pic>
        <p:nvPicPr>
          <p:cNvPr id="6" name="Picture 5"/>
          <p:cNvPicPr>
            <a:picLocks noChangeAspect="1"/>
          </p:cNvPicPr>
          <p:nvPr/>
        </p:nvPicPr>
        <p:blipFill>
          <a:blip r:embed="rId1">
            <a:extLst>
              <a:ext uri="{28A0092B-C50C-407E-A947-70E740481C1C}">
                <a14:useLocalDpi xmlns:a14="http://schemas.microsoft.com/office/drawing/2010/main" val="0"/>
              </a:ext>
            </a:extLst>
          </a:blip>
          <a:stretch>
            <a:fillRect/>
          </a:stretch>
        </p:blipFill>
        <p:spPr>
          <a:xfrm>
            <a:off x="1037590" y="3286125"/>
            <a:ext cx="4855845" cy="1858645"/>
          </a:xfrm>
          <a:prstGeom prst="rect">
            <a:avLst/>
          </a:prstGeom>
        </p:spPr>
      </p:pic>
    </p:spTree>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Advantages and limitations of  Pneumatic actuators</a:t>
            </a:r>
            <a:endParaRPr lang="en-US" dirty="0"/>
          </a:p>
        </p:txBody>
      </p:sp>
      <p:sp>
        <p:nvSpPr>
          <p:cNvPr id="3" name="Text Placeholder 2"/>
          <p:cNvSpPr>
            <a:spLocks noGrp="1"/>
          </p:cNvSpPr>
          <p:nvPr>
            <p:ph type="body" idx="1"/>
          </p:nvPr>
        </p:nvSpPr>
        <p:spPr>
          <a:xfrm>
            <a:off x="315943" y="1503742"/>
            <a:ext cx="3868340" cy="823912"/>
          </a:xfrm>
        </p:spPr>
        <p:txBody>
          <a:bodyPr/>
          <a:lstStyle/>
          <a:p>
            <a:pPr algn="ctr">
              <a:lnSpc>
                <a:spcPct val="100000"/>
              </a:lnSpc>
            </a:pPr>
            <a:r>
              <a:rPr lang="en-US" u="sng" dirty="0" smtClean="0"/>
              <a:t>ADVANTAGES</a:t>
            </a:r>
            <a:endParaRPr lang="en-US" dirty="0"/>
          </a:p>
        </p:txBody>
      </p:sp>
      <p:sp>
        <p:nvSpPr>
          <p:cNvPr id="4" name="Content Placeholder 3"/>
          <p:cNvSpPr>
            <a:spLocks noGrp="1"/>
          </p:cNvSpPr>
          <p:nvPr>
            <p:ph sz="half" idx="2"/>
          </p:nvPr>
        </p:nvSpPr>
        <p:spPr>
          <a:xfrm>
            <a:off x="315943" y="2327654"/>
            <a:ext cx="4215114" cy="4073146"/>
          </a:xfrm>
        </p:spPr>
        <p:txBody>
          <a:bodyPr>
            <a:normAutofit fontScale="62500" lnSpcReduction="20000"/>
          </a:bodyPr>
          <a:lstStyle/>
          <a:p>
            <a:pPr algn="just"/>
            <a:r>
              <a:rPr lang="en-US" dirty="0" smtClean="0"/>
              <a:t>It is cheapest form of all actuators. Components are readily available and compressed air normally is an readily available facility in factories.</a:t>
            </a:r>
            <a:endParaRPr lang="en-US" dirty="0" smtClean="0"/>
          </a:p>
          <a:p>
            <a:pPr algn="just"/>
            <a:r>
              <a:rPr lang="en-US" dirty="0" smtClean="0"/>
              <a:t>Compressed air can be stored and conveyed easily over long distances.</a:t>
            </a:r>
            <a:endParaRPr lang="en-US" dirty="0" smtClean="0"/>
          </a:p>
          <a:p>
            <a:pPr algn="just"/>
            <a:r>
              <a:rPr lang="en-US" dirty="0" smtClean="0"/>
              <a:t>They have few moving parts making them inherently reliable and reducing maintenance costs.</a:t>
            </a:r>
            <a:endParaRPr lang="en-US" dirty="0" smtClean="0"/>
          </a:p>
          <a:p>
            <a:pPr algn="just"/>
            <a:r>
              <a:rPr lang="en-US" dirty="0" smtClean="0"/>
              <a:t>They have quick action and response time thus allowing for fast work cycles.</a:t>
            </a:r>
            <a:endParaRPr lang="en-US" dirty="0" smtClean="0"/>
          </a:p>
          <a:p>
            <a:pPr algn="just"/>
            <a:r>
              <a:rPr lang="en-US" dirty="0" smtClean="0"/>
              <a:t>No mechanical transmission is usually required.</a:t>
            </a:r>
            <a:endParaRPr lang="en-US" dirty="0" smtClean="0"/>
          </a:p>
          <a:p>
            <a:pPr algn="just"/>
            <a:r>
              <a:rPr lang="en-US" dirty="0" smtClean="0"/>
              <a:t>These systems are usually compact thus the control is simple </a:t>
            </a:r>
            <a:r>
              <a:rPr lang="en-US" dirty="0" err="1" smtClean="0"/>
              <a:t>e.g</a:t>
            </a:r>
            <a:r>
              <a:rPr lang="en-US" dirty="0" smtClean="0"/>
              <a:t>: mechanical stops are often used.</a:t>
            </a:r>
            <a:endParaRPr lang="en-US" dirty="0" smtClean="0"/>
          </a:p>
          <a:p>
            <a:pPr algn="just"/>
            <a:endParaRPr lang="en-US" dirty="0"/>
          </a:p>
        </p:txBody>
      </p:sp>
      <p:sp>
        <p:nvSpPr>
          <p:cNvPr id="5" name="Text Placeholder 4"/>
          <p:cNvSpPr>
            <a:spLocks noGrp="1"/>
          </p:cNvSpPr>
          <p:nvPr>
            <p:ph type="body" sz="quarter" idx="3"/>
          </p:nvPr>
        </p:nvSpPr>
        <p:spPr>
          <a:xfrm>
            <a:off x="4498181" y="1503742"/>
            <a:ext cx="3887391" cy="823912"/>
          </a:xfrm>
        </p:spPr>
        <p:txBody>
          <a:bodyPr/>
          <a:lstStyle/>
          <a:p>
            <a:pPr algn="ctr"/>
            <a:r>
              <a:rPr lang="en-US" u="sng" dirty="0" smtClean="0"/>
              <a:t>LIMITATIONS</a:t>
            </a:r>
            <a:endParaRPr lang="en-US" u="sng" dirty="0"/>
          </a:p>
        </p:txBody>
      </p:sp>
      <p:sp>
        <p:nvSpPr>
          <p:cNvPr id="6" name="Content Placeholder 5"/>
          <p:cNvSpPr>
            <a:spLocks noGrp="1"/>
          </p:cNvSpPr>
          <p:nvPr>
            <p:ph sz="quarter" idx="4"/>
          </p:nvPr>
        </p:nvSpPr>
        <p:spPr>
          <a:xfrm>
            <a:off x="4498180" y="2327654"/>
            <a:ext cx="4372865" cy="4073146"/>
          </a:xfrm>
        </p:spPr>
        <p:txBody>
          <a:bodyPr>
            <a:normAutofit/>
          </a:bodyPr>
          <a:lstStyle/>
          <a:p>
            <a:pPr algn="just"/>
            <a:r>
              <a:rPr lang="en-US" sz="1800" dirty="0" smtClean="0"/>
              <a:t>Since air is compressible, precise control of speed and position is not easily obtainable unless much more complex electro mechanical devices are incorporated in to system.</a:t>
            </a:r>
            <a:endParaRPr lang="en-US" sz="1800" dirty="0" smtClean="0"/>
          </a:p>
          <a:p>
            <a:pPr algn="just"/>
            <a:r>
              <a:rPr lang="en-US" sz="1800" dirty="0" smtClean="0"/>
              <a:t>If mechanical stops are used resetting the system can be slow.</a:t>
            </a:r>
            <a:endParaRPr lang="en-US" sz="1800" dirty="0" smtClean="0"/>
          </a:p>
          <a:p>
            <a:pPr algn="just"/>
            <a:r>
              <a:rPr lang="en-US" sz="1800" dirty="0" smtClean="0"/>
              <a:t>If moisture penetrates the units and ferrous metals have been used then damage to individual components may happen.</a:t>
            </a:r>
            <a:endParaRPr lang="en-US" sz="18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u="sng" dirty="0" smtClean="0"/>
              <a:t>Advantages and limitations of  Hydraulic actuators</a:t>
            </a:r>
            <a:endParaRPr lang="en-US" dirty="0"/>
          </a:p>
        </p:txBody>
      </p:sp>
      <p:sp>
        <p:nvSpPr>
          <p:cNvPr id="3" name="Text Placeholder 2"/>
          <p:cNvSpPr>
            <a:spLocks noGrp="1"/>
          </p:cNvSpPr>
          <p:nvPr>
            <p:ph type="body" idx="1"/>
          </p:nvPr>
        </p:nvSpPr>
        <p:spPr>
          <a:xfrm>
            <a:off x="629841" y="1380912"/>
            <a:ext cx="3868340" cy="823912"/>
          </a:xfrm>
        </p:spPr>
        <p:txBody>
          <a:bodyPr/>
          <a:lstStyle/>
          <a:p>
            <a:pPr algn="ctr"/>
            <a:r>
              <a:rPr lang="en-US" u="sng" dirty="0" smtClean="0"/>
              <a:t>ADVANTAGES</a:t>
            </a:r>
            <a:endParaRPr lang="en-US" u="sng" dirty="0"/>
          </a:p>
        </p:txBody>
      </p:sp>
      <p:sp>
        <p:nvSpPr>
          <p:cNvPr id="4" name="Content Placeholder 3"/>
          <p:cNvSpPr>
            <a:spLocks noGrp="1"/>
          </p:cNvSpPr>
          <p:nvPr>
            <p:ph sz="half" idx="2"/>
          </p:nvPr>
        </p:nvSpPr>
        <p:spPr>
          <a:xfrm>
            <a:off x="543560" y="2309495"/>
            <a:ext cx="3868420" cy="4318635"/>
          </a:xfrm>
        </p:spPr>
        <p:txBody>
          <a:bodyPr>
            <a:normAutofit fontScale="60000" lnSpcReduction="20000"/>
          </a:bodyPr>
          <a:lstStyle/>
          <a:p>
            <a:pPr algn="just"/>
            <a:r>
              <a:rPr lang="en-US" dirty="0" smtClean="0"/>
              <a:t>High efficiency and high power to size ratio.</a:t>
            </a:r>
            <a:endParaRPr lang="en-US" dirty="0" smtClean="0"/>
          </a:p>
          <a:p>
            <a:pPr algn="just"/>
            <a:r>
              <a:rPr lang="en-US" dirty="0" smtClean="0"/>
              <a:t>Complete and accurate control over speed position and direction of actuators are possible.</a:t>
            </a:r>
            <a:endParaRPr lang="en-US" dirty="0" smtClean="0"/>
          </a:p>
          <a:p>
            <a:pPr algn="just"/>
            <a:r>
              <a:rPr lang="en-US" dirty="0" smtClean="0"/>
              <a:t>No mechanical linkage is required i.e., a direct drive is obtained with mechanical simplicity.</a:t>
            </a:r>
            <a:endParaRPr lang="en-US" dirty="0" smtClean="0"/>
          </a:p>
          <a:p>
            <a:pPr algn="just"/>
            <a:r>
              <a:rPr lang="en-US" dirty="0" smtClean="0"/>
              <a:t>They generally have a greater load carrying capacity than electric and pneumatic actuators.</a:t>
            </a:r>
            <a:endParaRPr lang="en-US" dirty="0" smtClean="0"/>
          </a:p>
          <a:p>
            <a:pPr algn="just"/>
            <a:r>
              <a:rPr lang="en-US" dirty="0" smtClean="0"/>
              <a:t>Self lubricating and non corrosive.</a:t>
            </a:r>
            <a:endParaRPr lang="en-US" dirty="0" smtClean="0"/>
          </a:p>
          <a:p>
            <a:pPr algn="just"/>
            <a:r>
              <a:rPr lang="en-US" dirty="0" smtClean="0"/>
              <a:t>Hydraulic robots are more capable of with standing shock loads than electric robots.</a:t>
            </a:r>
            <a:endParaRPr lang="en-US" dirty="0"/>
          </a:p>
        </p:txBody>
      </p:sp>
      <p:sp>
        <p:nvSpPr>
          <p:cNvPr id="5" name="Text Placeholder 4"/>
          <p:cNvSpPr>
            <a:spLocks noGrp="1"/>
          </p:cNvSpPr>
          <p:nvPr>
            <p:ph type="body" sz="quarter" idx="3"/>
          </p:nvPr>
        </p:nvSpPr>
        <p:spPr>
          <a:xfrm>
            <a:off x="4498181" y="1380912"/>
            <a:ext cx="3887391" cy="823912"/>
          </a:xfrm>
        </p:spPr>
        <p:txBody>
          <a:bodyPr/>
          <a:lstStyle/>
          <a:p>
            <a:pPr algn="ctr"/>
            <a:r>
              <a:rPr lang="en-US" u="sng" dirty="0" smtClean="0"/>
              <a:t>LIMITATIONS</a:t>
            </a:r>
            <a:endParaRPr lang="en-US" u="sng" dirty="0"/>
          </a:p>
        </p:txBody>
      </p:sp>
      <p:sp>
        <p:nvSpPr>
          <p:cNvPr id="6" name="Content Placeholder 5"/>
          <p:cNvSpPr>
            <a:spLocks noGrp="1"/>
          </p:cNvSpPr>
          <p:nvPr>
            <p:ph sz="quarter" idx="4"/>
          </p:nvPr>
        </p:nvSpPr>
        <p:spPr>
          <a:xfrm>
            <a:off x="4629150" y="2505075"/>
            <a:ext cx="4200951" cy="3684588"/>
          </a:xfrm>
        </p:spPr>
        <p:txBody>
          <a:bodyPr>
            <a:normAutofit fontScale="77500" lnSpcReduction="20000"/>
          </a:bodyPr>
          <a:lstStyle/>
          <a:p>
            <a:pPr algn="just"/>
            <a:r>
              <a:rPr lang="en-US" dirty="0" smtClean="0"/>
              <a:t>Leakages can occur causing a loss in performance and general contamination of the work area. There is also a higher fire risk.</a:t>
            </a:r>
            <a:endParaRPr lang="en-US" dirty="0" smtClean="0"/>
          </a:p>
          <a:p>
            <a:pPr algn="just"/>
            <a:r>
              <a:rPr lang="en-US" dirty="0" smtClean="0"/>
              <a:t>The power pack can be noisy typically about 70 decibel or louder if not protected by an acoustic muffler.</a:t>
            </a:r>
            <a:endParaRPr lang="en-US" dirty="0" smtClean="0"/>
          </a:p>
          <a:p>
            <a:pPr algn="just"/>
            <a:r>
              <a:rPr lang="en-US" dirty="0" smtClean="0"/>
              <a:t>Changes in temp alter the viscosity of hydraulic fluid. Thus at low temperatures fluid viscosity will increase possibly causing sluggish movement of the robot.</a:t>
            </a:r>
            <a:endParaRPr lang="en-US" dirty="0" smtClean="0"/>
          </a:p>
          <a:p>
            <a:pPr algn="just"/>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Comparison of actuating systems</a:t>
            </a:r>
            <a:endParaRPr lang="en-US" b="1" u="sng" dirty="0"/>
          </a:p>
        </p:txBody>
      </p:sp>
      <p:graphicFrame>
        <p:nvGraphicFramePr>
          <p:cNvPr id="5" name="Table 4"/>
          <p:cNvGraphicFramePr>
            <a:graphicFrameLocks noGrp="1"/>
          </p:cNvGraphicFramePr>
          <p:nvPr/>
        </p:nvGraphicFramePr>
        <p:xfrm>
          <a:off x="457200" y="1524000"/>
          <a:ext cx="2578100" cy="5016500"/>
        </p:xfrm>
        <a:graphic>
          <a:graphicData uri="http://schemas.openxmlformats.org/drawingml/2006/table">
            <a:tbl>
              <a:tblPr/>
              <a:tblGrid>
                <a:gridCol w="2578100"/>
              </a:tblGrid>
              <a:tr h="325722">
                <a:tc>
                  <a:txBody>
                    <a:bodyPr/>
                    <a:lstStyle/>
                    <a:p>
                      <a:pPr marL="906780" marR="0">
                        <a:lnSpc>
                          <a:spcPts val="2290"/>
                        </a:lnSpc>
                        <a:spcBef>
                          <a:spcPts val="0"/>
                        </a:spcBef>
                        <a:spcAft>
                          <a:spcPts val="0"/>
                        </a:spcAft>
                      </a:pPr>
                      <a:r>
                        <a:rPr lang="en-US" sz="1600" b="1" dirty="0">
                          <a:solidFill>
                            <a:srgbClr val="000000"/>
                          </a:solidFill>
                          <a:latin typeface="Calibri"/>
                          <a:ea typeface="Times New Roman" panose="02020503050405090304"/>
                          <a:cs typeface="Calibri"/>
                        </a:rPr>
                        <a:t>Hydraulic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93930">
                <a:tc>
                  <a:txBody>
                    <a:bodyPr/>
                    <a:lstStyle/>
                    <a:p>
                      <a:pPr marL="50165" marR="0">
                        <a:lnSpc>
                          <a:spcPts val="2280"/>
                        </a:lnSpc>
                        <a:spcBef>
                          <a:spcPts val="0"/>
                        </a:spcBef>
                        <a:spcAft>
                          <a:spcPts val="0"/>
                        </a:spcAft>
                      </a:pPr>
                      <a:r>
                        <a:rPr lang="en-US" sz="1600" dirty="0">
                          <a:solidFill>
                            <a:srgbClr val="000000"/>
                          </a:solidFill>
                          <a:latin typeface="Calibri"/>
                          <a:ea typeface="Times New Roman" panose="02020503050405090304"/>
                          <a:cs typeface="Calibri"/>
                        </a:rPr>
                        <a:t>+ Good for large robots</a:t>
                      </a:r>
                      <a:endParaRPr lang="en-US" sz="1600" dirty="0">
                        <a:latin typeface="Calibri"/>
                        <a:ea typeface="Times New Roman" panose="02020503050405090304"/>
                        <a:cs typeface="Times New Roman" panose="02020503050405090304"/>
                      </a:endParaRPr>
                    </a:p>
                    <a:p>
                      <a:pPr marL="50165" marR="0">
                        <a:lnSpc>
                          <a:spcPts val="2590"/>
                        </a:lnSpc>
                        <a:spcBef>
                          <a:spcPts val="0"/>
                        </a:spcBef>
                        <a:spcAft>
                          <a:spcPts val="0"/>
                        </a:spcAft>
                      </a:pPr>
                      <a:r>
                        <a:rPr lang="en-US" sz="1600" dirty="0">
                          <a:solidFill>
                            <a:srgbClr val="000000"/>
                          </a:solidFill>
                          <a:latin typeface="Calibri"/>
                          <a:ea typeface="Times New Roman" panose="02020503050405090304"/>
                          <a:cs typeface="Calibri"/>
                        </a:rPr>
                        <a:t>and heavy payload</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93930">
                <a:tc>
                  <a:txBody>
                    <a:bodyPr/>
                    <a:lstStyle/>
                    <a:p>
                      <a:pPr marL="50165" marR="0">
                        <a:lnSpc>
                          <a:spcPts val="2290"/>
                        </a:lnSpc>
                        <a:spcBef>
                          <a:spcPts val="0"/>
                        </a:spcBef>
                        <a:spcAft>
                          <a:spcPts val="0"/>
                        </a:spcAft>
                      </a:pPr>
                      <a:r>
                        <a:rPr lang="en-US" sz="1600" dirty="0">
                          <a:solidFill>
                            <a:srgbClr val="000000"/>
                          </a:solidFill>
                          <a:latin typeface="Calibri"/>
                          <a:ea typeface="Times New Roman" panose="02020503050405090304"/>
                          <a:cs typeface="Calibri"/>
                        </a:rPr>
                        <a:t>+Highest Power/Weight</a:t>
                      </a:r>
                      <a:endParaRPr lang="en-US" sz="1600" dirty="0">
                        <a:latin typeface="Calibri"/>
                        <a:ea typeface="Times New Roman" panose="02020503050405090304"/>
                        <a:cs typeface="Times New Roman" panose="02020503050405090304"/>
                      </a:endParaRPr>
                    </a:p>
                    <a:p>
                      <a:pPr marL="50165" marR="0">
                        <a:lnSpc>
                          <a:spcPts val="2590"/>
                        </a:lnSpc>
                        <a:spcBef>
                          <a:spcPts val="0"/>
                        </a:spcBef>
                        <a:spcAft>
                          <a:spcPts val="0"/>
                        </a:spcAft>
                      </a:pPr>
                      <a:r>
                        <a:rPr lang="en-US" sz="1600" dirty="0">
                          <a:solidFill>
                            <a:srgbClr val="000000"/>
                          </a:solidFill>
                          <a:latin typeface="Calibri"/>
                          <a:ea typeface="Times New Roman" panose="02020503050405090304"/>
                          <a:cs typeface="Calibri"/>
                        </a:rPr>
                        <a:t>Ratio</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93930">
                <a:tc>
                  <a:txBody>
                    <a:bodyPr/>
                    <a:lstStyle/>
                    <a:p>
                      <a:pPr marL="50165" marR="0">
                        <a:lnSpc>
                          <a:spcPts val="2290"/>
                        </a:lnSpc>
                        <a:spcBef>
                          <a:spcPts val="0"/>
                        </a:spcBef>
                        <a:spcAft>
                          <a:spcPts val="0"/>
                        </a:spcAft>
                      </a:pPr>
                      <a:r>
                        <a:rPr lang="en-US" sz="1600">
                          <a:solidFill>
                            <a:srgbClr val="000000"/>
                          </a:solidFill>
                          <a:latin typeface="Calibri"/>
                          <a:ea typeface="Times New Roman" panose="02020503050405090304"/>
                          <a:cs typeface="Calibri"/>
                        </a:rPr>
                        <a:t>+Stiff system, High</a:t>
                      </a:r>
                      <a:endParaRPr lang="en-US" sz="1600">
                        <a:latin typeface="Calibri"/>
                        <a:ea typeface="Times New Roman" panose="02020503050405090304"/>
                        <a:cs typeface="Times New Roman" panose="02020503050405090304"/>
                      </a:endParaRPr>
                    </a:p>
                    <a:p>
                      <a:pPr marL="50165" marR="0">
                        <a:lnSpc>
                          <a:spcPts val="2590"/>
                        </a:lnSpc>
                        <a:spcBef>
                          <a:spcPts val="0"/>
                        </a:spcBef>
                        <a:spcAft>
                          <a:spcPts val="0"/>
                        </a:spcAft>
                      </a:pPr>
                      <a:r>
                        <a:rPr lang="en-US" sz="1600">
                          <a:solidFill>
                            <a:srgbClr val="000000"/>
                          </a:solidFill>
                          <a:latin typeface="Calibri"/>
                          <a:ea typeface="Times New Roman" panose="02020503050405090304"/>
                          <a:cs typeface="Calibri"/>
                        </a:rPr>
                        <a:t>accuracy, better response</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06397">
                <a:tc>
                  <a:txBody>
                    <a:bodyPr/>
                    <a:lstStyle/>
                    <a:p>
                      <a:pPr marL="50165" marR="0">
                        <a:lnSpc>
                          <a:spcPts val="2305"/>
                        </a:lnSpc>
                        <a:spcBef>
                          <a:spcPts val="0"/>
                        </a:spcBef>
                        <a:spcAft>
                          <a:spcPts val="0"/>
                        </a:spcAft>
                      </a:pPr>
                      <a:r>
                        <a:rPr lang="en-US" sz="1600" dirty="0">
                          <a:solidFill>
                            <a:srgbClr val="000000"/>
                          </a:solidFill>
                          <a:latin typeface="Calibri"/>
                          <a:ea typeface="Times New Roman" panose="02020503050405090304"/>
                          <a:cs typeface="Calibri"/>
                        </a:rPr>
                        <a:t>+No reduction gear</a:t>
                      </a:r>
                      <a:endParaRPr lang="en-US" sz="1600" dirty="0">
                        <a:latin typeface="Calibri"/>
                        <a:ea typeface="Times New Roman" panose="02020503050405090304"/>
                        <a:cs typeface="Times New Roman" panose="02020503050405090304"/>
                      </a:endParaRPr>
                    </a:p>
                    <a:p>
                      <a:pPr marL="50165" marR="0">
                        <a:lnSpc>
                          <a:spcPts val="2590"/>
                        </a:lnSpc>
                        <a:spcBef>
                          <a:spcPts val="0"/>
                        </a:spcBef>
                        <a:spcAft>
                          <a:spcPts val="0"/>
                        </a:spcAft>
                      </a:pPr>
                      <a:r>
                        <a:rPr lang="en-US" sz="1600" dirty="0">
                          <a:solidFill>
                            <a:srgbClr val="000000"/>
                          </a:solidFill>
                          <a:latin typeface="Calibri"/>
                          <a:ea typeface="Times New Roman" panose="02020503050405090304"/>
                          <a:cs typeface="Calibri"/>
                        </a:rPr>
                        <a:t>needed</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62137">
                <a:tc>
                  <a:txBody>
                    <a:bodyPr/>
                    <a:lstStyle/>
                    <a:p>
                      <a:pPr marL="50165" marR="0">
                        <a:lnSpc>
                          <a:spcPts val="2305"/>
                        </a:lnSpc>
                        <a:spcBef>
                          <a:spcPts val="0"/>
                        </a:spcBef>
                        <a:spcAft>
                          <a:spcPts val="0"/>
                        </a:spcAft>
                      </a:pPr>
                      <a:r>
                        <a:rPr lang="en-US" sz="1600">
                          <a:solidFill>
                            <a:srgbClr val="000000"/>
                          </a:solidFill>
                          <a:latin typeface="Calibri"/>
                          <a:ea typeface="Times New Roman" panose="02020503050405090304"/>
                          <a:cs typeface="Calibri"/>
                        </a:rPr>
                        <a:t>+Can work in wide range</a:t>
                      </a:r>
                      <a:endParaRPr lang="en-US" sz="1600">
                        <a:latin typeface="Calibri"/>
                        <a:ea typeface="Times New Roman" panose="02020503050405090304"/>
                        <a:cs typeface="Times New Roman" panose="02020503050405090304"/>
                      </a:endParaRPr>
                    </a:p>
                    <a:p>
                      <a:pPr marL="50165" marR="0">
                        <a:lnSpc>
                          <a:spcPts val="2590"/>
                        </a:lnSpc>
                        <a:spcBef>
                          <a:spcPts val="0"/>
                        </a:spcBef>
                        <a:spcAft>
                          <a:spcPts val="0"/>
                        </a:spcAft>
                      </a:pPr>
                      <a:r>
                        <a:rPr lang="en-US" sz="1600">
                          <a:solidFill>
                            <a:srgbClr val="000000"/>
                          </a:solidFill>
                          <a:latin typeface="Calibri"/>
                          <a:ea typeface="Times New Roman" panose="02020503050405090304"/>
                          <a:cs typeface="Calibri"/>
                        </a:rPr>
                        <a:t>of speeds without</a:t>
                      </a:r>
                      <a:endParaRPr lang="en-US" sz="1600">
                        <a:latin typeface="Calibri"/>
                        <a:ea typeface="Times New Roman" panose="02020503050405090304"/>
                        <a:cs typeface="Times New Roman" panose="02020503050405090304"/>
                      </a:endParaRPr>
                    </a:p>
                    <a:p>
                      <a:pPr marL="50165" marR="0">
                        <a:lnSpc>
                          <a:spcPts val="2615"/>
                        </a:lnSpc>
                        <a:spcBef>
                          <a:spcPts val="0"/>
                        </a:spcBef>
                        <a:spcAft>
                          <a:spcPts val="0"/>
                        </a:spcAft>
                      </a:pPr>
                      <a:r>
                        <a:rPr lang="en-US" sz="1600">
                          <a:solidFill>
                            <a:srgbClr val="000000"/>
                          </a:solidFill>
                          <a:latin typeface="Calibri"/>
                          <a:ea typeface="Times New Roman" panose="02020503050405090304"/>
                          <a:cs typeface="Calibri"/>
                        </a:rPr>
                        <a:t>difficulty</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40454">
                <a:tc>
                  <a:txBody>
                    <a:bodyPr/>
                    <a:lstStyle/>
                    <a:p>
                      <a:pPr marL="50165" marR="0">
                        <a:lnSpc>
                          <a:spcPts val="2305"/>
                        </a:lnSpc>
                        <a:spcBef>
                          <a:spcPts val="0"/>
                        </a:spcBef>
                        <a:spcAft>
                          <a:spcPts val="0"/>
                        </a:spcAft>
                      </a:pPr>
                      <a:r>
                        <a:rPr lang="en-US" sz="1600" dirty="0">
                          <a:solidFill>
                            <a:srgbClr val="000000"/>
                          </a:solidFill>
                          <a:latin typeface="Calibri"/>
                          <a:ea typeface="Times New Roman" panose="02020503050405090304"/>
                          <a:cs typeface="Calibri"/>
                        </a:rPr>
                        <a:t>+Can be left in position</a:t>
                      </a:r>
                      <a:endParaRPr lang="en-US" sz="1600" dirty="0">
                        <a:latin typeface="Calibri"/>
                        <a:ea typeface="Times New Roman" panose="02020503050405090304"/>
                        <a:cs typeface="Times New Roman" panose="02020503050405090304"/>
                      </a:endParaRPr>
                    </a:p>
                    <a:p>
                      <a:pPr marL="50165" marR="0">
                        <a:lnSpc>
                          <a:spcPts val="2590"/>
                        </a:lnSpc>
                        <a:spcBef>
                          <a:spcPts val="0"/>
                        </a:spcBef>
                        <a:spcAft>
                          <a:spcPts val="0"/>
                        </a:spcAft>
                      </a:pPr>
                      <a:r>
                        <a:rPr lang="en-US" sz="1600" dirty="0">
                          <a:solidFill>
                            <a:srgbClr val="000000"/>
                          </a:solidFill>
                          <a:latin typeface="Calibri"/>
                          <a:ea typeface="Times New Roman" panose="02020503050405090304"/>
                          <a:cs typeface="Calibri"/>
                        </a:rPr>
                        <a:t>without any damage</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7" name="Table 6"/>
          <p:cNvGraphicFramePr>
            <a:graphicFrameLocks noGrp="1"/>
          </p:cNvGraphicFramePr>
          <p:nvPr/>
        </p:nvGraphicFramePr>
        <p:xfrm>
          <a:off x="3098799" y="1519906"/>
          <a:ext cx="2844801" cy="5007894"/>
        </p:xfrm>
        <a:graphic>
          <a:graphicData uri="http://schemas.openxmlformats.org/drawingml/2006/table">
            <a:tbl>
              <a:tblPr/>
              <a:tblGrid>
                <a:gridCol w="2844801"/>
              </a:tblGrid>
              <a:tr h="334245">
                <a:tc>
                  <a:txBody>
                    <a:bodyPr/>
                    <a:lstStyle/>
                    <a:p>
                      <a:pPr marL="1008380" marR="0">
                        <a:lnSpc>
                          <a:spcPts val="2290"/>
                        </a:lnSpc>
                        <a:spcBef>
                          <a:spcPts val="0"/>
                        </a:spcBef>
                        <a:spcAft>
                          <a:spcPts val="0"/>
                        </a:spcAft>
                      </a:pPr>
                      <a:r>
                        <a:rPr lang="en-US" sz="1600" b="1" dirty="0" smtClean="0">
                          <a:solidFill>
                            <a:srgbClr val="000000"/>
                          </a:solidFill>
                          <a:latin typeface="Calibri"/>
                          <a:ea typeface="Times New Roman" panose="02020503050405090304"/>
                          <a:cs typeface="Calibri"/>
                        </a:rPr>
                        <a:t>Electric  </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12087">
                <a:tc>
                  <a:txBody>
                    <a:bodyPr/>
                    <a:lstStyle/>
                    <a:p>
                      <a:pPr marL="48260" marR="0">
                        <a:lnSpc>
                          <a:spcPts val="2280"/>
                        </a:lnSpc>
                        <a:spcBef>
                          <a:spcPts val="0"/>
                        </a:spcBef>
                        <a:spcAft>
                          <a:spcPts val="0"/>
                        </a:spcAft>
                      </a:pPr>
                      <a:r>
                        <a:rPr lang="en-US" sz="1600" dirty="0">
                          <a:solidFill>
                            <a:srgbClr val="000000"/>
                          </a:solidFill>
                          <a:latin typeface="Calibri"/>
                          <a:ea typeface="Times New Roman" panose="02020503050405090304"/>
                          <a:cs typeface="Calibri"/>
                        </a:rPr>
                        <a:t>+ Good for all size of</a:t>
                      </a:r>
                      <a:endParaRPr lang="en-US" sz="1600" dirty="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dirty="0">
                          <a:solidFill>
                            <a:srgbClr val="000000"/>
                          </a:solidFill>
                          <a:latin typeface="Calibri"/>
                          <a:ea typeface="Times New Roman" panose="02020503050405090304"/>
                          <a:cs typeface="Calibri"/>
                        </a:rPr>
                        <a:t>Robots</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12087">
                <a:tc>
                  <a:txBody>
                    <a:bodyPr/>
                    <a:lstStyle/>
                    <a:p>
                      <a:pPr marL="48260" marR="0">
                        <a:lnSpc>
                          <a:spcPts val="2290"/>
                        </a:lnSpc>
                        <a:spcBef>
                          <a:spcPts val="0"/>
                        </a:spcBef>
                        <a:spcAft>
                          <a:spcPts val="0"/>
                        </a:spcAft>
                      </a:pPr>
                      <a:r>
                        <a:rPr lang="en-US" sz="1600">
                          <a:solidFill>
                            <a:srgbClr val="000000"/>
                          </a:solidFill>
                          <a:latin typeface="Calibri"/>
                          <a:ea typeface="Times New Roman" panose="02020503050405090304"/>
                          <a:cs typeface="Calibri"/>
                        </a:rPr>
                        <a:t>+Better control, good for</a:t>
                      </a:r>
                      <a:endParaRPr lang="en-US" sz="160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a:solidFill>
                            <a:srgbClr val="000000"/>
                          </a:solidFill>
                          <a:latin typeface="Calibri"/>
                          <a:ea typeface="Times New Roman" panose="02020503050405090304"/>
                          <a:cs typeface="Calibri"/>
                        </a:rPr>
                        <a:t>high precision robots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12087">
                <a:tc>
                  <a:txBody>
                    <a:bodyPr/>
                    <a:lstStyle/>
                    <a:p>
                      <a:pPr marL="48260" marR="0">
                        <a:lnSpc>
                          <a:spcPts val="2290"/>
                        </a:lnSpc>
                        <a:spcBef>
                          <a:spcPts val="0"/>
                        </a:spcBef>
                        <a:spcAft>
                          <a:spcPts val="0"/>
                        </a:spcAft>
                      </a:pPr>
                      <a:r>
                        <a:rPr lang="en-US" sz="1600">
                          <a:solidFill>
                            <a:srgbClr val="000000"/>
                          </a:solidFill>
                          <a:latin typeface="Calibri"/>
                          <a:ea typeface="Times New Roman" panose="02020503050405090304"/>
                          <a:cs typeface="Calibri"/>
                        </a:rPr>
                        <a:t>+Higher Compliance that</a:t>
                      </a:r>
                      <a:endParaRPr lang="en-US" sz="160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a:solidFill>
                            <a:srgbClr val="000000"/>
                          </a:solidFill>
                          <a:latin typeface="Calibri"/>
                          <a:ea typeface="Times New Roman" panose="02020503050405090304"/>
                          <a:cs typeface="Calibri"/>
                        </a:rPr>
                        <a:t>Hydraulics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89928">
                <a:tc>
                  <a:txBody>
                    <a:bodyPr/>
                    <a:lstStyle/>
                    <a:p>
                      <a:pPr marL="48260" marR="0">
                        <a:lnSpc>
                          <a:spcPts val="2305"/>
                        </a:lnSpc>
                        <a:spcBef>
                          <a:spcPts val="0"/>
                        </a:spcBef>
                        <a:spcAft>
                          <a:spcPts val="0"/>
                        </a:spcAft>
                      </a:pPr>
                      <a:r>
                        <a:rPr lang="en-US" sz="1600" dirty="0">
                          <a:solidFill>
                            <a:srgbClr val="000000"/>
                          </a:solidFill>
                          <a:latin typeface="Calibri"/>
                          <a:ea typeface="Times New Roman" panose="02020503050405090304"/>
                          <a:cs typeface="Calibri"/>
                        </a:rPr>
                        <a:t>+Reduction gears used</a:t>
                      </a:r>
                      <a:endParaRPr lang="en-US" sz="1600" dirty="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dirty="0">
                          <a:solidFill>
                            <a:srgbClr val="000000"/>
                          </a:solidFill>
                          <a:latin typeface="Calibri"/>
                          <a:ea typeface="Times New Roman" panose="02020503050405090304"/>
                          <a:cs typeface="Calibri"/>
                        </a:rPr>
                        <a:t>reduce inertia on the</a:t>
                      </a:r>
                      <a:endParaRPr lang="en-US" sz="1600" dirty="0">
                        <a:latin typeface="Calibri"/>
                        <a:ea typeface="Times New Roman" panose="02020503050405090304"/>
                        <a:cs typeface="Times New Roman" panose="02020503050405090304"/>
                      </a:endParaRPr>
                    </a:p>
                    <a:p>
                      <a:pPr marL="48260" marR="0">
                        <a:lnSpc>
                          <a:spcPts val="2615"/>
                        </a:lnSpc>
                        <a:spcBef>
                          <a:spcPts val="0"/>
                        </a:spcBef>
                        <a:spcAft>
                          <a:spcPts val="0"/>
                        </a:spcAft>
                      </a:pPr>
                      <a:r>
                        <a:rPr lang="en-US" sz="1600" dirty="0">
                          <a:solidFill>
                            <a:srgbClr val="000000"/>
                          </a:solidFill>
                          <a:latin typeface="Calibri"/>
                          <a:ea typeface="Times New Roman" panose="02020503050405090304"/>
                          <a:cs typeface="Calibri"/>
                        </a:rPr>
                        <a:t>motor</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35373">
                <a:tc>
                  <a:txBody>
                    <a:bodyPr/>
                    <a:lstStyle/>
                    <a:p>
                      <a:pPr marL="48260" marR="0">
                        <a:lnSpc>
                          <a:spcPts val="2305"/>
                        </a:lnSpc>
                        <a:spcBef>
                          <a:spcPts val="0"/>
                        </a:spcBef>
                        <a:spcAft>
                          <a:spcPts val="0"/>
                        </a:spcAft>
                      </a:pPr>
                      <a:r>
                        <a:rPr lang="en-US" sz="1600" dirty="0">
                          <a:solidFill>
                            <a:srgbClr val="000000"/>
                          </a:solidFill>
                          <a:latin typeface="Calibri"/>
                          <a:ea typeface="Times New Roman" panose="02020503050405090304"/>
                          <a:cs typeface="Calibri"/>
                        </a:rPr>
                        <a:t>+does not leak, good for</a:t>
                      </a:r>
                      <a:endParaRPr lang="en-US" sz="1600" dirty="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dirty="0">
                          <a:solidFill>
                            <a:srgbClr val="000000"/>
                          </a:solidFill>
                          <a:latin typeface="Calibri"/>
                          <a:ea typeface="Times New Roman" panose="02020503050405090304"/>
                          <a:cs typeface="Calibri"/>
                        </a:rPr>
                        <a:t>clean room</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12087">
                <a:tc>
                  <a:txBody>
                    <a:bodyPr/>
                    <a:lstStyle/>
                    <a:p>
                      <a:pPr marL="48260" marR="0">
                        <a:lnSpc>
                          <a:spcPts val="2305"/>
                        </a:lnSpc>
                        <a:spcBef>
                          <a:spcPts val="0"/>
                        </a:spcBef>
                        <a:spcAft>
                          <a:spcPts val="0"/>
                        </a:spcAft>
                      </a:pPr>
                      <a:r>
                        <a:rPr lang="en-US" sz="1600" dirty="0">
                          <a:solidFill>
                            <a:srgbClr val="000000"/>
                          </a:solidFill>
                          <a:latin typeface="Calibri"/>
                          <a:ea typeface="Times New Roman" panose="02020503050405090304"/>
                          <a:cs typeface="Calibri"/>
                        </a:rPr>
                        <a:t>+Reliable, low</a:t>
                      </a:r>
                      <a:endParaRPr lang="en-US" sz="1600" dirty="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dirty="0">
                          <a:solidFill>
                            <a:srgbClr val="000000"/>
                          </a:solidFill>
                          <a:latin typeface="Calibri"/>
                          <a:ea typeface="Times New Roman" panose="02020503050405090304"/>
                          <a:cs typeface="Calibri"/>
                        </a:rPr>
                        <a:t>maintenance</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8" name="Table 7"/>
          <p:cNvGraphicFramePr>
            <a:graphicFrameLocks noGrp="1"/>
          </p:cNvGraphicFramePr>
          <p:nvPr/>
        </p:nvGraphicFramePr>
        <p:xfrm>
          <a:off x="5994400" y="1524000"/>
          <a:ext cx="2870200" cy="4978399"/>
        </p:xfrm>
        <a:graphic>
          <a:graphicData uri="http://schemas.openxmlformats.org/drawingml/2006/table">
            <a:tbl>
              <a:tblPr/>
              <a:tblGrid>
                <a:gridCol w="2870200"/>
              </a:tblGrid>
              <a:tr h="328281">
                <a:tc>
                  <a:txBody>
                    <a:bodyPr/>
                    <a:lstStyle/>
                    <a:p>
                      <a:pPr marL="840740" marR="0">
                        <a:lnSpc>
                          <a:spcPts val="2290"/>
                        </a:lnSpc>
                        <a:spcBef>
                          <a:spcPts val="0"/>
                        </a:spcBef>
                        <a:spcAft>
                          <a:spcPts val="0"/>
                        </a:spcAft>
                      </a:pPr>
                      <a:r>
                        <a:rPr lang="en-US" sz="1600" b="1" dirty="0">
                          <a:solidFill>
                            <a:srgbClr val="000000"/>
                          </a:solidFill>
                          <a:latin typeface="Calibri"/>
                          <a:ea typeface="Times New Roman" panose="02020503050405090304"/>
                          <a:cs typeface="Calibri"/>
                        </a:rPr>
                        <a:t>Pneumatic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99380">
                <a:tc>
                  <a:txBody>
                    <a:bodyPr/>
                    <a:lstStyle/>
                    <a:p>
                      <a:pPr marL="48260" marR="0">
                        <a:lnSpc>
                          <a:spcPts val="2280"/>
                        </a:lnSpc>
                        <a:spcBef>
                          <a:spcPts val="0"/>
                        </a:spcBef>
                        <a:spcAft>
                          <a:spcPts val="0"/>
                        </a:spcAft>
                      </a:pPr>
                      <a:r>
                        <a:rPr lang="en-US" sz="1600">
                          <a:solidFill>
                            <a:srgbClr val="000000"/>
                          </a:solidFill>
                          <a:latin typeface="Calibri"/>
                          <a:ea typeface="Times New Roman" panose="02020503050405090304"/>
                          <a:cs typeface="Calibri"/>
                        </a:rPr>
                        <a:t>+ Many components are</a:t>
                      </a:r>
                      <a:endParaRPr lang="en-US" sz="160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a:solidFill>
                            <a:srgbClr val="000000"/>
                          </a:solidFill>
                          <a:latin typeface="Calibri"/>
                          <a:ea typeface="Times New Roman" panose="02020503050405090304"/>
                          <a:cs typeface="Calibri"/>
                        </a:rPr>
                        <a:t>usually off-the-shelf</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34770">
                <a:tc>
                  <a:txBody>
                    <a:bodyPr/>
                    <a:lstStyle/>
                    <a:p>
                      <a:pPr marL="48260" marR="0">
                        <a:lnSpc>
                          <a:spcPts val="2290"/>
                        </a:lnSpc>
                        <a:spcBef>
                          <a:spcPts val="0"/>
                        </a:spcBef>
                        <a:spcAft>
                          <a:spcPts val="0"/>
                        </a:spcAft>
                      </a:pPr>
                      <a:r>
                        <a:rPr lang="en-US" sz="1600">
                          <a:solidFill>
                            <a:srgbClr val="000000"/>
                          </a:solidFill>
                          <a:latin typeface="Calibri"/>
                          <a:ea typeface="Times New Roman" panose="02020503050405090304"/>
                          <a:cs typeface="Calibri"/>
                        </a:rPr>
                        <a:t>+Reliable components.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33750">
                <a:tc>
                  <a:txBody>
                    <a:bodyPr/>
                    <a:lstStyle/>
                    <a:p>
                      <a:pPr marL="48260" marR="0">
                        <a:lnSpc>
                          <a:spcPts val="2290"/>
                        </a:lnSpc>
                        <a:spcBef>
                          <a:spcPts val="0"/>
                        </a:spcBef>
                        <a:spcAft>
                          <a:spcPts val="0"/>
                        </a:spcAft>
                      </a:pPr>
                      <a:r>
                        <a:rPr lang="en-US" sz="1600">
                          <a:solidFill>
                            <a:srgbClr val="000000"/>
                          </a:solidFill>
                          <a:latin typeface="Calibri"/>
                          <a:ea typeface="Times New Roman" panose="02020503050405090304"/>
                          <a:cs typeface="Calibri"/>
                        </a:rPr>
                        <a:t>+No leaks or sparks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99208">
                <a:tc>
                  <a:txBody>
                    <a:bodyPr/>
                    <a:lstStyle/>
                    <a:p>
                      <a:pPr marL="48260" marR="0">
                        <a:lnSpc>
                          <a:spcPts val="2305"/>
                        </a:lnSpc>
                        <a:spcBef>
                          <a:spcPts val="0"/>
                        </a:spcBef>
                        <a:spcAft>
                          <a:spcPts val="0"/>
                        </a:spcAft>
                      </a:pPr>
                      <a:r>
                        <a:rPr lang="en-US" sz="1600" dirty="0">
                          <a:solidFill>
                            <a:srgbClr val="000000"/>
                          </a:solidFill>
                          <a:latin typeface="Calibri"/>
                          <a:ea typeface="Times New Roman" panose="02020503050405090304"/>
                          <a:cs typeface="Calibri"/>
                        </a:rPr>
                        <a:t>+Inexpensive and simple</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99208">
                <a:tc>
                  <a:txBody>
                    <a:bodyPr/>
                    <a:lstStyle/>
                    <a:p>
                      <a:pPr marL="48260" marR="0">
                        <a:lnSpc>
                          <a:spcPts val="2305"/>
                        </a:lnSpc>
                        <a:spcBef>
                          <a:spcPts val="0"/>
                        </a:spcBef>
                        <a:spcAft>
                          <a:spcPts val="0"/>
                        </a:spcAft>
                      </a:pPr>
                      <a:r>
                        <a:rPr lang="en-US" sz="1600">
                          <a:solidFill>
                            <a:srgbClr val="000000"/>
                          </a:solidFill>
                          <a:latin typeface="Calibri"/>
                          <a:ea typeface="Times New Roman" panose="02020503050405090304"/>
                          <a:cs typeface="Calibri"/>
                        </a:rPr>
                        <a:t>+Low pressure compared</a:t>
                      </a:r>
                      <a:endParaRPr lang="en-US" sz="160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a:solidFill>
                            <a:srgbClr val="000000"/>
                          </a:solidFill>
                          <a:latin typeface="Calibri"/>
                          <a:ea typeface="Times New Roman" panose="02020503050405090304"/>
                          <a:cs typeface="Calibri"/>
                        </a:rPr>
                        <a:t>to hydraulics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83802">
                <a:tc>
                  <a:txBody>
                    <a:bodyPr/>
                    <a:lstStyle/>
                    <a:p>
                      <a:pPr marL="48260" marR="0">
                        <a:lnSpc>
                          <a:spcPts val="2305"/>
                        </a:lnSpc>
                        <a:spcBef>
                          <a:spcPts val="0"/>
                        </a:spcBef>
                        <a:spcAft>
                          <a:spcPts val="0"/>
                        </a:spcAft>
                      </a:pPr>
                      <a:r>
                        <a:rPr lang="en-US" sz="1600" dirty="0">
                          <a:solidFill>
                            <a:srgbClr val="000000"/>
                          </a:solidFill>
                          <a:latin typeface="Calibri"/>
                          <a:ea typeface="Times New Roman" panose="02020503050405090304"/>
                          <a:cs typeface="Calibri"/>
                        </a:rPr>
                        <a:t>+ Good for on-off</a:t>
                      </a:r>
                      <a:endParaRPr lang="en-US" sz="1600" dirty="0">
                        <a:latin typeface="Calibri"/>
                        <a:ea typeface="Times New Roman" panose="02020503050405090304"/>
                        <a:cs typeface="Times New Roman" panose="02020503050405090304"/>
                      </a:endParaRPr>
                    </a:p>
                    <a:p>
                      <a:pPr marL="48260" marR="0">
                        <a:lnSpc>
                          <a:spcPts val="2590"/>
                        </a:lnSpc>
                        <a:spcBef>
                          <a:spcPts val="0"/>
                        </a:spcBef>
                        <a:spcAft>
                          <a:spcPts val="0"/>
                        </a:spcAft>
                      </a:pPr>
                      <a:r>
                        <a:rPr lang="en-US" sz="1600" dirty="0">
                          <a:solidFill>
                            <a:srgbClr val="000000"/>
                          </a:solidFill>
                          <a:latin typeface="Calibri"/>
                          <a:ea typeface="Times New Roman" panose="02020503050405090304"/>
                          <a:cs typeface="Calibri"/>
                        </a:rPr>
                        <a:t>applications and for pick</a:t>
                      </a:r>
                      <a:endParaRPr lang="en-US" sz="1600" dirty="0">
                        <a:latin typeface="Calibri"/>
                        <a:ea typeface="Times New Roman" panose="02020503050405090304"/>
                        <a:cs typeface="Times New Roman" panose="02020503050405090304"/>
                      </a:endParaRPr>
                    </a:p>
                    <a:p>
                      <a:pPr marL="48260" marR="0">
                        <a:lnSpc>
                          <a:spcPts val="2615"/>
                        </a:lnSpc>
                        <a:spcBef>
                          <a:spcPts val="0"/>
                        </a:spcBef>
                        <a:spcAft>
                          <a:spcPts val="0"/>
                        </a:spcAft>
                      </a:pPr>
                      <a:r>
                        <a:rPr lang="en-US" sz="1600" dirty="0">
                          <a:solidFill>
                            <a:srgbClr val="000000"/>
                          </a:solidFill>
                          <a:latin typeface="Calibri"/>
                          <a:ea typeface="Times New Roman" panose="02020503050405090304"/>
                          <a:cs typeface="Calibri"/>
                        </a:rPr>
                        <a:t>and place</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smtClean="0"/>
              <a:t>Comparison of actuating systems</a:t>
            </a:r>
            <a:endParaRPr lang="en-US" dirty="0"/>
          </a:p>
        </p:txBody>
      </p:sp>
      <p:graphicFrame>
        <p:nvGraphicFramePr>
          <p:cNvPr id="4" name="Content Placeholder 3"/>
          <p:cNvGraphicFramePr>
            <a:graphicFrameLocks noGrp="1"/>
          </p:cNvGraphicFramePr>
          <p:nvPr>
            <p:ph idx="1"/>
          </p:nvPr>
        </p:nvGraphicFramePr>
        <p:xfrm>
          <a:off x="457200" y="1600200"/>
          <a:ext cx="2679700" cy="4787901"/>
        </p:xfrm>
        <a:graphic>
          <a:graphicData uri="http://schemas.openxmlformats.org/drawingml/2006/table">
            <a:tbl>
              <a:tblPr/>
              <a:tblGrid>
                <a:gridCol w="2679700"/>
              </a:tblGrid>
              <a:tr h="266177">
                <a:tc>
                  <a:txBody>
                    <a:bodyPr/>
                    <a:lstStyle/>
                    <a:p>
                      <a:pPr marL="942975" marR="0">
                        <a:lnSpc>
                          <a:spcPts val="2025"/>
                        </a:lnSpc>
                        <a:spcBef>
                          <a:spcPts val="0"/>
                        </a:spcBef>
                        <a:spcAft>
                          <a:spcPts val="0"/>
                        </a:spcAft>
                      </a:pPr>
                      <a:r>
                        <a:rPr lang="en-US" sz="1600" b="1" dirty="0">
                          <a:solidFill>
                            <a:srgbClr val="000000"/>
                          </a:solidFill>
                          <a:latin typeface="Calibri"/>
                          <a:ea typeface="Times New Roman" panose="02020503050405090304"/>
                          <a:cs typeface="Calibri"/>
                        </a:rPr>
                        <a:t>Hydraulic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2281">
                <a:tc>
                  <a:txBody>
                    <a:bodyPr/>
                    <a:lstStyle/>
                    <a:p>
                      <a:pPr marL="50165" marR="0">
                        <a:lnSpc>
                          <a:spcPts val="2015"/>
                        </a:lnSpc>
                        <a:spcBef>
                          <a:spcPts val="0"/>
                        </a:spcBef>
                        <a:spcAft>
                          <a:spcPts val="0"/>
                        </a:spcAft>
                      </a:pPr>
                      <a:r>
                        <a:rPr lang="en-US" sz="1600">
                          <a:solidFill>
                            <a:srgbClr val="000000"/>
                          </a:solidFill>
                          <a:latin typeface="Calibri"/>
                          <a:ea typeface="Times New Roman" panose="02020503050405090304"/>
                          <a:cs typeface="Calibri"/>
                        </a:rPr>
                        <a:t>- May leak. Not fit for clean</a:t>
                      </a:r>
                      <a:endParaRPr lang="en-US" sz="160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a:solidFill>
                            <a:srgbClr val="000000"/>
                          </a:solidFill>
                          <a:latin typeface="Calibri"/>
                          <a:ea typeface="Times New Roman" panose="02020503050405090304"/>
                          <a:cs typeface="Calibri"/>
                        </a:rPr>
                        <a:t>room application</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2281">
                <a:tc>
                  <a:txBody>
                    <a:bodyPr/>
                    <a:lstStyle/>
                    <a:p>
                      <a:pPr marL="50165" marR="0">
                        <a:lnSpc>
                          <a:spcPts val="2005"/>
                        </a:lnSpc>
                        <a:spcBef>
                          <a:spcPts val="0"/>
                        </a:spcBef>
                        <a:spcAft>
                          <a:spcPts val="0"/>
                        </a:spcAft>
                      </a:pPr>
                      <a:r>
                        <a:rPr lang="en-US" sz="1600">
                          <a:solidFill>
                            <a:srgbClr val="000000"/>
                          </a:solidFill>
                          <a:latin typeface="Calibri"/>
                          <a:ea typeface="Times New Roman" panose="02020503050405090304"/>
                          <a:cs typeface="Calibri"/>
                        </a:rPr>
                        <a:t>-Requires pump, reservoir,</a:t>
                      </a:r>
                      <a:endParaRPr lang="en-US" sz="160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a:solidFill>
                            <a:srgbClr val="000000"/>
                          </a:solidFill>
                          <a:latin typeface="Calibri"/>
                          <a:ea typeface="Times New Roman" panose="02020503050405090304"/>
                          <a:cs typeface="Calibri"/>
                        </a:rPr>
                        <a:t>motor, hoses etc.</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36960">
                <a:tc>
                  <a:txBody>
                    <a:bodyPr/>
                    <a:lstStyle/>
                    <a:p>
                      <a:pPr marL="50165" marR="0">
                        <a:lnSpc>
                          <a:spcPts val="2030"/>
                        </a:lnSpc>
                        <a:spcBef>
                          <a:spcPts val="0"/>
                        </a:spcBef>
                        <a:spcAft>
                          <a:spcPts val="0"/>
                        </a:spcAft>
                      </a:pPr>
                      <a:r>
                        <a:rPr lang="en-US" sz="1600">
                          <a:solidFill>
                            <a:srgbClr val="000000"/>
                          </a:solidFill>
                          <a:latin typeface="Calibri"/>
                          <a:ea typeface="Times New Roman" panose="02020503050405090304"/>
                          <a:cs typeface="Calibri"/>
                        </a:rPr>
                        <a:t>-Can be expensive and noisy,</a:t>
                      </a:r>
                      <a:endParaRPr lang="en-US" sz="160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a:solidFill>
                            <a:srgbClr val="000000"/>
                          </a:solidFill>
                          <a:latin typeface="Calibri"/>
                          <a:ea typeface="Times New Roman" panose="02020503050405090304"/>
                          <a:cs typeface="Calibri"/>
                        </a:rPr>
                        <a:t>requires maintenance.</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36960">
                <a:tc>
                  <a:txBody>
                    <a:bodyPr/>
                    <a:lstStyle/>
                    <a:p>
                      <a:pPr marL="50165" marR="0">
                        <a:lnSpc>
                          <a:spcPts val="2030"/>
                        </a:lnSpc>
                        <a:spcBef>
                          <a:spcPts val="0"/>
                        </a:spcBef>
                        <a:spcAft>
                          <a:spcPts val="0"/>
                        </a:spcAft>
                      </a:pPr>
                      <a:r>
                        <a:rPr lang="en-US" sz="1600" dirty="0">
                          <a:solidFill>
                            <a:srgbClr val="000000"/>
                          </a:solidFill>
                          <a:latin typeface="Calibri"/>
                          <a:ea typeface="Times New Roman" panose="02020503050405090304"/>
                          <a:cs typeface="Calibri"/>
                        </a:rPr>
                        <a:t>-Viscosity of oil changes with</a:t>
                      </a:r>
                      <a:endParaRPr lang="en-US" sz="1600" dirty="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dirty="0">
                          <a:solidFill>
                            <a:srgbClr val="000000"/>
                          </a:solidFill>
                          <a:latin typeface="Calibri"/>
                          <a:ea typeface="Times New Roman" panose="02020503050405090304"/>
                          <a:cs typeface="Calibri"/>
                        </a:rPr>
                        <a:t>temperature</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2281">
                <a:tc>
                  <a:txBody>
                    <a:bodyPr/>
                    <a:lstStyle/>
                    <a:p>
                      <a:pPr marL="50165" marR="0">
                        <a:lnSpc>
                          <a:spcPts val="2005"/>
                        </a:lnSpc>
                        <a:spcBef>
                          <a:spcPts val="0"/>
                        </a:spcBef>
                        <a:spcAft>
                          <a:spcPts val="0"/>
                        </a:spcAft>
                      </a:pPr>
                      <a:r>
                        <a:rPr lang="en-US" sz="1600">
                          <a:solidFill>
                            <a:srgbClr val="000000"/>
                          </a:solidFill>
                          <a:latin typeface="Calibri"/>
                          <a:ea typeface="Times New Roman" panose="02020503050405090304"/>
                          <a:cs typeface="Calibri"/>
                        </a:rPr>
                        <a:t>-Very susceptible to dirt and</a:t>
                      </a:r>
                      <a:endParaRPr lang="en-US" sz="160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a:solidFill>
                            <a:srgbClr val="000000"/>
                          </a:solidFill>
                          <a:latin typeface="Calibri"/>
                          <a:ea typeface="Times New Roman" panose="02020503050405090304"/>
                          <a:cs typeface="Calibri"/>
                        </a:rPr>
                        <a:t>other foreign material in oil</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58680">
                <a:tc>
                  <a:txBody>
                    <a:bodyPr/>
                    <a:lstStyle/>
                    <a:p>
                      <a:pPr marL="50165" marR="0">
                        <a:lnSpc>
                          <a:spcPts val="2030"/>
                        </a:lnSpc>
                        <a:spcBef>
                          <a:spcPts val="0"/>
                        </a:spcBef>
                        <a:spcAft>
                          <a:spcPts val="0"/>
                        </a:spcAft>
                      </a:pPr>
                      <a:r>
                        <a:rPr lang="en-US" sz="1600">
                          <a:solidFill>
                            <a:srgbClr val="000000"/>
                          </a:solidFill>
                          <a:latin typeface="Calibri"/>
                          <a:ea typeface="Times New Roman" panose="02020503050405090304"/>
                          <a:cs typeface="Calibri"/>
                        </a:rPr>
                        <a:t>-Low compliance</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2281">
                <a:tc>
                  <a:txBody>
                    <a:bodyPr/>
                    <a:lstStyle/>
                    <a:p>
                      <a:pPr marL="50165" marR="0">
                        <a:lnSpc>
                          <a:spcPts val="2015"/>
                        </a:lnSpc>
                        <a:spcBef>
                          <a:spcPts val="0"/>
                        </a:spcBef>
                        <a:spcAft>
                          <a:spcPts val="0"/>
                        </a:spcAft>
                      </a:pPr>
                      <a:r>
                        <a:rPr lang="en-US" sz="1600" dirty="0">
                          <a:solidFill>
                            <a:srgbClr val="000000"/>
                          </a:solidFill>
                          <a:latin typeface="Calibri"/>
                          <a:ea typeface="Times New Roman" panose="02020503050405090304"/>
                          <a:cs typeface="Calibri"/>
                        </a:rPr>
                        <a:t>-High torque, High pressure,</a:t>
                      </a:r>
                      <a:endParaRPr lang="en-US" sz="1600" dirty="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dirty="0">
                          <a:solidFill>
                            <a:srgbClr val="000000"/>
                          </a:solidFill>
                          <a:latin typeface="Calibri"/>
                          <a:ea typeface="Times New Roman" panose="02020503050405090304"/>
                          <a:cs typeface="Calibri"/>
                        </a:rPr>
                        <a:t>large inertia on the actuator.</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5" name="Table 4"/>
          <p:cNvGraphicFramePr>
            <a:graphicFrameLocks noGrp="1"/>
          </p:cNvGraphicFramePr>
          <p:nvPr/>
        </p:nvGraphicFramePr>
        <p:xfrm>
          <a:off x="3200400" y="1600200"/>
          <a:ext cx="2857500" cy="4813299"/>
        </p:xfrm>
        <a:graphic>
          <a:graphicData uri="http://schemas.openxmlformats.org/drawingml/2006/table">
            <a:tbl>
              <a:tblPr/>
              <a:tblGrid>
                <a:gridCol w="2857500"/>
              </a:tblGrid>
              <a:tr h="266827">
                <a:tc>
                  <a:txBody>
                    <a:bodyPr/>
                    <a:lstStyle/>
                    <a:p>
                      <a:pPr marL="1035685" marR="0">
                        <a:lnSpc>
                          <a:spcPts val="2025"/>
                        </a:lnSpc>
                        <a:spcBef>
                          <a:spcPts val="0"/>
                        </a:spcBef>
                        <a:spcAft>
                          <a:spcPts val="0"/>
                        </a:spcAft>
                      </a:pPr>
                      <a:r>
                        <a:rPr lang="en-US" sz="1600" b="1" dirty="0">
                          <a:solidFill>
                            <a:srgbClr val="000000"/>
                          </a:solidFill>
                          <a:latin typeface="Calibri"/>
                          <a:ea typeface="Times New Roman" panose="02020503050405090304"/>
                          <a:cs typeface="Calibri"/>
                        </a:rPr>
                        <a:t>Electric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746813">
                <a:tc>
                  <a:txBody>
                    <a:bodyPr/>
                    <a:lstStyle/>
                    <a:p>
                      <a:pPr marL="48260" marR="0">
                        <a:lnSpc>
                          <a:spcPts val="2015"/>
                        </a:lnSpc>
                        <a:spcBef>
                          <a:spcPts val="0"/>
                        </a:spcBef>
                        <a:spcAft>
                          <a:spcPts val="0"/>
                        </a:spcAft>
                      </a:pPr>
                      <a:r>
                        <a:rPr lang="en-US" sz="1600">
                          <a:solidFill>
                            <a:srgbClr val="000000"/>
                          </a:solidFill>
                          <a:latin typeface="Calibri"/>
                          <a:ea typeface="Times New Roman" panose="02020503050405090304"/>
                          <a:cs typeface="Calibri"/>
                        </a:rPr>
                        <a:t>+Can be spark-free. Good for</a:t>
                      </a:r>
                      <a:endParaRPr lang="en-US" sz="1600">
                        <a:latin typeface="Calibri"/>
                        <a:ea typeface="Times New Roman" panose="02020503050405090304"/>
                        <a:cs typeface="Times New Roman" panose="02020503050405090304"/>
                      </a:endParaRPr>
                    </a:p>
                    <a:p>
                      <a:pPr marL="48260" marR="0">
                        <a:lnSpc>
                          <a:spcPts val="2325"/>
                        </a:lnSpc>
                        <a:spcBef>
                          <a:spcPts val="0"/>
                        </a:spcBef>
                        <a:spcAft>
                          <a:spcPts val="0"/>
                        </a:spcAft>
                      </a:pPr>
                      <a:r>
                        <a:rPr lang="en-US" sz="1600">
                          <a:solidFill>
                            <a:srgbClr val="000000"/>
                          </a:solidFill>
                          <a:latin typeface="Calibri"/>
                          <a:ea typeface="Times New Roman" panose="02020503050405090304"/>
                          <a:cs typeface="Calibri"/>
                        </a:rPr>
                        <a:t>explosive environment.</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1592">
                <a:tc>
                  <a:txBody>
                    <a:bodyPr/>
                    <a:lstStyle/>
                    <a:p>
                      <a:pPr marL="48260" marR="0">
                        <a:lnSpc>
                          <a:spcPts val="2005"/>
                        </a:lnSpc>
                        <a:spcBef>
                          <a:spcPts val="0"/>
                        </a:spcBef>
                        <a:spcAft>
                          <a:spcPts val="0"/>
                        </a:spcAft>
                      </a:pPr>
                      <a:r>
                        <a:rPr lang="en-US" sz="1600">
                          <a:solidFill>
                            <a:srgbClr val="000000"/>
                          </a:solidFill>
                          <a:latin typeface="Calibri"/>
                          <a:ea typeface="Times New Roman" panose="02020503050405090304"/>
                          <a:cs typeface="Calibri"/>
                        </a:rPr>
                        <a:t>-Low stiffness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068183">
                <a:tc>
                  <a:txBody>
                    <a:bodyPr/>
                    <a:lstStyle/>
                    <a:p>
                      <a:pPr marL="48260" marR="0">
                        <a:lnSpc>
                          <a:spcPts val="2030"/>
                        </a:lnSpc>
                        <a:spcBef>
                          <a:spcPts val="0"/>
                        </a:spcBef>
                        <a:spcAft>
                          <a:spcPts val="0"/>
                        </a:spcAft>
                      </a:pPr>
                      <a:r>
                        <a:rPr lang="en-US" sz="1600" dirty="0">
                          <a:solidFill>
                            <a:srgbClr val="000000"/>
                          </a:solidFill>
                          <a:latin typeface="Calibri"/>
                          <a:ea typeface="Times New Roman" panose="02020503050405090304"/>
                          <a:cs typeface="Calibri"/>
                        </a:rPr>
                        <a:t>-Needs reduction gears,</a:t>
                      </a:r>
                      <a:endParaRPr lang="en-US" sz="1600" dirty="0">
                        <a:latin typeface="Calibri"/>
                        <a:ea typeface="Times New Roman" panose="02020503050405090304"/>
                        <a:cs typeface="Times New Roman" panose="02020503050405090304"/>
                      </a:endParaRPr>
                    </a:p>
                    <a:p>
                      <a:pPr marL="48260" marR="0">
                        <a:lnSpc>
                          <a:spcPts val="2325"/>
                        </a:lnSpc>
                        <a:spcBef>
                          <a:spcPts val="0"/>
                        </a:spcBef>
                        <a:spcAft>
                          <a:spcPts val="0"/>
                        </a:spcAft>
                      </a:pPr>
                      <a:r>
                        <a:rPr lang="en-US" sz="1600" dirty="0">
                          <a:solidFill>
                            <a:srgbClr val="000000"/>
                          </a:solidFill>
                          <a:latin typeface="Calibri"/>
                          <a:ea typeface="Times New Roman" panose="02020503050405090304"/>
                          <a:cs typeface="Calibri"/>
                        </a:rPr>
                        <a:t>increased backlash, cost,</a:t>
                      </a:r>
                      <a:endParaRPr lang="en-US" sz="1600" dirty="0">
                        <a:latin typeface="Calibri"/>
                        <a:ea typeface="Times New Roman" panose="02020503050405090304"/>
                        <a:cs typeface="Times New Roman" panose="02020503050405090304"/>
                      </a:endParaRPr>
                    </a:p>
                    <a:p>
                      <a:pPr marL="48260" marR="0">
                        <a:lnSpc>
                          <a:spcPts val="2325"/>
                        </a:lnSpc>
                        <a:spcBef>
                          <a:spcPts val="0"/>
                        </a:spcBef>
                        <a:spcAft>
                          <a:spcPts val="0"/>
                        </a:spcAft>
                      </a:pPr>
                      <a:r>
                        <a:rPr lang="en-US" sz="1600" dirty="0">
                          <a:solidFill>
                            <a:srgbClr val="000000"/>
                          </a:solidFill>
                          <a:latin typeface="Calibri"/>
                          <a:ea typeface="Times New Roman" panose="02020503050405090304"/>
                          <a:cs typeface="Calibri"/>
                        </a:rPr>
                        <a:t>weight, etc.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1315390">
                <a:tc>
                  <a:txBody>
                    <a:bodyPr/>
                    <a:lstStyle/>
                    <a:p>
                      <a:pPr marL="48260" marR="0">
                        <a:lnSpc>
                          <a:spcPts val="2030"/>
                        </a:lnSpc>
                        <a:spcBef>
                          <a:spcPts val="0"/>
                        </a:spcBef>
                        <a:spcAft>
                          <a:spcPts val="0"/>
                        </a:spcAft>
                      </a:pPr>
                      <a:r>
                        <a:rPr lang="en-US" sz="1600" dirty="0">
                          <a:solidFill>
                            <a:srgbClr val="000000"/>
                          </a:solidFill>
                          <a:latin typeface="Calibri"/>
                          <a:ea typeface="Times New Roman" panose="02020503050405090304"/>
                          <a:cs typeface="Calibri"/>
                        </a:rPr>
                        <a:t>-Motor needs braking device</a:t>
                      </a:r>
                      <a:endParaRPr lang="en-US" sz="1600" dirty="0">
                        <a:latin typeface="Calibri"/>
                        <a:ea typeface="Times New Roman" panose="02020503050405090304"/>
                        <a:cs typeface="Times New Roman" panose="02020503050405090304"/>
                      </a:endParaRPr>
                    </a:p>
                    <a:p>
                      <a:pPr marL="48260" marR="0">
                        <a:lnSpc>
                          <a:spcPts val="2325"/>
                        </a:lnSpc>
                        <a:spcBef>
                          <a:spcPts val="0"/>
                        </a:spcBef>
                        <a:spcAft>
                          <a:spcPts val="0"/>
                        </a:spcAft>
                      </a:pPr>
                      <a:r>
                        <a:rPr lang="en-US" sz="1600" dirty="0">
                          <a:solidFill>
                            <a:srgbClr val="000000"/>
                          </a:solidFill>
                          <a:latin typeface="Calibri"/>
                          <a:ea typeface="Times New Roman" panose="02020503050405090304"/>
                          <a:cs typeface="Calibri"/>
                        </a:rPr>
                        <a:t>when not powered.</a:t>
                      </a:r>
                      <a:endParaRPr lang="en-US" sz="1600" dirty="0">
                        <a:latin typeface="Calibri"/>
                        <a:ea typeface="Times New Roman" panose="02020503050405090304"/>
                        <a:cs typeface="Times New Roman" panose="02020503050405090304"/>
                      </a:endParaRPr>
                    </a:p>
                    <a:p>
                      <a:pPr marL="48260" marR="0">
                        <a:lnSpc>
                          <a:spcPts val="2325"/>
                        </a:lnSpc>
                        <a:spcBef>
                          <a:spcPts val="0"/>
                        </a:spcBef>
                        <a:spcAft>
                          <a:spcPts val="0"/>
                        </a:spcAft>
                      </a:pPr>
                      <a:r>
                        <a:rPr lang="en-US" sz="1600" dirty="0">
                          <a:solidFill>
                            <a:srgbClr val="000000"/>
                          </a:solidFill>
                          <a:latin typeface="Calibri"/>
                          <a:ea typeface="Times New Roman" panose="02020503050405090304"/>
                          <a:cs typeface="Calibri"/>
                        </a:rPr>
                        <a:t>Otherwise, the arm will fail.</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11592">
                <a:tc>
                  <a:txBody>
                    <a:bodyPr/>
                    <a:lstStyle/>
                    <a:p>
                      <a:pPr marL="48260" marR="0">
                        <a:lnSpc>
                          <a:spcPts val="2005"/>
                        </a:lnSpc>
                        <a:spcBef>
                          <a:spcPts val="0"/>
                        </a:spcBef>
                        <a:spcAft>
                          <a:spcPts val="0"/>
                        </a:spcAft>
                      </a:pPr>
                      <a:r>
                        <a:rPr lang="en-US" sz="1600">
                          <a:solidFill>
                            <a:srgbClr val="000000"/>
                          </a:solidFill>
                          <a:latin typeface="Calibri"/>
                          <a:ea typeface="Times New Roman" panose="02020503050405090304"/>
                          <a:cs typeface="Calibri"/>
                        </a:rPr>
                        <a:t>-</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96501">
                <a:tc>
                  <a:txBody>
                    <a:bodyPr/>
                    <a:lstStyle/>
                    <a:p>
                      <a:pPr marL="48260" marR="0">
                        <a:lnSpc>
                          <a:spcPts val="2030"/>
                        </a:lnSpc>
                        <a:spcBef>
                          <a:spcPts val="0"/>
                        </a:spcBef>
                        <a:spcAft>
                          <a:spcPts val="0"/>
                        </a:spcAft>
                      </a:pPr>
                      <a:r>
                        <a:rPr lang="en-US" sz="1600" dirty="0">
                          <a:solidFill>
                            <a:srgbClr val="000000"/>
                          </a:solidFill>
                          <a:latin typeface="Calibri"/>
                          <a:ea typeface="Times New Roman" panose="02020503050405090304"/>
                          <a:cs typeface="Calibri"/>
                        </a:rPr>
                        <a:t>-</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96401">
                <a:tc>
                  <a:txBody>
                    <a:bodyPr/>
                    <a:lstStyle/>
                    <a:p>
                      <a:pPr marL="48260" marR="0">
                        <a:lnSpc>
                          <a:spcPts val="2015"/>
                        </a:lnSpc>
                        <a:spcBef>
                          <a:spcPts val="0"/>
                        </a:spcBef>
                        <a:spcAft>
                          <a:spcPts val="0"/>
                        </a:spcAft>
                      </a:pPr>
                      <a:r>
                        <a:rPr lang="en-US" sz="1600" dirty="0">
                          <a:solidFill>
                            <a:srgbClr val="000000"/>
                          </a:solidFill>
                          <a:latin typeface="Calibri"/>
                          <a:ea typeface="Times New Roman" panose="02020503050405090304"/>
                          <a:cs typeface="Calibri"/>
                        </a:rPr>
                        <a:t>-</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graphicFrame>
        <p:nvGraphicFramePr>
          <p:cNvPr id="6" name="Table 5"/>
          <p:cNvGraphicFramePr>
            <a:graphicFrameLocks noGrp="1"/>
          </p:cNvGraphicFramePr>
          <p:nvPr/>
        </p:nvGraphicFramePr>
        <p:xfrm>
          <a:off x="6121400" y="1600200"/>
          <a:ext cx="2755900" cy="4851401"/>
        </p:xfrm>
        <a:graphic>
          <a:graphicData uri="http://schemas.openxmlformats.org/drawingml/2006/table">
            <a:tbl>
              <a:tblPr/>
              <a:tblGrid>
                <a:gridCol w="2755900"/>
              </a:tblGrid>
              <a:tr h="306944">
                <a:tc>
                  <a:txBody>
                    <a:bodyPr/>
                    <a:lstStyle/>
                    <a:p>
                      <a:pPr marL="888365" marR="0">
                        <a:lnSpc>
                          <a:spcPts val="2025"/>
                        </a:lnSpc>
                        <a:spcBef>
                          <a:spcPts val="0"/>
                        </a:spcBef>
                        <a:spcAft>
                          <a:spcPts val="0"/>
                        </a:spcAft>
                      </a:pPr>
                      <a:r>
                        <a:rPr lang="en-US" sz="1600" b="1" dirty="0">
                          <a:solidFill>
                            <a:srgbClr val="000000"/>
                          </a:solidFill>
                          <a:latin typeface="Calibri"/>
                          <a:ea typeface="Times New Roman" panose="02020503050405090304"/>
                          <a:cs typeface="Calibri"/>
                        </a:rPr>
                        <a:t>Pneumatic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8486">
                <a:tc>
                  <a:txBody>
                    <a:bodyPr/>
                    <a:lstStyle/>
                    <a:p>
                      <a:pPr marL="50165" marR="0">
                        <a:lnSpc>
                          <a:spcPts val="2015"/>
                        </a:lnSpc>
                        <a:spcBef>
                          <a:spcPts val="0"/>
                        </a:spcBef>
                        <a:spcAft>
                          <a:spcPts val="0"/>
                        </a:spcAft>
                      </a:pPr>
                      <a:r>
                        <a:rPr lang="en-US" sz="1600">
                          <a:solidFill>
                            <a:srgbClr val="000000"/>
                          </a:solidFill>
                          <a:latin typeface="Calibri"/>
                          <a:ea typeface="Times New Roman" panose="02020503050405090304"/>
                          <a:cs typeface="Calibri"/>
                        </a:rPr>
                        <a:t>+Complaint systems.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576841">
                <a:tc>
                  <a:txBody>
                    <a:bodyPr/>
                    <a:lstStyle/>
                    <a:p>
                      <a:pPr marL="50165" marR="0">
                        <a:lnSpc>
                          <a:spcPts val="2005"/>
                        </a:lnSpc>
                        <a:spcBef>
                          <a:spcPts val="0"/>
                        </a:spcBef>
                        <a:spcAft>
                          <a:spcPts val="0"/>
                        </a:spcAft>
                      </a:pPr>
                      <a:r>
                        <a:rPr lang="en-US" sz="1600">
                          <a:solidFill>
                            <a:srgbClr val="000000"/>
                          </a:solidFill>
                          <a:latin typeface="Calibri"/>
                          <a:ea typeface="Times New Roman" panose="02020503050405090304"/>
                          <a:cs typeface="Calibri"/>
                        </a:rPr>
                        <a:t>-Noisy systems.</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66633">
                <a:tc>
                  <a:txBody>
                    <a:bodyPr/>
                    <a:lstStyle/>
                    <a:p>
                      <a:pPr marL="50165" marR="0">
                        <a:lnSpc>
                          <a:spcPts val="2030"/>
                        </a:lnSpc>
                        <a:spcBef>
                          <a:spcPts val="0"/>
                        </a:spcBef>
                        <a:spcAft>
                          <a:spcPts val="0"/>
                        </a:spcAft>
                      </a:pPr>
                      <a:r>
                        <a:rPr lang="en-US" sz="1600" dirty="0">
                          <a:solidFill>
                            <a:srgbClr val="000000"/>
                          </a:solidFill>
                          <a:latin typeface="Calibri"/>
                          <a:ea typeface="Times New Roman" panose="02020503050405090304"/>
                          <a:cs typeface="Calibri"/>
                        </a:rPr>
                        <a:t>- Require air pressure, filter,</a:t>
                      </a:r>
                      <a:endParaRPr lang="en-US" sz="1600" dirty="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dirty="0">
                          <a:solidFill>
                            <a:srgbClr val="000000"/>
                          </a:solidFill>
                          <a:latin typeface="Calibri"/>
                          <a:ea typeface="Times New Roman" panose="02020503050405090304"/>
                          <a:cs typeface="Calibri"/>
                        </a:rPr>
                        <a:t>etc.</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866633">
                <a:tc>
                  <a:txBody>
                    <a:bodyPr/>
                    <a:lstStyle/>
                    <a:p>
                      <a:pPr marL="50165" marR="0">
                        <a:lnSpc>
                          <a:spcPts val="2030"/>
                        </a:lnSpc>
                        <a:spcBef>
                          <a:spcPts val="0"/>
                        </a:spcBef>
                        <a:spcAft>
                          <a:spcPts val="0"/>
                        </a:spcAft>
                      </a:pPr>
                      <a:r>
                        <a:rPr lang="en-US" sz="1600" dirty="0">
                          <a:solidFill>
                            <a:srgbClr val="000000"/>
                          </a:solidFill>
                          <a:latin typeface="Calibri"/>
                          <a:ea typeface="Times New Roman" panose="02020503050405090304"/>
                          <a:cs typeface="Calibri"/>
                        </a:rPr>
                        <a:t>-Difficult to control their</a:t>
                      </a:r>
                      <a:endParaRPr lang="en-US" sz="1600" dirty="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dirty="0">
                          <a:solidFill>
                            <a:srgbClr val="000000"/>
                          </a:solidFill>
                          <a:latin typeface="Calibri"/>
                          <a:ea typeface="Times New Roman" panose="02020503050405090304"/>
                          <a:cs typeface="Calibri"/>
                        </a:rPr>
                        <a:t>linear position</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59930">
                <a:tc>
                  <a:txBody>
                    <a:bodyPr/>
                    <a:lstStyle/>
                    <a:p>
                      <a:pPr marL="50165" marR="0">
                        <a:lnSpc>
                          <a:spcPts val="2005"/>
                        </a:lnSpc>
                        <a:spcBef>
                          <a:spcPts val="0"/>
                        </a:spcBef>
                        <a:spcAft>
                          <a:spcPts val="0"/>
                        </a:spcAft>
                      </a:pPr>
                      <a:r>
                        <a:rPr lang="en-US" sz="1600">
                          <a:solidFill>
                            <a:srgbClr val="000000"/>
                          </a:solidFill>
                          <a:latin typeface="Calibri"/>
                          <a:ea typeface="Times New Roman" panose="02020503050405090304"/>
                          <a:cs typeface="Calibri"/>
                        </a:rPr>
                        <a:t>-Deform under load</a:t>
                      </a:r>
                      <a:endParaRPr lang="en-US" sz="160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a:solidFill>
                            <a:srgbClr val="000000"/>
                          </a:solidFill>
                          <a:latin typeface="Calibri"/>
                          <a:ea typeface="Times New Roman" panose="02020503050405090304"/>
                          <a:cs typeface="Calibri"/>
                        </a:rPr>
                        <a:t>constantly</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659930">
                <a:tc>
                  <a:txBody>
                    <a:bodyPr/>
                    <a:lstStyle/>
                    <a:p>
                      <a:pPr marL="50165" marR="0">
                        <a:lnSpc>
                          <a:spcPts val="2030"/>
                        </a:lnSpc>
                        <a:spcBef>
                          <a:spcPts val="0"/>
                        </a:spcBef>
                        <a:spcAft>
                          <a:spcPts val="0"/>
                        </a:spcAft>
                      </a:pPr>
                      <a:r>
                        <a:rPr lang="en-US" sz="1600">
                          <a:solidFill>
                            <a:srgbClr val="000000"/>
                          </a:solidFill>
                          <a:latin typeface="Calibri"/>
                          <a:ea typeface="Times New Roman" panose="02020503050405090304"/>
                          <a:cs typeface="Calibri"/>
                        </a:rPr>
                        <a:t>-Very low stiffness. Inaccurate</a:t>
                      </a:r>
                      <a:endParaRPr lang="en-US" sz="1600">
                        <a:latin typeface="Calibri"/>
                        <a:ea typeface="Times New Roman" panose="02020503050405090304"/>
                        <a:cs typeface="Times New Roman" panose="02020503050405090304"/>
                      </a:endParaRPr>
                    </a:p>
                    <a:p>
                      <a:pPr marL="50165" marR="0">
                        <a:lnSpc>
                          <a:spcPts val="2325"/>
                        </a:lnSpc>
                        <a:spcBef>
                          <a:spcPts val="0"/>
                        </a:spcBef>
                        <a:spcAft>
                          <a:spcPts val="0"/>
                        </a:spcAft>
                      </a:pPr>
                      <a:r>
                        <a:rPr lang="en-US" sz="1600">
                          <a:solidFill>
                            <a:srgbClr val="000000"/>
                          </a:solidFill>
                          <a:latin typeface="Calibri"/>
                          <a:ea typeface="Times New Roman" panose="02020503050405090304"/>
                          <a:cs typeface="Calibri"/>
                        </a:rPr>
                        <a:t>response.</a:t>
                      </a:r>
                      <a:endParaRPr lang="en-US" sz="160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r h="336004">
                <a:tc>
                  <a:txBody>
                    <a:bodyPr/>
                    <a:lstStyle/>
                    <a:p>
                      <a:pPr marL="50165" marR="0">
                        <a:lnSpc>
                          <a:spcPts val="2015"/>
                        </a:lnSpc>
                        <a:spcBef>
                          <a:spcPts val="0"/>
                        </a:spcBef>
                        <a:spcAft>
                          <a:spcPts val="0"/>
                        </a:spcAft>
                      </a:pPr>
                      <a:r>
                        <a:rPr lang="en-US" sz="1600" dirty="0">
                          <a:solidFill>
                            <a:srgbClr val="000000"/>
                          </a:solidFill>
                          <a:latin typeface="Calibri"/>
                          <a:ea typeface="Times New Roman" panose="02020503050405090304"/>
                          <a:cs typeface="Calibri"/>
                        </a:rPr>
                        <a:t>-Lowest power to weight ratio</a:t>
                      </a:r>
                      <a:endParaRPr lang="en-US" sz="1600" dirty="0">
                        <a:latin typeface="Calibri"/>
                        <a:ea typeface="Times New Roman" panose="02020503050405090304"/>
                        <a:cs typeface="Times New Roman" panose="02020503050405090304"/>
                      </a:endParaRPr>
                    </a:p>
                  </a:txBody>
                  <a:tcPr marL="0" marR="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r>
            </a:tbl>
          </a:graphicData>
        </a:graphic>
      </p:graphicFrame>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7227</Words>
  <Application>WPS Presentation</Application>
  <PresentationFormat>On-screen Show (4:3)</PresentationFormat>
  <Paragraphs>292</Paragraphs>
  <Slides>16</Slides>
  <Notes>0</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16</vt:i4>
      </vt:variant>
    </vt:vector>
  </HeadingPairs>
  <TitlesOfParts>
    <vt:vector size="31" baseType="lpstr">
      <vt:lpstr>Arial</vt:lpstr>
      <vt:lpstr>SimSun</vt:lpstr>
      <vt:lpstr>Wingdings</vt:lpstr>
      <vt:lpstr>Times New Roman</vt:lpstr>
      <vt:lpstr>Calibri</vt:lpstr>
      <vt:lpstr>Helvetica Neue</vt:lpstr>
      <vt:lpstr>Times New Roman</vt:lpstr>
      <vt:lpstr>Calibri Light</vt:lpstr>
      <vt:lpstr>Microsoft YaHei</vt:lpstr>
      <vt:lpstr>汉仪旗黑</vt:lpstr>
      <vt:lpstr>Arial Unicode MS</vt:lpstr>
      <vt:lpstr>Times New Roman Bold</vt:lpstr>
      <vt:lpstr>宋体-简</vt:lpstr>
      <vt:lpstr>Calibri</vt:lpstr>
      <vt:lpstr>Office Theme</vt:lpstr>
      <vt:lpstr>Actuator </vt:lpstr>
      <vt:lpstr>PowerPoint 演示文稿</vt:lpstr>
      <vt:lpstr>ACTUATORS</vt:lpstr>
      <vt:lpstr>Actuator system</vt:lpstr>
      <vt:lpstr>ISSUES/CHARACTERISTICS  OF AN ACTUATOR </vt:lpstr>
      <vt:lpstr>TYPES OF ACTUATORS</vt:lpstr>
      <vt:lpstr>Pneumatic and Hydraulic Actuators</vt:lpstr>
      <vt:lpstr>Pneumatic and Hydraulic Actuators</vt:lpstr>
      <vt:lpstr>Pneumatic and Hydraulic Actuators</vt:lpstr>
      <vt:lpstr>Pneumatic and Hydraulic Actuators</vt:lpstr>
      <vt:lpstr>Pneumatic and Hydraulic Actuators</vt:lpstr>
      <vt:lpstr>Pneumatic and Hydraulic Actuators</vt:lpstr>
      <vt:lpstr>Advantages and limitations of  Pneumatic actuators</vt:lpstr>
      <vt:lpstr>Advantages and limitations of  Hydraulic actuators</vt:lpstr>
      <vt:lpstr>Comparison of actuating systems</vt:lpstr>
      <vt:lpstr>Comparison of actuating systems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NARENDRA</dc:creator>
  <cp:lastModifiedBy>Vraj Suratwala</cp:lastModifiedBy>
  <cp:revision>89</cp:revision>
  <dcterms:created xsi:type="dcterms:W3CDTF">2026-09-05T08:53:29Z</dcterms:created>
  <dcterms:modified xsi:type="dcterms:W3CDTF">2026-09-05T08:53:29Z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7424A1E7E127F0DE9FD2976A0BD00EB8_42</vt:lpwstr>
  </property>
  <property fmtid="{D5CDD505-2E9C-101B-9397-08002B2CF9AE}" pid="3" name="KSOProductBuildVer">
    <vt:lpwstr>1033-12.1.26015.26015</vt:lpwstr>
  </property>
</Properties>
</file>