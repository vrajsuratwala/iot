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0.xml"/><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5.xml"/><Relationship Id="rId3" Type="http://schemas.openxmlformats.org/officeDocument/2006/relationships/image" Target="../media/image4.png"/><Relationship Id="rId2" Type="http://schemas.openxmlformats.org/officeDocument/2006/relationships/tags" Target="../tags/tag114.xml"/><Relationship Id="rId1" Type="http://schemas.openxmlformats.org/officeDocument/2006/relationships/tags" Target="../tags/tag113.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US"/>
              <a:t>MQTT Protocol</a:t>
            </a:r>
            <a:endParaRPr lang="en-US"/>
          </a:p>
        </p:txBody>
      </p:sp>
      <p:sp>
        <p:nvSpPr>
          <p:cNvPr id="3" name="Subtitle 2"/>
          <p:cNvSpPr>
            <a:spLocks noGrp="1"/>
          </p:cNvSpPr>
          <p:nvPr>
            <p:ph type="subTitle" idx="1"/>
            <p:custDataLst>
              <p:tags r:id="rId2"/>
            </p:custDataLst>
          </p:nvPr>
        </p:nvSpPr>
        <p:spPr/>
        <p:txBody>
          <a:bodyPr/>
          <a:p>
            <a:r>
              <a:rPr lang="en-US"/>
              <a:t>Vraj Suratwala</a:t>
            </a:r>
            <a:endParaRPr lang="en-US"/>
          </a:p>
          <a:p>
            <a:r>
              <a:rPr lang="en-US"/>
              <a:t>Department of ICT, VNSGU</a:t>
            </a:r>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en-US"/>
              <a:t>Introduction</a:t>
            </a:r>
            <a:endParaRPr lang="en-US"/>
          </a:p>
        </p:txBody>
      </p:sp>
      <p:sp>
        <p:nvSpPr>
          <p:cNvPr id="3" name="Content Placeholder 2"/>
          <p:cNvSpPr>
            <a:spLocks noGrp="1"/>
          </p:cNvSpPr>
          <p:nvPr>
            <p:ph idx="1"/>
            <p:custDataLst>
              <p:tags r:id="rId2"/>
            </p:custDataLst>
          </p:nvPr>
        </p:nvSpPr>
        <p:spPr/>
        <p:txBody>
          <a:bodyPr/>
          <a:p>
            <a:r>
              <a:rPr lang="en-US" altLang="en-US"/>
              <a:t>MQTT (Message Queuing Telemetry Transport) is a lightweight, publish-subscribe messaging protocol designed mainly for IoT and machine-to-machine (M2M) communication.</a:t>
            </a:r>
            <a:endParaRPr lang="en-US" altLang="en-US"/>
          </a:p>
          <a:p>
            <a:r>
              <a:rPr lang="en-US" altLang="en-US"/>
              <a:t>It is especially useful for devices with limited processing power, memory, and bandwidth, and for networks where connectivity may be slow or unreliable.</a:t>
            </a:r>
            <a:endParaRPr lang="en-US" altLang="en-US"/>
          </a:p>
          <a:p>
            <a:r>
              <a:rPr lang="en-US" altLang="en-US"/>
              <a:t>MQTT works on top of TCP/IP and follows a client-server architecture using a central component called a Broker.</a:t>
            </a:r>
            <a:endParaRPr lang="en-US" alt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Working Diagram</a:t>
            </a:r>
            <a:endParaRPr lang="en-US"/>
          </a:p>
        </p:txBody>
      </p:sp>
      <p:pic>
        <p:nvPicPr>
          <p:cNvPr id="4" name="Picture 3"/>
          <p:cNvPicPr/>
          <p:nvPr/>
        </p:nvPicPr>
        <p:blipFill>
          <a:blip r:embed="rId2">
            <a:extLst>
              <a:ext uri="{96DAC541-7B7A-43D3-8B79-37D633B846F1}">
                <asvg:svgBlip xmlns:asvg="http://schemas.microsoft.com/office/drawing/2016/SVG/main" r:embed="rId3"/>
              </a:ext>
            </a:extLst>
          </a:blip>
          <a:stretch>
            <a:fillRect/>
          </a:stretch>
        </p:blipFill>
        <p:spPr>
          <a:xfrm>
            <a:off x="5905500" y="3048000"/>
            <a:ext cx="381000" cy="381000"/>
          </a:xfrm>
          <a:prstGeom prst="rect">
            <a:avLst/>
          </a:prstGeom>
        </p:spPr>
      </p:pic>
      <p:pic>
        <p:nvPicPr>
          <p:cNvPr id="5" name="Picture 4"/>
          <p:cNvPicPr/>
          <p:nvPr/>
        </p:nvPicPr>
        <p:blipFill>
          <a:blip r:embed="rId4"/>
          <a:stretch>
            <a:fillRect/>
          </a:stretch>
        </p:blipFill>
        <p:spPr>
          <a:xfrm>
            <a:off x="2087880" y="1605280"/>
            <a:ext cx="6439535" cy="4387215"/>
          </a:xfrm>
          <a:prstGeom prst="rect">
            <a:avLst/>
          </a:prstGeom>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sym typeface="+mn-ea"/>
              </a:rPr>
              <a:t>MQTT Architecture</a:t>
            </a:r>
            <a:endParaRPr lang="en-US"/>
          </a:p>
        </p:txBody>
      </p:sp>
      <p:sp>
        <p:nvSpPr>
          <p:cNvPr id="3" name="Content Placeholder 2"/>
          <p:cNvSpPr>
            <a:spLocks noGrp="1"/>
          </p:cNvSpPr>
          <p:nvPr>
            <p:ph idx="1"/>
            <p:custDataLst>
              <p:tags r:id="rId2"/>
            </p:custDataLst>
          </p:nvPr>
        </p:nvSpPr>
        <p:spPr>
          <a:xfrm>
            <a:off x="608330" y="1313180"/>
            <a:ext cx="10968990" cy="4936490"/>
          </a:xfrm>
        </p:spPr>
        <p:txBody>
          <a:bodyPr>
            <a:noAutofit/>
          </a:bodyPr>
          <a:p>
            <a:r>
              <a:rPr lang="en-US" altLang="en-US" sz="1200"/>
              <a:t>The main components of MQTT are:</a:t>
            </a:r>
            <a:endParaRPr lang="en-US" altLang="en-US" sz="1200"/>
          </a:p>
          <a:p>
            <a:r>
              <a:rPr lang="en-US" altLang="en-US" sz="1200"/>
              <a:t>Publisher → MQTT Broker → Subscriber</a:t>
            </a:r>
            <a:endParaRPr lang="en-US" altLang="en-US" sz="1200"/>
          </a:p>
          <a:p>
            <a:r>
              <a:rPr lang="en-US" altLang="en-US" sz="1200"/>
              <a:t>1. Publisher</a:t>
            </a:r>
            <a:endParaRPr lang="en-US" altLang="en-US" sz="1200"/>
          </a:p>
          <a:p>
            <a:pPr lvl="1"/>
            <a:r>
              <a:rPr lang="en-US" altLang="en-US" sz="1200"/>
              <a:t>A publisher is an IoT device or application that sends messages to the MQTT broker.</a:t>
            </a:r>
            <a:endParaRPr lang="en-US" altLang="en-US" sz="1200"/>
          </a:p>
          <a:p>
            <a:pPr lvl="1"/>
            <a:r>
              <a:rPr lang="en-US" altLang="en-US" sz="1200"/>
              <a:t>Example:</a:t>
            </a:r>
            <a:endParaRPr lang="en-US" altLang="en-US" sz="1200"/>
          </a:p>
          <a:p>
            <a:pPr lvl="2"/>
            <a:r>
              <a:rPr lang="en-US" altLang="en-US" sz="1200"/>
              <a:t>A temperature sensor publishes 30°C.</a:t>
            </a:r>
            <a:endParaRPr lang="en-US" altLang="en-US" sz="1200"/>
          </a:p>
          <a:p>
            <a:r>
              <a:rPr lang="en-US" altLang="en-US" sz="1200"/>
              <a:t>2. MQTT Broker</a:t>
            </a:r>
            <a:endParaRPr lang="en-US" altLang="en-US" sz="1200"/>
          </a:p>
          <a:p>
            <a:pPr lvl="1"/>
            <a:r>
              <a:rPr lang="en-US" altLang="en-US" sz="1200"/>
              <a:t>The broker is the central server that receives messages from publishers and distributes them to the appropriate subscribers.</a:t>
            </a:r>
            <a:endParaRPr lang="en-US" altLang="en-US" sz="1200"/>
          </a:p>
          <a:p>
            <a:pPr lvl="1"/>
            <a:r>
              <a:rPr lang="en-US" altLang="en-US" sz="1200"/>
              <a:t>It is responsible for:</a:t>
            </a:r>
            <a:endParaRPr lang="en-US" altLang="en-US" sz="1200"/>
          </a:p>
          <a:p>
            <a:pPr lvl="2"/>
            <a:r>
              <a:rPr lang="en-US" altLang="en-US" sz="1200"/>
              <a:t>Receiving messages</a:t>
            </a:r>
            <a:endParaRPr lang="en-US" altLang="en-US" sz="1200"/>
          </a:p>
          <a:p>
            <a:pPr lvl="2"/>
            <a:r>
              <a:rPr lang="en-US" altLang="en-US" sz="1200"/>
              <a:t>Managing clients</a:t>
            </a:r>
            <a:endParaRPr lang="en-US" altLang="en-US" sz="1200"/>
          </a:p>
          <a:p>
            <a:pPr lvl="2"/>
            <a:r>
              <a:rPr lang="en-US" altLang="en-US" sz="1200"/>
              <a:t>Filtering messages based on topics</a:t>
            </a:r>
            <a:endParaRPr lang="en-US" altLang="en-US" sz="1200"/>
          </a:p>
          <a:p>
            <a:pPr lvl="2"/>
            <a:r>
              <a:rPr lang="en-US" altLang="en-US" sz="1200"/>
              <a:t>Delivering messages to subscribers</a:t>
            </a:r>
            <a:endParaRPr lang="en-US" altLang="en-US" sz="1200"/>
          </a:p>
          <a:p>
            <a:r>
              <a:rPr lang="en-US" altLang="en-US" sz="1200"/>
              <a:t>3. Subscriber</a:t>
            </a:r>
            <a:endParaRPr lang="en-US" altLang="en-US" sz="1200"/>
          </a:p>
          <a:p>
            <a:pPr lvl="1"/>
            <a:r>
              <a:rPr lang="en-US" altLang="en-US" sz="1200"/>
              <a:t>A subscriber is a device or application that receives messages from the broker.</a:t>
            </a:r>
            <a:endParaRPr lang="en-US" altLang="en-US" sz="1200"/>
          </a:p>
          <a:p>
            <a:pPr lvl="1"/>
            <a:r>
              <a:rPr lang="en-US" altLang="en-US" sz="1200"/>
              <a:t>A subscriber must subscribe to a particular topic to receive messages related to that topic.</a:t>
            </a:r>
            <a:endParaRPr lang="en-US" altLang="en-US" sz="1200"/>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MQTT Topics</a:t>
            </a:r>
            <a:endParaRPr lang="en-US" altLang="en-US"/>
          </a:p>
        </p:txBody>
      </p:sp>
      <p:sp>
        <p:nvSpPr>
          <p:cNvPr id="3" name="Content Placeholder 2"/>
          <p:cNvSpPr>
            <a:spLocks noGrp="1"/>
          </p:cNvSpPr>
          <p:nvPr>
            <p:ph idx="1"/>
            <p:custDataLst>
              <p:tags r:id="rId2"/>
            </p:custDataLst>
          </p:nvPr>
        </p:nvSpPr>
        <p:spPr/>
        <p:txBody>
          <a:bodyPr/>
          <a:p>
            <a:r>
              <a:rPr lang="en-US" altLang="en-US" sz="2400"/>
              <a:t>MQTT uses topics to organize messages.</a:t>
            </a:r>
            <a:endParaRPr lang="en-US" altLang="en-US" sz="2400"/>
          </a:p>
          <a:p>
            <a:r>
              <a:rPr lang="en-US" altLang="en-US" sz="2400"/>
              <a:t>For example:</a:t>
            </a:r>
            <a:endParaRPr lang="en-US" altLang="en-US" sz="2400"/>
          </a:p>
          <a:p>
            <a:pPr lvl="1"/>
            <a:r>
              <a:rPr lang="en-US" altLang="en-US" sz="2000"/>
              <a:t>home/room1/temperature</a:t>
            </a:r>
            <a:endParaRPr lang="en-US" altLang="en-US" sz="2000"/>
          </a:p>
          <a:p>
            <a:pPr lvl="1"/>
            <a:r>
              <a:rPr lang="en-US" altLang="en-US" sz="2000"/>
              <a:t>A temperature sensor can publish data to this topic, while a mobile application can subscribe to the same topic.</a:t>
            </a:r>
            <a:endParaRPr lang="en-US" altLang="en-US" sz="2000"/>
          </a:p>
          <a:p>
            <a:pPr lvl="1"/>
            <a:r>
              <a:rPr lang="en-US" altLang="en-US" sz="2000"/>
              <a:t>The broker then forwards the published message to all clients subscribed to that topic.</a:t>
            </a:r>
            <a:endParaRPr lang="en-US" altLang="en-US" sz="2000"/>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Working of MQTT</a:t>
            </a:r>
            <a:endParaRPr lang="en-US" altLang="en-US"/>
          </a:p>
        </p:txBody>
      </p:sp>
      <p:sp>
        <p:nvSpPr>
          <p:cNvPr id="3" name="Content Placeholder 2"/>
          <p:cNvSpPr>
            <a:spLocks noGrp="1"/>
          </p:cNvSpPr>
          <p:nvPr>
            <p:ph idx="1"/>
            <p:custDataLst>
              <p:tags r:id="rId2"/>
            </p:custDataLst>
          </p:nvPr>
        </p:nvSpPr>
        <p:spPr/>
        <p:txBody>
          <a:bodyPr/>
          <a:p>
            <a:r>
              <a:rPr lang="en-US" altLang="en-US"/>
              <a:t>Step 1: IoT device connects to the MQTT Broker.</a:t>
            </a:r>
            <a:endParaRPr lang="en-US" altLang="en-US"/>
          </a:p>
          <a:p>
            <a:r>
              <a:rPr lang="en-US" altLang="en-US"/>
              <a:t>Step 2: Publisher publishes a message to a specific topic.</a:t>
            </a:r>
            <a:endParaRPr lang="en-US" altLang="en-US"/>
          </a:p>
          <a:p>
            <a:r>
              <a:rPr lang="en-US" altLang="en-US"/>
              <a:t>Step 3: Broker receives the message.</a:t>
            </a:r>
            <a:endParaRPr lang="en-US" altLang="en-US"/>
          </a:p>
          <a:p>
            <a:r>
              <a:rPr lang="en-US" altLang="en-US"/>
              <a:t>Step 4: Broker identifies subscribers interested in that topic.</a:t>
            </a:r>
            <a:endParaRPr lang="en-US" altLang="en-US"/>
          </a:p>
          <a:p>
            <a:r>
              <a:rPr lang="en-US" altLang="en-US"/>
              <a:t>Step 5: Broker forwards the message to those subscribers.</a:t>
            </a:r>
            <a:endParaRPr lang="en-US" altLang="en-US"/>
          </a:p>
        </p:txBody>
      </p:sp>
      <p:sp>
        <p:nvSpPr>
          <p:cNvPr id="4" name="Text Box 3"/>
          <p:cNvSpPr txBox="1"/>
          <p:nvPr/>
        </p:nvSpPr>
        <p:spPr>
          <a:xfrm>
            <a:off x="6283960" y="4281170"/>
            <a:ext cx="5455920" cy="1968500"/>
          </a:xfrm>
          <a:prstGeom prst="rect">
            <a:avLst/>
          </a:prstGeom>
        </p:spPr>
        <p:txBody>
          <a:bodyPr>
            <a:noAutofit/>
          </a:bodyPr>
          <a:p>
            <a:pPr marL="0" indent="0"/>
            <a:r>
              <a:rPr sz="1600" b="0" i="0">
                <a:solidFill>
                  <a:srgbClr val="000000"/>
                </a:solidFill>
              </a:rPr>
              <a:t>Example:</a:t>
            </a:r>
            <a:endParaRPr sz="1600" b="0" i="0">
              <a:solidFill>
                <a:srgbClr val="000000"/>
              </a:solidFill>
            </a:endParaRPr>
          </a:p>
          <a:p>
            <a:pPr marL="457200" lvl="1" indent="0"/>
            <a:r>
              <a:rPr sz="1600" b="0" i="0">
                <a:solidFill>
                  <a:srgbClr val="000000"/>
                </a:solidFill>
              </a:rPr>
              <a:t>Temperature Sensor</a:t>
            </a:r>
            <a:endParaRPr sz="1600" b="0" i="0">
              <a:solidFill>
                <a:srgbClr val="000000"/>
              </a:solidFill>
            </a:endParaRPr>
          </a:p>
          <a:p>
            <a:pPr marL="457200" lvl="1" indent="0"/>
            <a:r>
              <a:rPr sz="1600" b="0" i="0">
                <a:solidFill>
                  <a:srgbClr val="000000"/>
                </a:solidFill>
              </a:rPr>
              <a:t>↓ Publish: 32°C</a:t>
            </a:r>
            <a:endParaRPr sz="1600" b="0" i="0">
              <a:solidFill>
                <a:srgbClr val="000000"/>
              </a:solidFill>
            </a:endParaRPr>
          </a:p>
          <a:p>
            <a:pPr marL="457200" lvl="1" indent="0"/>
            <a:r>
              <a:rPr sz="1600" b="0" i="0">
                <a:solidFill>
                  <a:srgbClr val="000000"/>
                </a:solidFill>
              </a:rPr>
              <a:t>MQTT Broker</a:t>
            </a:r>
            <a:endParaRPr sz="1600" b="0" i="0">
              <a:solidFill>
                <a:srgbClr val="000000"/>
              </a:solidFill>
            </a:endParaRPr>
          </a:p>
          <a:p>
            <a:pPr marL="457200" lvl="1" indent="0"/>
            <a:r>
              <a:rPr sz="1600" b="0" i="0">
                <a:solidFill>
                  <a:srgbClr val="000000"/>
                </a:solidFill>
              </a:rPr>
              <a:t>↓ Topic: home/temperature</a:t>
            </a:r>
            <a:endParaRPr sz="1600" b="0" i="0">
              <a:solidFill>
                <a:srgbClr val="000000"/>
              </a:solidFill>
            </a:endParaRPr>
          </a:p>
          <a:p>
            <a:pPr marL="457200" lvl="1" indent="0"/>
            <a:r>
              <a:rPr sz="1600" b="0" i="0">
                <a:solidFill>
                  <a:srgbClr val="000000"/>
                </a:solidFill>
              </a:rPr>
              <a:t>Mobile App / Cloud Application</a:t>
            </a:r>
            <a:endParaRPr sz="1600" b="0" i="0">
              <a:solidFill>
                <a:srgbClr val="000000"/>
              </a:solidFill>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sym typeface="+mn-ea"/>
              </a:rPr>
              <a:t>Quality of Service (QoS)</a:t>
            </a:r>
            <a:endParaRPr lang="en-US"/>
          </a:p>
        </p:txBody>
      </p:sp>
      <p:sp>
        <p:nvSpPr>
          <p:cNvPr id="3" name="Content Placeholder 2"/>
          <p:cNvSpPr>
            <a:spLocks noGrp="1"/>
          </p:cNvSpPr>
          <p:nvPr>
            <p:ph idx="1"/>
            <p:custDataLst>
              <p:tags r:id="rId2"/>
            </p:custDataLst>
          </p:nvPr>
        </p:nvSpPr>
        <p:spPr/>
        <p:txBody>
          <a:bodyPr/>
          <a:p>
            <a:r>
              <a:rPr lang="en-US" altLang="en-US"/>
              <a:t>MQTT provides three QoS levels to control message delivery reliability:</a:t>
            </a:r>
            <a:endParaRPr lang="en-US" altLang="en-US"/>
          </a:p>
          <a:p>
            <a:r>
              <a:rPr lang="en-US" altLang="en-US" b="1">
                <a:latin typeface="Arial Bold" panose="020B0604020202090204" charset="0"/>
                <a:cs typeface="Arial Bold" panose="020B0604020202090204" charset="0"/>
              </a:rPr>
              <a:t>QoS	Name		Meaning</a:t>
            </a:r>
            <a:endParaRPr lang="en-US" altLang="en-US" b="1">
              <a:latin typeface="Arial Bold" panose="020B0604020202090204" charset="0"/>
              <a:cs typeface="Arial Bold" panose="020B0604020202090204" charset="0"/>
            </a:endParaRPr>
          </a:p>
          <a:p>
            <a:r>
              <a:rPr lang="en-US" altLang="en-US"/>
              <a:t>0	At most once	Message is delivered without confirmation.</a:t>
            </a:r>
            <a:endParaRPr lang="en-US" altLang="en-US"/>
          </a:p>
          <a:p>
            <a:r>
              <a:rPr lang="en-US" altLang="en-US"/>
              <a:t>1	At least once	Message is guaranteed to be delivered, but duplicates may occur.</a:t>
            </a:r>
            <a:endParaRPr lang="en-US" altLang="en-US"/>
          </a:p>
          <a:p>
            <a:r>
              <a:rPr lang="en-US" altLang="en-US"/>
              <a:t>2	Exactly once	Message is delivered exactly once.</a:t>
            </a:r>
            <a:endParaRPr lang="en-US" altLang="en-US"/>
          </a:p>
          <a:p>
            <a:endParaRPr lang="en-US" altLang="en-US"/>
          </a:p>
          <a:p>
            <a:pPr lvl="1"/>
            <a:r>
              <a:rPr lang="en-US" altLang="en-US"/>
              <a:t>QoS 0 → Fastest</a:t>
            </a:r>
            <a:endParaRPr lang="en-US" altLang="en-US"/>
          </a:p>
          <a:p>
            <a:pPr lvl="1"/>
            <a:r>
              <a:rPr lang="en-US" altLang="en-US"/>
              <a:t>QoS 1 → Reliable</a:t>
            </a:r>
            <a:endParaRPr lang="en-US" altLang="en-US"/>
          </a:p>
          <a:p>
            <a:pPr lvl="1"/>
            <a:r>
              <a:rPr lang="en-US" altLang="en-US"/>
              <a:t>QoS 2 → Most reliable but more overhead</a:t>
            </a:r>
            <a:endParaRPr lang="en-US" alt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Advantages</a:t>
            </a:r>
            <a:endParaRPr lang="en-US"/>
          </a:p>
        </p:txBody>
      </p:sp>
      <p:sp>
        <p:nvSpPr>
          <p:cNvPr id="3" name="Content Placeholder 2"/>
          <p:cNvSpPr>
            <a:spLocks noGrp="1"/>
          </p:cNvSpPr>
          <p:nvPr>
            <p:ph idx="1"/>
            <p:custDataLst>
              <p:tags r:id="rId2"/>
            </p:custDataLst>
          </p:nvPr>
        </p:nvSpPr>
        <p:spPr/>
        <p:txBody>
          <a:bodyPr/>
          <a:p>
            <a:r>
              <a:rPr lang="en-US" altLang="en-US"/>
              <a:t>Lightweight and requires low bandwidth.</a:t>
            </a:r>
            <a:endParaRPr lang="en-US" altLang="en-US"/>
          </a:p>
          <a:p>
            <a:r>
              <a:rPr lang="en-US" altLang="en-US"/>
              <a:t>Suitable for resource-constrained IoT devices.</a:t>
            </a:r>
            <a:endParaRPr lang="en-US" altLang="en-US"/>
          </a:p>
          <a:p>
            <a:r>
              <a:rPr lang="en-US" altLang="en-US"/>
              <a:t>Supports publish-subscribe communication.</a:t>
            </a:r>
            <a:endParaRPr lang="en-US" altLang="en-US"/>
          </a:p>
          <a:p>
            <a:r>
              <a:rPr lang="en-US" altLang="en-US"/>
              <a:t>Provides different QoS levels.</a:t>
            </a:r>
            <a:endParaRPr lang="en-US" altLang="en-US"/>
          </a:p>
          <a:p>
            <a:r>
              <a:rPr lang="en-US" altLang="en-US"/>
              <a:t>Works well with unreliable networks.</a:t>
            </a:r>
            <a:endParaRPr lang="en-US" altLang="en-US"/>
          </a:p>
          <a:p>
            <a:r>
              <a:rPr lang="en-US" altLang="en-US"/>
              <a:t>Supports communication between a large number of devices.</a:t>
            </a:r>
            <a:endParaRPr lang="en-US" altLang="en-US"/>
          </a:p>
          <a:p>
            <a:r>
              <a:rPr lang="en-US" altLang="en-US"/>
              <a:t>Easy integration with cloud and IoT platforms.</a:t>
            </a:r>
            <a:endParaRPr lang="en-US"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Applications</a:t>
            </a:r>
            <a:endParaRPr lang="en-US" altLang="en-US"/>
          </a:p>
        </p:txBody>
      </p:sp>
      <p:sp>
        <p:nvSpPr>
          <p:cNvPr id="3" name="Content Placeholder 2"/>
          <p:cNvSpPr>
            <a:spLocks noGrp="1"/>
          </p:cNvSpPr>
          <p:nvPr>
            <p:ph idx="1"/>
            <p:custDataLst>
              <p:tags r:id="rId2"/>
            </p:custDataLst>
          </p:nvPr>
        </p:nvSpPr>
        <p:spPr/>
        <p:txBody>
          <a:bodyPr/>
          <a:p>
            <a:r>
              <a:rPr lang="en-US" altLang="en-US"/>
              <a:t>MQTT is commonly used in:</a:t>
            </a:r>
            <a:endParaRPr lang="en-US" altLang="en-US"/>
          </a:p>
          <a:p>
            <a:pPr lvl="1"/>
            <a:r>
              <a:rPr lang="en-US" altLang="en-US"/>
              <a:t>Smart homes</a:t>
            </a:r>
            <a:endParaRPr lang="en-US" altLang="en-US"/>
          </a:p>
          <a:p>
            <a:pPr lvl="1"/>
            <a:r>
              <a:rPr lang="en-US" altLang="en-US"/>
              <a:t>Industrial IoT</a:t>
            </a:r>
            <a:endParaRPr lang="en-US" altLang="en-US"/>
          </a:p>
          <a:p>
            <a:pPr lvl="1"/>
            <a:r>
              <a:rPr lang="en-US" altLang="en-US"/>
              <a:t>Smart agriculture</a:t>
            </a:r>
            <a:endParaRPr lang="en-US" altLang="en-US"/>
          </a:p>
          <a:p>
            <a:pPr lvl="1"/>
            <a:r>
              <a:rPr lang="en-US" altLang="en-US"/>
              <a:t>Healthcare monitoring</a:t>
            </a:r>
            <a:endParaRPr lang="en-US" altLang="en-US"/>
          </a:p>
          <a:p>
            <a:pPr lvl="1"/>
            <a:r>
              <a:rPr lang="en-US" altLang="en-US"/>
              <a:t>Smart cities</a:t>
            </a:r>
            <a:endParaRPr lang="en-US" altLang="en-US"/>
          </a:p>
          <a:p>
            <a:pPr lvl="1"/>
            <a:r>
              <a:rPr lang="en-US" altLang="en-US"/>
              <a:t>Vehicle tracking</a:t>
            </a:r>
            <a:endParaRPr lang="en-US" altLang="en-US"/>
          </a:p>
          <a:p>
            <a:pPr lvl="1"/>
            <a:r>
              <a:rPr lang="en-US" altLang="en-US"/>
              <a:t>Remote sensor monitoring</a:t>
            </a:r>
            <a:endParaRPr lang="en-US" altLang="en-US"/>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t>MQTT Paho Library</a:t>
            </a:r>
            <a:endParaRPr lang="en-US"/>
          </a:p>
        </p:txBody>
      </p:sp>
      <p:sp>
        <p:nvSpPr>
          <p:cNvPr id="5" name="Subtitle 4"/>
          <p:cNvSpPr>
            <a:spLocks noGrp="1"/>
          </p:cNvSpPr>
          <p:nvPr>
            <p:ph type="subTitle" idx="1"/>
            <p:custDataLst>
              <p:tags r:id="rId2"/>
            </p:custDataLst>
          </p:nvPr>
        </p:nvSpPr>
        <p:spPr/>
        <p:txBody>
          <a:bodyPr/>
          <a:p>
            <a:r>
              <a:rPr lang="en-US"/>
              <a:t>IMP.</a:t>
            </a:r>
            <a:endParaRPr lang="en-US"/>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Definition</a:t>
            </a:r>
            <a:endParaRPr lang="en-US"/>
          </a:p>
        </p:txBody>
      </p:sp>
      <p:sp>
        <p:nvSpPr>
          <p:cNvPr id="3" name="Content Placeholder 2"/>
          <p:cNvSpPr>
            <a:spLocks noGrp="1"/>
          </p:cNvSpPr>
          <p:nvPr>
            <p:ph idx="1"/>
            <p:custDataLst>
              <p:tags r:id="rId2"/>
            </p:custDataLst>
          </p:nvPr>
        </p:nvSpPr>
        <p:spPr/>
        <p:txBody>
          <a:bodyPr/>
          <a:p>
            <a:r>
              <a:rPr lang="en-US" altLang="en-US" sz="2400"/>
              <a:t>Paho MQTT is an open-source MQTT client library developed by the Eclipse Foundation. It provides implementations of the MQTT protocol and allows applications and IoT devices to connect to an MQTT broker, publish messages, and subscribe to topics.</a:t>
            </a:r>
            <a:endParaRPr lang="en-US" altLang="en-US" sz="2400"/>
          </a:p>
          <a:p>
            <a:r>
              <a:rPr lang="en-US" altLang="en-US" sz="2400"/>
              <a:t>Paho supports several programming languages, including Python, Java, JavaScript, C, C++, and Go.</a:t>
            </a:r>
            <a:endParaRPr lang="en-US" altLang="en-US" sz="2400"/>
          </a:p>
          <a:p>
            <a:r>
              <a:rPr lang="en-US" altLang="en-US" sz="2400"/>
              <a:t>For IoT applications, the Paho Python library is commonly used because it makes MQTT communication simple to implement.</a:t>
            </a:r>
            <a:endParaRPr lang="en-US" altLang="en-US" sz="2400"/>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Paho MQTT Architecture</a:t>
            </a:r>
            <a:endParaRPr lang="en-US" altLang="en-US"/>
          </a:p>
        </p:txBody>
      </p:sp>
      <p:sp>
        <p:nvSpPr>
          <p:cNvPr id="3" name="Content Placeholder 2"/>
          <p:cNvSpPr>
            <a:spLocks noGrp="1"/>
          </p:cNvSpPr>
          <p:nvPr>
            <p:ph idx="1"/>
            <p:custDataLst>
              <p:tags r:id="rId2"/>
            </p:custDataLst>
          </p:nvPr>
        </p:nvSpPr>
        <p:spPr>
          <a:xfrm>
            <a:off x="608330" y="1384935"/>
            <a:ext cx="11274425" cy="5288280"/>
          </a:xfrm>
        </p:spPr>
        <p:txBody>
          <a:bodyPr>
            <a:noAutofit/>
          </a:bodyPr>
          <a:p>
            <a:r>
              <a:rPr lang="en-US" altLang="en-US" sz="1400"/>
              <a:t>The Paho library acts as an MQTT client between an IoT application and an MQTT broker.</a:t>
            </a:r>
            <a:endParaRPr lang="en-US" altLang="en-US" sz="1400"/>
          </a:p>
          <a:p>
            <a:endParaRPr lang="en-US" altLang="en-US" sz="1400"/>
          </a:p>
          <a:p>
            <a:r>
              <a:rPr lang="en-US" altLang="en-US" sz="1400"/>
              <a:t>IoT Application using Paho</a:t>
            </a:r>
            <a:endParaRPr lang="en-US" altLang="en-US" sz="1400"/>
          </a:p>
          <a:p>
            <a:r>
              <a:rPr lang="en-US" altLang="en-US" sz="1400"/>
              <a:t>↓</a:t>
            </a:r>
            <a:endParaRPr lang="en-US" altLang="en-US" sz="1400"/>
          </a:p>
          <a:p>
            <a:r>
              <a:rPr lang="en-US" altLang="en-US" sz="1400"/>
              <a:t>MQTT Broker</a:t>
            </a:r>
            <a:endParaRPr lang="en-US" altLang="en-US" sz="1400"/>
          </a:p>
          <a:p>
            <a:r>
              <a:rPr lang="en-US" altLang="en-US" sz="1400"/>
              <a:t>↓</a:t>
            </a:r>
            <a:endParaRPr lang="en-US" altLang="en-US" sz="1400"/>
          </a:p>
          <a:p>
            <a:r>
              <a:rPr lang="en-US" altLang="en-US" sz="1400"/>
              <a:t>Other MQTT Clients</a:t>
            </a:r>
            <a:endParaRPr lang="en-US" altLang="en-US" sz="1400"/>
          </a:p>
          <a:p>
            <a:endParaRPr lang="en-US" altLang="en-US" sz="1400"/>
          </a:p>
          <a:p>
            <a:r>
              <a:rPr lang="en-US" altLang="en-US" sz="1400"/>
              <a:t>The Paho client can perform operations such as:</a:t>
            </a:r>
            <a:endParaRPr lang="en-US" altLang="en-US" sz="1400"/>
          </a:p>
          <a:p>
            <a:pPr lvl="1"/>
            <a:r>
              <a:rPr lang="en-US" altLang="en-US" sz="1200"/>
              <a:t>Connecting to an MQTT broker</a:t>
            </a:r>
            <a:endParaRPr lang="en-US" altLang="en-US" sz="1200"/>
          </a:p>
          <a:p>
            <a:pPr lvl="1"/>
            <a:r>
              <a:rPr lang="en-US" altLang="en-US" sz="1200"/>
              <a:t>Publishing messages</a:t>
            </a:r>
            <a:endParaRPr lang="en-US" altLang="en-US" sz="1200"/>
          </a:p>
          <a:p>
            <a:pPr lvl="1"/>
            <a:r>
              <a:rPr lang="en-US" altLang="en-US" sz="1200"/>
              <a:t>Subscribing to topics</a:t>
            </a:r>
            <a:endParaRPr lang="en-US" altLang="en-US" sz="1200"/>
          </a:p>
          <a:p>
            <a:pPr lvl="1"/>
            <a:r>
              <a:rPr lang="en-US" altLang="en-US" sz="1200"/>
              <a:t>Receiving messages</a:t>
            </a:r>
            <a:endParaRPr lang="en-US" altLang="en-US" sz="1200"/>
          </a:p>
          <a:p>
            <a:pPr lvl="1"/>
            <a:r>
              <a:rPr lang="en-US" altLang="en-US" sz="1200"/>
              <a:t>Disconnecting from the broker</a:t>
            </a:r>
            <a:endParaRPr lang="en-US" altLang="en-US" sz="1200"/>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Paho MQTT Python Library</a:t>
            </a:r>
            <a:endParaRPr lang="en-US" altLang="en-US"/>
          </a:p>
        </p:txBody>
      </p:sp>
      <p:sp>
        <p:nvSpPr>
          <p:cNvPr id="3" name="Content Placeholder 2"/>
          <p:cNvSpPr>
            <a:spLocks noGrp="1"/>
          </p:cNvSpPr>
          <p:nvPr>
            <p:ph idx="1"/>
            <p:custDataLst>
              <p:tags r:id="rId2"/>
            </p:custDataLst>
          </p:nvPr>
        </p:nvSpPr>
        <p:spPr/>
        <p:txBody>
          <a:bodyPr/>
          <a:p>
            <a:r>
              <a:rPr lang="en-US" altLang="en-US" sz="2400"/>
              <a:t>In Python, the library can be installed using:</a:t>
            </a:r>
            <a:endParaRPr lang="en-US" altLang="en-US" sz="2400"/>
          </a:p>
          <a:p>
            <a:pPr lvl="1"/>
            <a:r>
              <a:rPr lang="en-US" altLang="en-US" sz="2000"/>
              <a:t>pip install paho-mqtt</a:t>
            </a:r>
            <a:endParaRPr lang="en-US" altLang="en-US" sz="2000"/>
          </a:p>
          <a:p>
            <a:r>
              <a:rPr lang="en-US" altLang="en-US" sz="2400"/>
              <a:t>It can then be imported into a Python program:</a:t>
            </a:r>
            <a:endParaRPr lang="en-US" altLang="en-US" sz="2400"/>
          </a:p>
          <a:p>
            <a:pPr lvl="1"/>
            <a:r>
              <a:rPr lang="en-US" altLang="en-US" sz="2000"/>
              <a:t>import paho.mqtt.client as mqtt</a:t>
            </a:r>
            <a:endParaRPr lang="en-US" altLang="en-US" sz="2000"/>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Basic Working</a:t>
            </a:r>
            <a:endParaRPr lang="en-US" altLang="en-US"/>
          </a:p>
        </p:txBody>
      </p:sp>
      <p:sp>
        <p:nvSpPr>
          <p:cNvPr id="3" name="Content Placeholder 2"/>
          <p:cNvSpPr>
            <a:spLocks noGrp="1"/>
          </p:cNvSpPr>
          <p:nvPr>
            <p:ph idx="1"/>
            <p:custDataLst>
              <p:tags r:id="rId2"/>
            </p:custDataLst>
          </p:nvPr>
        </p:nvSpPr>
        <p:spPr/>
        <p:txBody>
          <a:bodyPr>
            <a:noAutofit/>
          </a:bodyPr>
          <a:p>
            <a:r>
              <a:rPr lang="en-US" altLang="en-US" sz="2400"/>
              <a:t>The basic MQTT communication using Paho follows these steps:</a:t>
            </a:r>
            <a:endParaRPr lang="en-US" altLang="en-US" sz="2400"/>
          </a:p>
          <a:p>
            <a:pPr marL="457200" lvl="1" indent="0" algn="ctr">
              <a:buNone/>
            </a:pPr>
            <a:r>
              <a:rPr lang="en-US" altLang="en-US" sz="2000"/>
              <a:t>Create Client → Connect to Broker → Publish/Subscribe → Exchange Messages → Disconnect</a:t>
            </a:r>
            <a:endParaRPr lang="en-US" altLang="en-US" sz="2000"/>
          </a:p>
          <a:p>
            <a:r>
              <a:rPr lang="en-US" altLang="en-US" sz="2400"/>
              <a:t>For example, a temperature sensor application can use Paho to publish temperature data:</a:t>
            </a:r>
            <a:endParaRPr lang="en-US" altLang="en-US" sz="2400"/>
          </a:p>
          <a:p>
            <a:pPr lvl="1"/>
            <a:r>
              <a:rPr lang="en-US" altLang="en-US" sz="2000"/>
              <a:t>client.publish("home/temperature", "30°C")</a:t>
            </a:r>
            <a:endParaRPr lang="en-US" altLang="en-US" sz="2000"/>
          </a:p>
          <a:p>
            <a:r>
              <a:rPr lang="en-US" altLang="en-US" sz="2400"/>
              <a:t>Another application can subscribe to the same topic:</a:t>
            </a:r>
            <a:endParaRPr lang="en-US" altLang="en-US" sz="2400"/>
          </a:p>
          <a:p>
            <a:pPr lvl="1"/>
            <a:r>
              <a:rPr lang="en-US" altLang="en-US" sz="2000"/>
              <a:t>client.subscribe("home/temperature")</a:t>
            </a:r>
            <a:endParaRPr lang="en-US" altLang="en-US" sz="2000"/>
          </a:p>
          <a:p>
            <a:r>
              <a:rPr lang="en-US" altLang="en-US" sz="2400"/>
              <a:t>The MQTT broker receives the published message and delivers it to the subscribed client.</a:t>
            </a:r>
            <a:endParaRPr lang="en-US" altLang="en-US" sz="2400"/>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sym typeface="+mn-ea"/>
              </a:rPr>
              <a:t>Important Paho Functions</a:t>
            </a:r>
            <a:endParaRPr lang="en-US"/>
          </a:p>
        </p:txBody>
      </p:sp>
      <p:sp>
        <p:nvSpPr>
          <p:cNvPr id="3" name="Content Placeholder 2"/>
          <p:cNvSpPr>
            <a:spLocks noGrp="1"/>
          </p:cNvSpPr>
          <p:nvPr>
            <p:ph idx="1"/>
            <p:custDataLst>
              <p:tags r:id="rId2"/>
            </p:custDataLst>
          </p:nvPr>
        </p:nvSpPr>
        <p:spPr/>
        <p:txBody>
          <a:bodyPr/>
          <a:p>
            <a:r>
              <a:rPr lang="en-US" altLang="en-US" b="1">
                <a:latin typeface="Arial Bold" panose="020B0604020202090204" charset="0"/>
                <a:cs typeface="Arial Bold" panose="020B0604020202090204" charset="0"/>
              </a:rPr>
              <a:t>Function		Purpose</a:t>
            </a:r>
            <a:endParaRPr lang="en-US" altLang="en-US" b="1">
              <a:latin typeface="Arial Bold" panose="020B0604020202090204" charset="0"/>
              <a:cs typeface="Arial Bold" panose="020B0604020202090204" charset="0"/>
            </a:endParaRPr>
          </a:p>
          <a:p>
            <a:r>
              <a:rPr lang="en-US" altLang="en-US"/>
              <a:t>mqtt.Client()		Creates an MQTT client</a:t>
            </a:r>
            <a:endParaRPr lang="en-US" altLang="en-US"/>
          </a:p>
          <a:p>
            <a:r>
              <a:rPr lang="en-US" altLang="en-US"/>
              <a:t>connect()		Connects the client to the broker</a:t>
            </a:r>
            <a:endParaRPr lang="en-US" altLang="en-US"/>
          </a:p>
          <a:p>
            <a:r>
              <a:rPr lang="en-US" altLang="en-US"/>
              <a:t>publish()		Publishes a message</a:t>
            </a:r>
            <a:endParaRPr lang="en-US" altLang="en-US"/>
          </a:p>
          <a:p>
            <a:r>
              <a:rPr lang="en-US" altLang="en-US"/>
              <a:t>subscribe()		Subscribes to a topic</a:t>
            </a:r>
            <a:endParaRPr lang="en-US" altLang="en-US"/>
          </a:p>
          <a:p>
            <a:r>
              <a:rPr lang="en-US" altLang="en-US"/>
              <a:t>loop_start()		Starts network processing in the background</a:t>
            </a:r>
            <a:endParaRPr lang="en-US" altLang="en-US"/>
          </a:p>
          <a:p>
            <a:r>
              <a:rPr lang="en-US" altLang="en-US"/>
              <a:t>loop_forever()	Continuously processes MQTT network traffic</a:t>
            </a:r>
            <a:endParaRPr lang="en-US" altLang="en-US"/>
          </a:p>
          <a:p>
            <a:r>
              <a:rPr lang="en-US" altLang="en-US"/>
              <a:t>disconnect()		Disconnects from the broker</a:t>
            </a:r>
            <a:endParaRPr lang="en-US" altLang="en-US"/>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Advantages of Paho MQTT</a:t>
            </a:r>
            <a:endParaRPr lang="en-US" altLang="en-US"/>
          </a:p>
        </p:txBody>
      </p:sp>
      <p:sp>
        <p:nvSpPr>
          <p:cNvPr id="3" name="Content Placeholder 2"/>
          <p:cNvSpPr>
            <a:spLocks noGrp="1"/>
          </p:cNvSpPr>
          <p:nvPr>
            <p:ph idx="1"/>
            <p:custDataLst>
              <p:tags r:id="rId2"/>
            </p:custDataLst>
          </p:nvPr>
        </p:nvSpPr>
        <p:spPr/>
        <p:txBody>
          <a:bodyPr/>
          <a:p>
            <a:r>
              <a:rPr lang="en-US" altLang="en-US"/>
              <a:t>Open-source and widely used.</a:t>
            </a:r>
            <a:endParaRPr lang="en-US" altLang="en-US"/>
          </a:p>
          <a:p>
            <a:r>
              <a:rPr lang="en-US" altLang="en-US"/>
              <a:t>Easy to integrate with IoT applications.</a:t>
            </a:r>
            <a:endParaRPr lang="en-US" altLang="en-US"/>
          </a:p>
          <a:p>
            <a:r>
              <a:rPr lang="en-US" altLang="en-US"/>
              <a:t>Supports MQTT communication efficiently.</a:t>
            </a:r>
            <a:endParaRPr lang="en-US" altLang="en-US"/>
          </a:p>
          <a:p>
            <a:r>
              <a:rPr lang="en-US" altLang="en-US"/>
              <a:t>Available for multiple programming languages.</a:t>
            </a:r>
            <a:endParaRPr lang="en-US" altLang="en-US"/>
          </a:p>
          <a:p>
            <a:r>
              <a:rPr lang="en-US" altLang="en-US"/>
              <a:t>Provides APIs for publish and subscribe operations.</a:t>
            </a:r>
            <a:endParaRPr lang="en-US" altLang="en-US"/>
          </a:p>
          <a:p>
            <a:r>
              <a:rPr lang="en-US" altLang="en-US"/>
              <a:t>Suitable for resource-constrained IoT applications.</a:t>
            </a:r>
            <a:endParaRPr lang="en-US" altLang="en-US"/>
          </a:p>
          <a:p>
            <a:r>
              <a:rPr lang="en-US" altLang="en-US"/>
              <a:t>Supports MQTT features such as QoS and retained messages.</a:t>
            </a:r>
            <a:endParaRPr lang="en-US" altLang="en-US"/>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Applications</a:t>
            </a:r>
            <a:endParaRPr lang="en-US" altLang="en-US"/>
          </a:p>
        </p:txBody>
      </p:sp>
      <p:sp>
        <p:nvSpPr>
          <p:cNvPr id="3" name="Content Placeholder 2"/>
          <p:cNvSpPr>
            <a:spLocks noGrp="1"/>
          </p:cNvSpPr>
          <p:nvPr>
            <p:ph idx="1"/>
            <p:custDataLst>
              <p:tags r:id="rId2"/>
            </p:custDataLst>
          </p:nvPr>
        </p:nvSpPr>
        <p:spPr/>
        <p:txBody>
          <a:bodyPr/>
          <a:p>
            <a:r>
              <a:rPr lang="en-US" altLang="en-US"/>
              <a:t>Paho MQTT can be used in:</a:t>
            </a:r>
            <a:endParaRPr lang="en-US" altLang="en-US"/>
          </a:p>
          <a:p>
            <a:r>
              <a:rPr lang="en-US" altLang="en-US"/>
              <a:t>Smart home systems</a:t>
            </a:r>
            <a:endParaRPr lang="en-US" altLang="en-US"/>
          </a:p>
          <a:p>
            <a:r>
              <a:rPr lang="en-US" altLang="en-US"/>
              <a:t>Sensor monitoring</a:t>
            </a:r>
            <a:endParaRPr lang="en-US" altLang="en-US"/>
          </a:p>
          <a:p>
            <a:r>
              <a:rPr lang="en-US" altLang="en-US"/>
              <a:t>Industrial IoT</a:t>
            </a:r>
            <a:endParaRPr lang="en-US" altLang="en-US"/>
          </a:p>
          <a:p>
            <a:r>
              <a:rPr lang="en-US" altLang="en-US"/>
              <a:t>Smart agriculture</a:t>
            </a:r>
            <a:endParaRPr lang="en-US" altLang="en-US"/>
          </a:p>
          <a:p>
            <a:r>
              <a:rPr lang="en-US" altLang="en-US"/>
              <a:t>Healthcare monitoring</a:t>
            </a:r>
            <a:endParaRPr lang="en-US" altLang="en-US"/>
          </a:p>
          <a:p>
            <a:r>
              <a:rPr lang="en-US" altLang="en-US"/>
              <a:t>Vehicle and device tracking</a:t>
            </a:r>
            <a:endParaRPr lang="en-US" altLang="en-US"/>
          </a:p>
          <a:p>
            <a:r>
              <a:rPr lang="en-US" altLang="en-US"/>
              <a:t>Cloud-based IoT applications</a:t>
            </a:r>
            <a:endParaRPr lang="en-US" altLang="en-US"/>
          </a:p>
          <a:p>
            <a:endParaRPr lang="en-US" altLang="en-US"/>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82625" y="424180"/>
            <a:ext cx="10968990" cy="5608320"/>
          </a:xfrm>
          <a:prstGeom prst="rect">
            <a:avLst/>
          </a:prstGeom>
        </p:spPr>
      </p:pic>
    </p:spTree>
    <p:custDataLst>
      <p:tags r:id="rId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t>Thank You</a:t>
            </a:r>
            <a:endParaRPr lang="en-US"/>
          </a:p>
        </p:txBody>
      </p:sp>
      <p:sp>
        <p:nvSpPr>
          <p:cNvPr id="5" name="Subtitle 4"/>
          <p:cNvSpPr>
            <a:spLocks noGrp="1"/>
          </p:cNvSpPr>
          <p:nvPr>
            <p:ph type="subTitle" idx="1"/>
            <p:custDataLst>
              <p:tags r:id="rId2"/>
            </p:custDataLst>
          </p:nvPr>
        </p:nvSpPr>
        <p:spPr/>
        <p:txBody>
          <a:bodyPr/>
          <a:p>
            <a:r>
              <a:rPr lang="en-US"/>
              <a:t>Vraj Suratwala</a:t>
            </a:r>
            <a:endParaRPr lang="en-US"/>
          </a:p>
          <a:p>
            <a:r>
              <a:rPr lang="en-US"/>
              <a:t>Department of ICT, VNSGU</a:t>
            </a:r>
            <a:endParaRPr 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1.xml><?xml version="1.0" encoding="utf-8"?>
<p:tagLst xmlns:p="http://schemas.openxmlformats.org/presentationml/2006/main">
  <p:tag name="KSO_WM_BEAUTIFY_FLAG" val="#wm#"/>
  <p:tag name="KSO_WM_TEMPLATE_CATEGORY" val="custom"/>
  <p:tag name="KSO_WM_TEMPLATE_INDEX" val="2020508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BEAUTIFY_FLAG" val="#wm#"/>
  <p:tag name="KSO_WM_TEMPLATE_CATEGORY" val="custom"/>
  <p:tag name="KSO_WM_TEMPLATE_INDEX" val="2020508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BEAUTIFY_FLAG" val="#wm#"/>
  <p:tag name="KSO_WM_TEMPLATE_CATEGORY" val="custom"/>
  <p:tag name="KSO_WM_TEMPLATE_INDEX" val="2020508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BEAUTIFY_FLAG" val="#wm#"/>
  <p:tag name="KSO_WM_TEMPLATE_CATEGORY" val="custom"/>
  <p:tag name="KSO_WM_TEMPLATE_INDEX" val="2020508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BEAUTIFY_FLAG" val="#wm#"/>
  <p:tag name="KSO_WM_TEMPLATE_CATEGORY" val="custom"/>
  <p:tag name="KSO_WM_TEMPLATE_INDEX" val="2020508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BEAUTIFY_FLAG" val="#wm#"/>
  <p:tag name="KSO_WM_TEMPLATE_CATEGORY" val="custom"/>
  <p:tag name="KSO_WM_TEMPLATE_INDEX" val="2020508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WM_BEAUTIFY_FLAG" val="#wm#"/>
  <p:tag name="KSO_WM_TEMPLATE_CATEGORY" val="custom"/>
  <p:tag name="KSO_WM_TEMPLATE_INDEX" val="2020508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p="http://schemas.openxmlformats.org/presentationml/2006/main">
  <p:tag name="KSO_WM_BEAUTIFY_FLAG" val="#wm#"/>
  <p:tag name="KSO_WM_TEMPLATE_CATEGORY" val="custom"/>
  <p:tag name="KSO_WM_TEMPLATE_INDEX" val="2020508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5.xml><?xml version="1.0" encoding="utf-8"?>
<p:tagLst xmlns:p="http://schemas.openxmlformats.org/presentationml/2006/main">
  <p:tag name="KSO_WM_BEAUTIFY_FLAG" val="#wm#"/>
  <p:tag name="KSO_WM_TEMPLATE_CATEGORY" val="custom"/>
  <p:tag name="KSO_WM_TEMPLATE_INDEX" val="2020508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8.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5020</Words>
  <Application>WPS Presentation</Application>
  <PresentationFormat>Widescreen</PresentationFormat>
  <Paragraphs>170</Paragraphs>
  <Slides>19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SimSun</vt:lpstr>
      <vt:lpstr>Wingdings</vt:lpstr>
      <vt:lpstr>Wingdings</vt:lpstr>
      <vt:lpstr>Microsoft YaHei</vt:lpstr>
      <vt:lpstr>汉仪旗黑</vt:lpstr>
      <vt:lpstr>Arial Unicode MS</vt:lpstr>
      <vt:lpstr>Calibri</vt:lpstr>
      <vt:lpstr>Helvetica Neue</vt:lpstr>
      <vt:lpstr>宋体-简</vt:lpstr>
      <vt:lpstr>Arial Bold</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MQTT Protocol</dc:title>
  <dc:creator>suratwalavraj</dc:creator>
  <cp:lastModifiedBy>Vraj Suratwala</cp:lastModifiedBy>
  <cp:revision>5</cp:revision>
  <dcterms:created xsi:type="dcterms:W3CDTF">2026-09-05T20:31:25Z</dcterms:created>
  <dcterms:modified xsi:type="dcterms:W3CDTF">2026-09-05T20:31:25Z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1B26931365E806D0F06E9C6A78E545DE_41</vt:lpwstr>
  </property>
</Properties>
</file>