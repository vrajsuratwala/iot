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1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1.xml"/><Relationship Id="rId3" Type="http://schemas.openxmlformats.org/officeDocument/2006/relationships/image" Target="../media/image3.png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IoT Application with Data Logging and Reporting</a:t>
            </a:r>
            <a:endParaRPr lang="en-US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Vraj Suratwala</a:t>
            </a:r>
            <a:endParaRPr lang="en-US"/>
          </a:p>
          <a:p>
            <a:r>
              <a:rPr lang="en-US"/>
              <a:t>Department of ICT, VNSGU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Introduction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Data Logging in IoT is the process of automatically collecting, storing, and maintaining data generated by sensors or IoT devices.</a:t>
            </a:r>
            <a:endParaRPr lang="en-US" altLang="en-US"/>
          </a:p>
          <a:p>
            <a:r>
              <a:rPr lang="en-US" altLang="en-US"/>
              <a:t>Reporting is the process of analyzing the collected data and presenting it in a meaningful form, such as tables, graphs, charts, dashboards, or reports.</a:t>
            </a:r>
            <a:endParaRPr lang="en-US" altLang="en-US"/>
          </a:p>
          <a:p>
            <a:r>
              <a:rPr lang="en-US" altLang="en-US"/>
              <a:t>Sensor → Data Collection → Data Logging → Data Processing → Reporting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Architecture &amp; Data Logging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785225" y="0"/>
            <a:ext cx="3406775" cy="68529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770" y="1591310"/>
            <a:ext cx="6905625" cy="446659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Steps in IoT Data Logging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Step 1 — Data Collection</a:t>
            </a:r>
            <a:endParaRPr lang="en-US" altLang="en-US"/>
          </a:p>
          <a:p>
            <a:pPr lvl="1"/>
            <a:r>
              <a:rPr lang="en-US" altLang="en-US"/>
              <a:t>Sensors measure physical parameters such as:</a:t>
            </a:r>
            <a:endParaRPr lang="en-US" altLang="en-US"/>
          </a:p>
          <a:p>
            <a:pPr lvl="1"/>
            <a:r>
              <a:rPr lang="en-US" altLang="en-US"/>
              <a:t>Temperature</a:t>
            </a:r>
            <a:endParaRPr lang="en-US" altLang="en-US"/>
          </a:p>
          <a:p>
            <a:pPr lvl="1"/>
            <a:r>
              <a:rPr lang="en-US" altLang="en-US"/>
              <a:t>Humidity</a:t>
            </a:r>
            <a:endParaRPr lang="en-US" altLang="en-US"/>
          </a:p>
          <a:p>
            <a:pPr lvl="1"/>
            <a:r>
              <a:rPr lang="en-US" altLang="en-US"/>
              <a:t>Pressure</a:t>
            </a:r>
            <a:endParaRPr lang="en-US" altLang="en-US"/>
          </a:p>
          <a:p>
            <a:pPr lvl="1"/>
            <a:r>
              <a:rPr lang="en-US" altLang="en-US"/>
              <a:t>Light</a:t>
            </a:r>
            <a:endParaRPr lang="en-US" altLang="en-US"/>
          </a:p>
          <a:p>
            <a:pPr lvl="1"/>
            <a:r>
              <a:rPr lang="en-US" altLang="en-US"/>
              <a:t>Motion</a:t>
            </a:r>
            <a:endParaRPr lang="en-US" altLang="en-US"/>
          </a:p>
          <a:p>
            <a:pPr lvl="1"/>
            <a:r>
              <a:rPr lang="en-US" altLang="en-US"/>
              <a:t>Gas concentration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330" y="241935"/>
            <a:ext cx="10968990" cy="6007735"/>
          </a:xfrm>
        </p:spPr>
        <p:txBody>
          <a:bodyPr/>
          <a:p>
            <a:r>
              <a:rPr lang="en-US" altLang="en-US"/>
              <a:t>Step 2 — Data Transmission</a:t>
            </a:r>
            <a:endParaRPr lang="en-US" altLang="en-US"/>
          </a:p>
          <a:p>
            <a:r>
              <a:rPr lang="en-US" altLang="en-US"/>
              <a:t>The sensor sends the data to an IoT device or gateway using protocols/interfaces such as:</a:t>
            </a:r>
            <a:endParaRPr lang="en-US" altLang="en-US"/>
          </a:p>
          <a:p>
            <a:pPr lvl="1"/>
            <a:r>
              <a:rPr lang="en-US" altLang="en-US"/>
              <a:t>GPIO</a:t>
            </a:r>
            <a:endParaRPr lang="en-US" altLang="en-US"/>
          </a:p>
          <a:p>
            <a:pPr lvl="1"/>
            <a:r>
              <a:rPr lang="en-US" altLang="en-US"/>
              <a:t>I2C</a:t>
            </a:r>
            <a:endParaRPr lang="en-US" altLang="en-US"/>
          </a:p>
          <a:p>
            <a:pPr lvl="1"/>
            <a:r>
              <a:rPr lang="en-US" altLang="en-US"/>
              <a:t>SPI</a:t>
            </a:r>
            <a:endParaRPr lang="en-US" altLang="en-US"/>
          </a:p>
          <a:p>
            <a:pPr lvl="1"/>
            <a:r>
              <a:rPr lang="en-US" altLang="en-US"/>
              <a:t>UART</a:t>
            </a:r>
            <a:endParaRPr lang="en-US" altLang="en-US"/>
          </a:p>
          <a:p>
            <a:pPr lvl="1"/>
            <a:r>
              <a:rPr lang="en-US" altLang="en-US"/>
              <a:t>Wi-Fi</a:t>
            </a:r>
            <a:endParaRPr lang="en-US" altLang="en-US"/>
          </a:p>
          <a:p>
            <a:pPr lvl="1"/>
            <a:r>
              <a:rPr lang="en-US" altLang="en-US"/>
              <a:t>Bluetooth</a:t>
            </a:r>
            <a:endParaRPr lang="en-US" altLang="en-US"/>
          </a:p>
          <a:p>
            <a:pPr lvl="1"/>
            <a:r>
              <a:rPr lang="en-US" altLang="en-US"/>
              <a:t>MQTT</a:t>
            </a:r>
            <a:endParaRPr lang="en-US" altLang="en-US"/>
          </a:p>
          <a:p>
            <a:pPr lvl="0"/>
            <a:r>
              <a:rPr lang="en-US" altLang="en-US"/>
              <a:t>Step 3 — Data Storage</a:t>
            </a:r>
            <a:endParaRPr lang="en-US" altLang="en-US"/>
          </a:p>
          <a:p>
            <a:pPr lvl="1"/>
            <a:r>
              <a:rPr lang="en-US" altLang="en-US"/>
              <a:t>The collected data is stored locally or in the cloud.</a:t>
            </a:r>
            <a:endParaRPr lang="en-US" altLang="en-US"/>
          </a:p>
          <a:p>
            <a:pPr lvl="1"/>
            <a:r>
              <a:rPr lang="en-US" altLang="en-US"/>
              <a:t>For example:</a:t>
            </a:r>
            <a:endParaRPr lang="en-US" altLang="en-US"/>
          </a:p>
          <a:p>
            <a:pPr lvl="1"/>
            <a:r>
              <a:rPr lang="en-US" altLang="en-US"/>
              <a:t>Sensor → Raspberry Pi → SQLite</a:t>
            </a:r>
            <a:endParaRPr lang="en-US" altLang="en-US"/>
          </a:p>
          <a:p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330" y="464820"/>
            <a:ext cx="10968990" cy="5784850"/>
          </a:xfrm>
        </p:spPr>
        <p:txBody>
          <a:bodyPr>
            <a:normAutofit/>
          </a:bodyPr>
          <a:p>
            <a:r>
              <a:rPr lang="en-US" altLang="en-US"/>
              <a:t>Step 4 — Data Processing</a:t>
            </a:r>
            <a:endParaRPr lang="en-US" altLang="en-US"/>
          </a:p>
          <a:p>
            <a:pPr lvl="1"/>
            <a:r>
              <a:rPr lang="en-US" altLang="en-US"/>
              <a:t>The system can calculate:</a:t>
            </a:r>
            <a:endParaRPr lang="en-US" altLang="en-US"/>
          </a:p>
          <a:p>
            <a:pPr lvl="1"/>
            <a:r>
              <a:rPr lang="en-US" altLang="en-US"/>
              <a:t>Average</a:t>
            </a:r>
            <a:endParaRPr lang="en-US" altLang="en-US"/>
          </a:p>
          <a:p>
            <a:pPr lvl="1"/>
            <a:r>
              <a:rPr lang="en-US" altLang="en-US"/>
              <a:t>Minimum value</a:t>
            </a:r>
            <a:endParaRPr lang="en-US" altLang="en-US"/>
          </a:p>
          <a:p>
            <a:pPr lvl="1"/>
            <a:r>
              <a:rPr lang="en-US" altLang="en-US"/>
              <a:t>Maximum value</a:t>
            </a:r>
            <a:endParaRPr lang="en-US" altLang="en-US"/>
          </a:p>
          <a:p>
            <a:pPr lvl="1"/>
            <a:r>
              <a:rPr lang="en-US" altLang="en-US"/>
              <a:t>Count</a:t>
            </a:r>
            <a:endParaRPr lang="en-US" altLang="en-US"/>
          </a:p>
          <a:p>
            <a:pPr lvl="1"/>
            <a:r>
              <a:rPr lang="en-US" altLang="en-US"/>
              <a:t>Threshold violations</a:t>
            </a:r>
            <a:endParaRPr lang="en-US" altLang="en-US"/>
          </a:p>
          <a:p>
            <a:r>
              <a:rPr lang="en-US" altLang="en-US"/>
              <a:t>Step 5 — Reporting</a:t>
            </a:r>
            <a:endParaRPr lang="en-US" altLang="en-US"/>
          </a:p>
          <a:p>
            <a:pPr lvl="1"/>
            <a:r>
              <a:rPr lang="en-US" altLang="en-US"/>
              <a:t>The processed information is presented using:</a:t>
            </a:r>
            <a:endParaRPr lang="en-US" altLang="en-US"/>
          </a:p>
          <a:p>
            <a:pPr lvl="1"/>
            <a:r>
              <a:rPr lang="en-US" altLang="en-US"/>
              <a:t>Tables</a:t>
            </a:r>
            <a:endParaRPr lang="en-US" altLang="en-US"/>
          </a:p>
          <a:p>
            <a:pPr lvl="1"/>
            <a:r>
              <a:rPr lang="en-US" altLang="en-US"/>
              <a:t>Graphs</a:t>
            </a:r>
            <a:endParaRPr lang="en-US" altLang="en-US"/>
          </a:p>
          <a:p>
            <a:pPr lvl="1"/>
            <a:r>
              <a:rPr lang="en-US" altLang="en-US"/>
              <a:t>Charts</a:t>
            </a:r>
            <a:endParaRPr lang="en-US" altLang="en-US"/>
          </a:p>
          <a:p>
            <a:pPr lvl="1"/>
            <a:r>
              <a:rPr lang="en-US" altLang="en-US"/>
              <a:t>Dashboards</a:t>
            </a:r>
            <a:endParaRPr lang="en-US" altLang="en-US"/>
          </a:p>
          <a:p>
            <a:pPr lvl="1"/>
            <a:r>
              <a:rPr lang="en-US" altLang="en-US"/>
              <a:t>PDF/CSV reports</a:t>
            </a:r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Example :  Temrature Data Logging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490345"/>
            <a:ext cx="5208905" cy="51149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SQLite Table for Data Logging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US" altLang="en-US"/>
              <a:t>A table can be created as:</a:t>
            </a:r>
            <a:endParaRPr lang="en-US" altLang="en-US"/>
          </a:p>
          <a:p>
            <a:pPr lvl="1"/>
            <a:r>
              <a:rPr lang="en-US" altLang="en-US"/>
              <a:t>CREATE TABLE SensorData (</a:t>
            </a:r>
            <a:endParaRPr lang="en-US" altLang="en-US"/>
          </a:p>
          <a:p>
            <a:pPr lvl="1"/>
            <a:r>
              <a:rPr lang="en-US" altLang="en-US"/>
              <a:t>    id INTEGER PRIMARY KEY AUTOINCREMENT,</a:t>
            </a:r>
            <a:endParaRPr lang="en-US" altLang="en-US"/>
          </a:p>
          <a:p>
            <a:pPr lvl="1"/>
            <a:r>
              <a:rPr lang="en-US" altLang="en-US"/>
              <a:t>    temperature REAL,</a:t>
            </a:r>
            <a:endParaRPr lang="en-US" altLang="en-US"/>
          </a:p>
          <a:p>
            <a:pPr lvl="1"/>
            <a:r>
              <a:rPr lang="en-US" altLang="en-US"/>
              <a:t>    humidity REAL,</a:t>
            </a:r>
            <a:endParaRPr lang="en-US" altLang="en-US"/>
          </a:p>
          <a:p>
            <a:pPr lvl="1"/>
            <a:r>
              <a:rPr lang="en-US" altLang="en-US"/>
              <a:t>    timestamp DATETIME</a:t>
            </a:r>
            <a:endParaRPr lang="en-US" altLang="en-US"/>
          </a:p>
          <a:p>
            <a:pPr lvl="1"/>
            <a:r>
              <a:rPr lang="en-US" altLang="en-US"/>
              <a:t>);</a:t>
            </a:r>
            <a:endParaRPr lang="en-US" altLang="en-US"/>
          </a:p>
          <a:p>
            <a:r>
              <a:rPr lang="en-US" altLang="en-US"/>
              <a:t>Insert Sensor Reading</a:t>
            </a:r>
            <a:endParaRPr lang="en-US" altLang="en-US"/>
          </a:p>
          <a:p>
            <a:pPr lvl="1"/>
            <a:r>
              <a:rPr lang="en-US" altLang="en-US"/>
              <a:t>INSERT INTO SensorData (temperature, humidity, timestamp) VALUES (28.5, 65, CURRENT_TIMESTAMP);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Reporting in IoT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Reporting converts raw logged data into information that can be easily understood by users.</a:t>
            </a:r>
            <a:endParaRPr lang="en-US" altLang="en-US"/>
          </a:p>
          <a:p>
            <a:r>
              <a:rPr lang="en-US" altLang="en-US"/>
              <a:t>For example, instead of showing hundreds of individual readings:</a:t>
            </a:r>
            <a:endParaRPr lang="en-US" altLang="en-US"/>
          </a:p>
          <a:p>
            <a:r>
              <a:rPr lang="en-US" altLang="en-US"/>
              <a:t>28.5</a:t>
            </a:r>
            <a:endParaRPr lang="en-US" altLang="en-US"/>
          </a:p>
          <a:p>
            <a:r>
              <a:rPr lang="en-US" altLang="en-US"/>
              <a:t>29.1</a:t>
            </a:r>
            <a:endParaRPr lang="en-US" altLang="en-US"/>
          </a:p>
          <a:p>
            <a:r>
              <a:rPr lang="en-US" altLang="en-US"/>
              <a:t>30.2</a:t>
            </a:r>
            <a:endParaRPr lang="en-US" altLang="en-US"/>
          </a:p>
          <a:p>
            <a:r>
              <a:rPr lang="en-US" altLang="en-US"/>
              <a:t>29.8</a:t>
            </a:r>
            <a:endParaRPr lang="en-US" altLang="en-US"/>
          </a:p>
          <a:p>
            <a:r>
              <a:rPr lang="en-US" altLang="en-US"/>
              <a:t>30.5 ....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a report can show: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60000"/>
          </a:bodyPr>
          <a:p>
            <a:r>
              <a:rPr lang="en-US" altLang="en-US"/>
              <a:t>Maximum Temperature : 31.2°C</a:t>
            </a:r>
            <a:endParaRPr lang="en-US" altLang="en-US"/>
          </a:p>
          <a:p>
            <a:r>
              <a:rPr lang="en-US" altLang="en-US"/>
              <a:t>Minimum Temperature : 28.5°C</a:t>
            </a:r>
            <a:endParaRPr lang="en-US" altLang="en-US"/>
          </a:p>
          <a:p>
            <a:r>
              <a:rPr lang="en-US" altLang="en-US"/>
              <a:t>Average Temperature : 29.9°C</a:t>
            </a:r>
            <a:endParaRPr lang="en-US" altLang="en-US"/>
          </a:p>
          <a:p>
            <a:r>
              <a:rPr lang="en-US" altLang="en-US"/>
              <a:t>A graphical report could show:</a:t>
            </a:r>
            <a:endParaRPr lang="en-US" altLang="en-US"/>
          </a:p>
          <a:p>
            <a:r>
              <a:rPr lang="en-US" altLang="en-US"/>
              <a:t>Temperature</a:t>
            </a:r>
            <a:endParaRPr lang="en-US" altLang="en-US"/>
          </a:p>
          <a:p>
            <a:r>
              <a:rPr lang="en-US" altLang="en-US"/>
              <a:t>   │</a:t>
            </a:r>
            <a:endParaRPr lang="en-US" altLang="en-US"/>
          </a:p>
          <a:p>
            <a:r>
              <a:rPr lang="en-US" altLang="en-US"/>
              <a:t>32 │                 ●</a:t>
            </a:r>
            <a:endParaRPr lang="en-US" altLang="en-US"/>
          </a:p>
          <a:p>
            <a:r>
              <a:rPr lang="en-US" altLang="en-US"/>
              <a:t>31 │             ●</a:t>
            </a:r>
            <a:endParaRPr lang="en-US" altLang="en-US"/>
          </a:p>
          <a:p>
            <a:r>
              <a:rPr lang="en-US" altLang="en-US"/>
              <a:t>30 │        ●  ●</a:t>
            </a:r>
            <a:endParaRPr lang="en-US" altLang="en-US"/>
          </a:p>
          <a:p>
            <a:r>
              <a:rPr lang="en-US" altLang="en-US"/>
              <a:t>29 │    ●</a:t>
            </a:r>
            <a:endParaRPr lang="en-US" altLang="en-US"/>
          </a:p>
          <a:p>
            <a:r>
              <a:rPr lang="en-US" altLang="en-US"/>
              <a:t>28 │ ●</a:t>
            </a:r>
            <a:endParaRPr lang="en-US" altLang="en-US"/>
          </a:p>
          <a:p>
            <a:r>
              <a:rPr lang="en-US" altLang="en-US"/>
              <a:t>   └────────────────────</a:t>
            </a:r>
            <a:endParaRPr lang="en-US" altLang="en-US"/>
          </a:p>
          <a:p>
            <a:r>
              <a:rPr lang="en-US" altLang="en-US"/>
              <a:t>      Time →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</a:t>
            </a:r>
            <a:r>
              <a:rPr lang="en-US" altLang="en-US"/>
              <a:t>ypes of IoT Reports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US" altLang="en-US"/>
              <a:t>1. Tabular Report</a:t>
            </a:r>
            <a:endParaRPr lang="en-US" altLang="en-US"/>
          </a:p>
          <a:p>
            <a:pPr lvl="1"/>
            <a:r>
              <a:rPr lang="en-US" altLang="en-US"/>
              <a:t>Data is represented in rows and columns.</a:t>
            </a:r>
            <a:endParaRPr lang="en-US" altLang="en-US"/>
          </a:p>
          <a:p>
            <a:r>
              <a:rPr lang="en-US" altLang="en-US"/>
              <a:t>2. Graphical Report</a:t>
            </a:r>
            <a:endParaRPr lang="en-US" altLang="en-US"/>
          </a:p>
          <a:p>
            <a:r>
              <a:rPr lang="en-US" altLang="en-US"/>
              <a:t>Data is represented using:</a:t>
            </a:r>
            <a:endParaRPr lang="en-US" altLang="en-US"/>
          </a:p>
          <a:p>
            <a:pPr lvl="1"/>
            <a:r>
              <a:rPr lang="en-US" altLang="en-US"/>
              <a:t>Line graphs</a:t>
            </a:r>
            <a:endParaRPr lang="en-US" altLang="en-US"/>
          </a:p>
          <a:p>
            <a:pPr lvl="1"/>
            <a:r>
              <a:rPr lang="en-US" altLang="en-US"/>
              <a:t>Bar charts</a:t>
            </a:r>
            <a:endParaRPr lang="en-US" altLang="en-US"/>
          </a:p>
          <a:p>
            <a:pPr lvl="1"/>
            <a:r>
              <a:rPr lang="en-US" altLang="en-US"/>
              <a:t>Pie charts</a:t>
            </a:r>
            <a:endParaRPr lang="en-US" altLang="en-US"/>
          </a:p>
          <a:p>
            <a:pPr lvl="1"/>
            <a:r>
              <a:rPr lang="en-US" altLang="en-US"/>
              <a:t>Area charts</a:t>
            </a:r>
            <a:endParaRPr lang="en-US" altLang="en-US"/>
          </a:p>
          <a:p>
            <a:r>
              <a:rPr lang="en-US" altLang="en-US"/>
              <a:t>3. Dashboard</a:t>
            </a:r>
            <a:endParaRPr lang="en-US" altLang="en-US"/>
          </a:p>
          <a:p>
            <a:pPr lvl="1"/>
            <a:r>
              <a:rPr lang="en-US" altLang="en-US"/>
              <a:t>A dashboard provides real-time or historical information in a single interface.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Summary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en-US" altLang="en-US" sz="1000"/>
              <a:t>Sensor</a:t>
            </a:r>
            <a:endParaRPr lang="en-US" altLang="en-US" sz="1000"/>
          </a:p>
          <a:p>
            <a:pPr marL="0" indent="0">
              <a:buNone/>
            </a:pPr>
            <a:r>
              <a:rPr lang="en-US" altLang="en-US" sz="1000"/>
              <a:t>  ↓</a:t>
            </a:r>
            <a:endParaRPr lang="en-US" altLang="en-US" sz="1000"/>
          </a:p>
          <a:p>
            <a:pPr marL="0" indent="0">
              <a:buNone/>
            </a:pPr>
            <a:r>
              <a:rPr lang="en-US" altLang="en-US" sz="1000"/>
              <a:t>IoT Device</a:t>
            </a:r>
            <a:endParaRPr lang="en-US" altLang="en-US" sz="1000"/>
          </a:p>
          <a:p>
            <a:pPr marL="0" indent="0">
              <a:buNone/>
            </a:pPr>
            <a:r>
              <a:rPr lang="en-US" altLang="en-US" sz="1000"/>
              <a:t>  ↓</a:t>
            </a:r>
            <a:endParaRPr lang="en-US" altLang="en-US" sz="1000"/>
          </a:p>
          <a:p>
            <a:pPr marL="0" indent="0">
              <a:buNone/>
            </a:pPr>
            <a:r>
              <a:rPr lang="en-US" altLang="en-US" sz="1000"/>
              <a:t>Data Collection</a:t>
            </a:r>
            <a:endParaRPr lang="en-US" altLang="en-US" sz="1000"/>
          </a:p>
          <a:p>
            <a:pPr marL="0" indent="0">
              <a:buNone/>
            </a:pPr>
            <a:r>
              <a:rPr lang="en-US" altLang="en-US" sz="1000"/>
              <a:t>  ↓</a:t>
            </a:r>
            <a:endParaRPr lang="en-US" altLang="en-US" sz="1000"/>
          </a:p>
          <a:p>
            <a:pPr marL="0" indent="0">
              <a:buNone/>
            </a:pPr>
            <a:r>
              <a:rPr lang="en-US" altLang="en-US" sz="1000"/>
              <a:t>Data Logging</a:t>
            </a:r>
            <a:endParaRPr lang="en-US" altLang="en-US" sz="1000"/>
          </a:p>
          <a:p>
            <a:pPr marL="0" indent="0">
              <a:buNone/>
            </a:pPr>
            <a:r>
              <a:rPr lang="en-US" altLang="en-US" sz="1000"/>
              <a:t>  ↓</a:t>
            </a:r>
            <a:endParaRPr lang="en-US" altLang="en-US" sz="1000"/>
          </a:p>
          <a:p>
            <a:pPr marL="0" indent="0">
              <a:buNone/>
            </a:pPr>
            <a:r>
              <a:rPr lang="en-US" altLang="en-US" sz="1000"/>
              <a:t>Database</a:t>
            </a:r>
            <a:endParaRPr lang="en-US" altLang="en-US" sz="1000"/>
          </a:p>
          <a:p>
            <a:pPr marL="0" indent="0">
              <a:buNone/>
            </a:pPr>
            <a:r>
              <a:rPr lang="en-US" altLang="en-US" sz="1000"/>
              <a:t>  ↓</a:t>
            </a:r>
            <a:endParaRPr lang="en-US" altLang="en-US" sz="1000"/>
          </a:p>
          <a:p>
            <a:pPr marL="0" indent="0">
              <a:buNone/>
            </a:pPr>
            <a:r>
              <a:rPr lang="en-US" altLang="en-US" sz="1000"/>
              <a:t>Data Processing</a:t>
            </a:r>
            <a:endParaRPr lang="en-US" altLang="en-US" sz="1000"/>
          </a:p>
          <a:p>
            <a:pPr marL="0" indent="0">
              <a:buNone/>
            </a:pPr>
            <a:r>
              <a:rPr lang="en-US" altLang="en-US" sz="1000"/>
              <a:t>  ↓</a:t>
            </a:r>
            <a:endParaRPr lang="en-US" altLang="en-US" sz="1000"/>
          </a:p>
          <a:p>
            <a:pPr marL="0" indent="0">
              <a:buNone/>
            </a:pPr>
            <a:r>
              <a:rPr lang="en-US" altLang="en-US" sz="1000"/>
              <a:t>Reporting</a:t>
            </a:r>
            <a:endParaRPr lang="en-US" altLang="en-US" sz="1000"/>
          </a:p>
          <a:p>
            <a:pPr marL="0" indent="0">
              <a:buNone/>
            </a:pPr>
            <a:r>
              <a:rPr lang="en-US" altLang="en-US" sz="1000"/>
              <a:t>  ↓</a:t>
            </a:r>
            <a:endParaRPr lang="en-US" altLang="en-US" sz="1000"/>
          </a:p>
          <a:p>
            <a:pPr marL="0" indent="0">
              <a:buNone/>
            </a:pPr>
            <a:r>
              <a:rPr lang="en-US" altLang="en-US" sz="1000"/>
              <a:t>Dashboard / User</a:t>
            </a:r>
            <a:endParaRPr lang="en-US" altLang="en-US" sz="1000"/>
          </a:p>
          <a:p>
            <a:endParaRPr lang="en-US" altLang="en-US" sz="1000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Thank You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Vraj Suratwala</a:t>
            </a:r>
            <a:endParaRPr lang="en-US"/>
          </a:p>
          <a:p>
            <a:r>
              <a:rPr lang="en-US"/>
              <a:t>Department of ICT, VNSGU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2303</Words>
  <Application>WPS Docs</Application>
  <PresentationFormat>Widescreen</PresentationFormat>
  <Paragraphs>131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SimSun</vt:lpstr>
      <vt:lpstr>Wingdings</vt:lpstr>
      <vt:lpstr>Wingdings</vt:lpstr>
      <vt:lpstr>Microsoft YaHei</vt:lpstr>
      <vt:lpstr>汉仪旗黑</vt:lpstr>
      <vt:lpstr>Arial Unicode MS</vt:lpstr>
      <vt:lpstr>Calibri</vt:lpstr>
      <vt:lpstr>Helvetica Neue</vt:lpstr>
      <vt:lpstr>宋体-简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Application with Data Logging and Reporting</dc:title>
  <dc:creator>suratwalavraj</dc:creator>
  <cp:lastModifiedBy>Vraj Suratwala</cp:lastModifiedBy>
  <cp:revision>3</cp:revision>
  <dcterms:created xsi:type="dcterms:W3CDTF">2026-09-20T18:44:10Z</dcterms:created>
  <dcterms:modified xsi:type="dcterms:W3CDTF">2026-09-20T18:44:10Z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1033-12.1.26015.26015</vt:lpwstr>
  </property>
  <property fmtid="{D5CDD505-2E9C-101B-9397-08002B2CF9AE}" pid="3" name="ICV">
    <vt:lpwstr>FDC4F7FC798A109CFC27B06A51DCAB3F_41</vt:lpwstr>
  </property>
</Properties>
</file>