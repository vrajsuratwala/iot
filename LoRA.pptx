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3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1.xml"/><Relationship Id="rId3" Type="http://schemas.openxmlformats.org/officeDocument/2006/relationships/image" Target="../media/image1.png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0.xml"/><Relationship Id="rId3" Type="http://schemas.openxmlformats.org/officeDocument/2006/relationships/image" Target="../media/image2.png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6.xml"/><Relationship Id="rId3" Type="http://schemas.openxmlformats.org/officeDocument/2006/relationships/image" Target="../media/image3.png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LoRa , LPWAN &amp; LoRaWAN 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Vraj Suratwala</a:t>
            </a:r>
            <a:br>
              <a:rPr lang="en-US"/>
            </a:br>
            <a:r>
              <a:rPr lang="en-US"/>
              <a:t>Department of ICT, VNSGU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What is LoRa 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LoRa® is a wireless modulation technology used for long-range communication.</a:t>
            </a:r>
            <a:endParaRPr lang="en-US" altLang="en-US"/>
          </a:p>
          <a:p>
            <a:r>
              <a:rPr lang="en-US" altLang="en-US"/>
              <a:t>Traditional wireless systems often use FSK (Frequency Shift Keying) because it provides low power consumption. LoRa® uses Chirp Spread Spectrum (CSS) modulation.</a:t>
            </a:r>
            <a:endParaRPr lang="en-US" altLang="en-US"/>
          </a:p>
          <a:p>
            <a:r>
              <a:rPr lang="en-US" altLang="en-US"/>
              <a:t>LoRa® provides low power consumption like FSK, but offers a much longer communication range. Chirp Spread Spectrum is also resistant to interference and has been used for many years in military and space communication.</a:t>
            </a:r>
            <a:endParaRPr lang="en-US" altLang="en-US"/>
          </a:p>
          <a:p>
            <a:r>
              <a:rPr lang="en-US" altLang="en-US"/>
              <a:t>In simple words:</a:t>
            </a:r>
            <a:endParaRPr lang="en-US" altLang="en-US"/>
          </a:p>
          <a:p>
            <a:r>
              <a:rPr lang="en-US" altLang="en-US"/>
              <a:t>LoRa = Low Power + Long Range + High Resistance to Interference</a:t>
            </a:r>
            <a:endParaRPr lang="en-US" altLang="en-US"/>
          </a:p>
          <a:p>
            <a:r>
              <a:rPr lang="en-US" altLang="en-US"/>
              <a:t>LoRa® made this long-range, interference-resistant technology low-cost and suitable for commercial IoT applications.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LoRa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en-US"/>
              <a:t>The main advantage of LoRa® is its very long communication range.</a:t>
            </a:r>
            <a:endParaRPr lang="en-US" altLang="en-US"/>
          </a:p>
          <a:p>
            <a:r>
              <a:rPr lang="en-US" altLang="en-US"/>
              <a:t>A single gateway or base station can cover an entire city or even hundreds of square kilometers.</a:t>
            </a:r>
            <a:endParaRPr lang="en-US" altLang="en-US"/>
          </a:p>
          <a:p>
            <a:r>
              <a:rPr lang="en-US" altLang="en-US"/>
              <a:t>However, the actual range depends on the environment and obstacles in the area. LoRa® and LoRaWAN™ have a very high link budget, which helps them achieve greater communication distances.</a:t>
            </a:r>
            <a:endParaRPr lang="en-US" altLang="en-US"/>
          </a:p>
          <a:p>
            <a:r>
              <a:rPr lang="en-US" altLang="en-US"/>
              <a:t>Link budget is usually measured in decibels (dB) and is an important factor in determining how far a wireless signal can travel.</a:t>
            </a:r>
            <a:endParaRPr lang="en-US" altLang="en-US"/>
          </a:p>
          <a:p>
            <a:r>
              <a:rPr lang="en-US" altLang="en-US"/>
              <a:t>Because LoRa® provides such a long range, large areas or even entire countries can be covered using relatively few gateways.</a:t>
            </a:r>
            <a:endParaRPr lang="en-US" altLang="en-US"/>
          </a:p>
          <a:p>
            <a:r>
              <a:rPr lang="en-US" altLang="en-US"/>
              <a:t>In simple words:</a:t>
            </a:r>
            <a:endParaRPr lang="en-US" altLang="en-US"/>
          </a:p>
          <a:p>
            <a:r>
              <a:rPr lang="en-US" altLang="en-US"/>
              <a:t>LoRa® → Very Long Range + Few Gateways + Large Area Coverage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Where Does LPWAN Fit?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LPWAN (Low Power Wide Area Network) is a wireless communication technology designed for IoT applications that need to send small amounts of data over long distances while consuming very little power.</a:t>
            </a:r>
            <a:endParaRPr lang="en-US" altLang="en-US"/>
          </a:p>
          <a:p>
            <a:r>
              <a:rPr lang="en-US" altLang="en-US"/>
              <a:t>No single wireless technology is suitable for every IoT application. Different technologies are used according to the range, data requirements and power availability of the application.</a:t>
            </a:r>
            <a:endParaRPr lang="en-US" altLang="en-US"/>
          </a:p>
          <a:p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586105"/>
            <a:ext cx="10968990" cy="5663565"/>
          </a:xfrm>
        </p:spPr>
        <p:txBody>
          <a:bodyPr/>
          <a:p>
            <a:r>
              <a:rPr lang="en-US" altLang="en-US" b="1">
                <a:latin typeface="Arial Bold" panose="020B0604020202090204" charset="0"/>
                <a:cs typeface="Arial Bold" panose="020B0604020202090204" charset="0"/>
                <a:sym typeface="+mn-ea"/>
              </a:rPr>
              <a:t>Technology		Best Suited For	Main Characteristic</a:t>
            </a:r>
            <a:endParaRPr lang="en-US" altLang="en-US" b="1"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altLang="en-US" b="1">
                <a:latin typeface="Arial Bold" panose="020B0604020202090204" charset="0"/>
                <a:cs typeface="Arial Bold" panose="020B0604020202090204" charset="0"/>
                <a:sym typeface="+mn-ea"/>
              </a:rPr>
              <a:t>Wi-Fi	</a:t>
            </a:r>
            <a:r>
              <a:rPr lang="en-US" altLang="en-US">
                <a:sym typeface="+mn-ea"/>
              </a:rPr>
              <a:t>		Personal devices 	</a:t>
            </a:r>
            <a:r>
              <a:rPr lang="en-US" altLang="en-US">
                <a:sym typeface="+mn-ea"/>
              </a:rPr>
              <a:t>Widely adopted for personal connectivity</a:t>
            </a:r>
            <a:br>
              <a:rPr lang="en-US" altLang="en-US">
                <a:sym typeface="+mn-ea"/>
              </a:rPr>
            </a:br>
            <a:r>
              <a:rPr lang="en-US" altLang="en-US">
                <a:sym typeface="+mn-ea"/>
              </a:rPr>
              <a:t>			and local networks	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Bluetooth Low 	</a:t>
            </a:r>
            <a:r>
              <a:rPr lang="en-US" altLang="en-US">
                <a:sym typeface="+mn-ea"/>
              </a:rPr>
              <a:t>Personal devices and 	Low-power personal-device communication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  Energy (BTLE)	short-range communi</a:t>
            </a:r>
            <a:br>
              <a:rPr lang="en-US" altLang="en-US">
                <a:sym typeface="+mn-ea"/>
              </a:rPr>
            </a:br>
            <a:r>
              <a:rPr lang="en-US" altLang="en-US">
                <a:sym typeface="+mn-ea"/>
              </a:rPr>
              <a:t>			cation</a:t>
            </a:r>
            <a:br>
              <a:rPr lang="en-US" altLang="en-US">
                <a:sym typeface="+mn-ea"/>
              </a:rPr>
            </a:br>
            <a:r>
              <a:rPr lang="en-US" altLang="en-US">
                <a:sym typeface="+mn-ea"/>
              </a:rPr>
              <a:t>		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Cellular		Applications requiring </a:t>
            </a:r>
            <a:br>
              <a:rPr lang="en-US" altLang="en-US">
                <a:sym typeface="+mn-ea"/>
              </a:rPr>
            </a:br>
            <a:r>
              <a:rPr lang="en-US" altLang="en-US">
                <a:sym typeface="+mn-ea"/>
              </a:rPr>
              <a:t>			high data throughput	Suitable when a power source is available</a:t>
            </a:r>
            <a:endParaRPr lang="en-US" altLang="en-US"/>
          </a:p>
          <a:p>
            <a:r>
              <a:rPr lang="en-US" altLang="en-US">
                <a:sym typeface="+mn-ea"/>
              </a:rPr>
              <a:t>LPWAN		Long-range IoT </a:t>
            </a:r>
            <a:br>
              <a:rPr lang="en-US" altLang="en-US">
                <a:sym typeface="+mn-ea"/>
              </a:rPr>
            </a:br>
            <a:r>
              <a:rPr lang="en-US" altLang="en-US">
                <a:sym typeface="+mn-ea"/>
              </a:rPr>
              <a:t>			sensors		Low power, long range and small data 						transmission</a:t>
            </a:r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397510"/>
            <a:ext cx="10968990" cy="5852160"/>
          </a:xfrm>
        </p:spPr>
        <p:txBody>
          <a:bodyPr/>
          <a:p>
            <a:r>
              <a:rPr lang="en-US" altLang="en-US" sz="2400"/>
              <a:t>Why LPWAN is Important</a:t>
            </a:r>
            <a:endParaRPr lang="en-US" altLang="en-US" sz="2400"/>
          </a:p>
          <a:p>
            <a:pPr lvl="1"/>
            <a:r>
              <a:rPr lang="en-US" altLang="en-US" sz="2000"/>
              <a:t>LPWAN is designed for sensors and IoT applications that:</a:t>
            </a:r>
            <a:endParaRPr lang="en-US" altLang="en-US" sz="2000"/>
          </a:p>
          <a:p>
            <a:pPr lvl="1"/>
            <a:r>
              <a:rPr lang="en-US" altLang="en-US" sz="2000"/>
              <a:t>Need long communication distances</a:t>
            </a:r>
            <a:endParaRPr lang="en-US" altLang="en-US" sz="2000"/>
          </a:p>
          <a:p>
            <a:pPr lvl="1"/>
            <a:r>
              <a:rPr lang="en-US" altLang="en-US" sz="2000"/>
              <a:t>Send small amounts of data</a:t>
            </a:r>
            <a:endParaRPr lang="en-US" altLang="en-US" sz="2000"/>
          </a:p>
          <a:p>
            <a:pPr lvl="1"/>
            <a:r>
              <a:rPr lang="en-US" altLang="en-US" sz="2000"/>
              <a:t>Transmit data a few times per hour</a:t>
            </a:r>
            <a:endParaRPr lang="en-US" altLang="en-US" sz="2000"/>
          </a:p>
          <a:p>
            <a:pPr lvl="1"/>
            <a:r>
              <a:rPr lang="en-US" altLang="en-US" sz="2000"/>
              <a:t>Require multi-year battery life</a:t>
            </a:r>
            <a:endParaRPr lang="en-US" altLang="en-US" sz="2000"/>
          </a:p>
          <a:p>
            <a:pPr lvl="1"/>
            <a:r>
              <a:rPr lang="en-US" altLang="en-US" sz="2000"/>
              <a:t>Operate in different environments</a:t>
            </a:r>
            <a:endParaRPr lang="en-US" altLang="en-US" sz="2000"/>
          </a:p>
          <a:p>
            <a:r>
              <a:rPr lang="en-US" altLang="en-US" sz="2400"/>
              <a:t>Simple Example</a:t>
            </a:r>
            <a:endParaRPr lang="en-US" altLang="en-US" sz="2400"/>
          </a:p>
          <a:p>
            <a:pPr lvl="1"/>
            <a:r>
              <a:rPr lang="en-US" altLang="en-US" sz="2000"/>
              <a:t>Imagine a smart agriculture system with sensors placed across a large farm.</a:t>
            </a:r>
            <a:endParaRPr lang="en-US" altLang="en-US" sz="2000"/>
          </a:p>
          <a:p>
            <a:pPr lvl="1"/>
            <a:r>
              <a:rPr lang="en-US" altLang="en-US" sz="2000"/>
              <a:t>The sensors may send temperature or soil-moisture readings only a few times per hour. They do not need to transmit large amounts of data, but they need to communicate over long distances while running on batteries.</a:t>
            </a:r>
            <a:endParaRPr lang="en-US" altLang="en-US" sz="2000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Basic Understanding Diagram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12495" y="1490345"/>
            <a:ext cx="991235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The most critical factors in a LPWAN are: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•	 Network architecture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	 Communication range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	 Battery lifetime or low power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	 Robustness to interference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	 Network capacity (maximum number of nodes in a network)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	 Network security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	 One-way vs two-way communication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	 Variety of applications served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WHAT IS LoRaWAN 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LoRaWAN™ defines the communication protocol and system architecture for the </a:t>
            </a:r>
            <a:endParaRPr lang="en-US" altLang="en-US"/>
          </a:p>
          <a:p>
            <a:r>
              <a:rPr lang="en-US" altLang="en-US"/>
              <a:t>network while the LoRa® physical layer enables the long-range communication link. </a:t>
            </a:r>
            <a:endParaRPr lang="en-US" altLang="en-US"/>
          </a:p>
          <a:p>
            <a:r>
              <a:rPr lang="en-US" altLang="en-US"/>
              <a:t>The protocol and network architecture have the most influence in determining the </a:t>
            </a:r>
            <a:endParaRPr lang="en-US" altLang="en-US"/>
          </a:p>
          <a:p>
            <a:r>
              <a:rPr lang="en-US" altLang="en-US"/>
              <a:t>battery lifetime of a node, the network capacity, the quality of service, the security, </a:t>
            </a:r>
            <a:endParaRPr lang="en-US" altLang="en-US"/>
          </a:p>
          <a:p>
            <a:r>
              <a:rPr lang="en-US" altLang="en-US"/>
              <a:t>and the variety of applications served by the network.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Architecture 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36015" y="1490345"/>
            <a:ext cx="991235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Network Architecture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Many existing deployed networks utilize a mesh network architecture. In a mesh </a:t>
            </a:r>
            <a:endParaRPr lang="en-US" altLang="en-US"/>
          </a:p>
          <a:p>
            <a:r>
              <a:rPr lang="en-US" altLang="en-US"/>
              <a:t>network, the individual end-nodes forward the information of other nodes to </a:t>
            </a:r>
            <a:endParaRPr lang="en-US" altLang="en-US"/>
          </a:p>
          <a:p>
            <a:r>
              <a:rPr lang="en-US" altLang="en-US"/>
              <a:t>increase the communication range and cell size of the network. While this increases </a:t>
            </a:r>
            <a:endParaRPr lang="en-US" altLang="en-US"/>
          </a:p>
          <a:p>
            <a:r>
              <a:rPr lang="en-US" altLang="en-US"/>
              <a:t>the range, it also adds complexity, reduces network capacity, and reduces battery </a:t>
            </a:r>
            <a:endParaRPr lang="en-US" altLang="en-US"/>
          </a:p>
          <a:p>
            <a:r>
              <a:rPr lang="en-US" altLang="en-US"/>
              <a:t>lifetime as nodes receive and forward information from other nodes that is likely </a:t>
            </a:r>
            <a:endParaRPr lang="en-US" altLang="en-US"/>
          </a:p>
          <a:p>
            <a:r>
              <a:rPr lang="en-US" altLang="en-US"/>
              <a:t>irrelevant for them. Long range star architecture makes the most sense for preserving </a:t>
            </a:r>
            <a:endParaRPr lang="en-US" altLang="en-US"/>
          </a:p>
          <a:p>
            <a:r>
              <a:rPr lang="en-US" altLang="en-US"/>
              <a:t>battery lifetime when long-range connectivity can be achieved.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Networked Architecture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59865" y="1490345"/>
            <a:ext cx="9264650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Important Features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400" b="1">
                <a:latin typeface="Arial Bold" panose="020B0604020202090204" charset="0"/>
                <a:cs typeface="Arial Bold" panose="020B0604020202090204" charset="0"/>
              </a:rPr>
              <a:t>1. Network Architecture</a:t>
            </a:r>
            <a:endParaRPr lang="en-US" altLang="en-US" sz="2400" b="1">
              <a:latin typeface="Arial Bold" panose="020B0604020202090204" charset="0"/>
              <a:cs typeface="Arial Bold" panose="020B0604020202090204" charset="0"/>
            </a:endParaRPr>
          </a:p>
          <a:p>
            <a:pPr lvl="1"/>
            <a:r>
              <a:rPr lang="en-US" altLang="en-US" sz="2000"/>
              <a:t>In LoRaWAN, a node is not connected to one specific gateway. Its data can be received by multiple gateways. The gateways forward the data to a cloud-based network server, which:</a:t>
            </a:r>
            <a:endParaRPr lang="en-US" altLang="en-US" sz="2000"/>
          </a:p>
          <a:p>
            <a:pPr lvl="1"/>
            <a:r>
              <a:rPr lang="en-US" altLang="en-US" sz="2000"/>
              <a:t>Removes duplicate packets</a:t>
            </a:r>
            <a:endParaRPr lang="en-US" altLang="en-US" sz="2000"/>
          </a:p>
          <a:p>
            <a:pPr lvl="1"/>
            <a:r>
              <a:rPr lang="en-US" altLang="en-US" sz="2000"/>
              <a:t>Performs security checks</a:t>
            </a:r>
            <a:endParaRPr lang="en-US" altLang="en-US" sz="2000"/>
          </a:p>
          <a:p>
            <a:pPr lvl="1"/>
            <a:r>
              <a:rPr lang="en-US" altLang="en-US" sz="2000"/>
              <a:t>Selects the suitable gateway for acknowledgements</a:t>
            </a:r>
            <a:endParaRPr lang="en-US" altLang="en-US" sz="2000"/>
          </a:p>
          <a:p>
            <a:pPr lvl="1"/>
            <a:r>
              <a:rPr lang="en-US" altLang="en-US" sz="2000"/>
              <a:t>Manages adaptive data rate</a:t>
            </a:r>
            <a:endParaRPr lang="en-US" altLang="en-US" sz="2000"/>
          </a:p>
          <a:p>
            <a:r>
              <a:rPr lang="en-US" altLang="en-US" sz="2400"/>
              <a:t>For mobile nodes, gateway-to-gateway handover is not required, making LoRaWAN suitable for asset tracking</a:t>
            </a:r>
            <a:endParaRPr lang="en-US" altLang="en-US" sz="2400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374015"/>
            <a:ext cx="10968990" cy="6227445"/>
          </a:xfrm>
        </p:spPr>
        <p:txBody>
          <a:bodyPr>
            <a:normAutofit fontScale="90000"/>
          </a:bodyPr>
          <a:p>
            <a:r>
              <a:rPr lang="en-US" altLang="en-US" b="1">
                <a:latin typeface="Arial Bold" panose="020B0604020202090204" charset="0"/>
                <a:cs typeface="Arial Bold" panose="020B0604020202090204" charset="0"/>
              </a:rPr>
              <a:t>2. Battery Lifetime</a:t>
            </a:r>
            <a:endParaRPr lang="en-US" altLang="en-US" b="1"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altLang="en-US"/>
              <a:t>LoRaWAN uses an asynchronous ALOHA-type communication method. Devices transmit only when they have data instead of continuously waking up to synchronize with the network.</a:t>
            </a:r>
            <a:endParaRPr lang="en-US" altLang="en-US"/>
          </a:p>
          <a:p>
            <a:r>
              <a:rPr lang="en-US" altLang="en-US"/>
              <a:t>This significantly reduces power consumption and provides long battery life.</a:t>
            </a:r>
            <a:endParaRPr lang="en-US" altLang="en-US"/>
          </a:p>
          <a:p>
            <a:pPr lvl="1"/>
            <a:r>
              <a:rPr lang="en-US" altLang="en-US"/>
              <a:t>LoRaWAN → Low synchronization → Low power → Long battery life</a:t>
            </a:r>
            <a:endParaRPr lang="en-US" altLang="en-US"/>
          </a:p>
          <a:p>
            <a:r>
              <a:rPr lang="en-US" altLang="en-US" b="1">
                <a:latin typeface="Arial Bold" panose="020B0604020202090204" charset="0"/>
                <a:cs typeface="Arial Bold" panose="020B0604020202090204" charset="0"/>
              </a:rPr>
              <a:t>3. Network Capacity</a:t>
            </a:r>
            <a:endParaRPr lang="en-US" altLang="en-US" b="1"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altLang="en-US"/>
              <a:t>LoRaWAN can support a large number of nodes.</a:t>
            </a:r>
            <a:endParaRPr lang="en-US" altLang="en-US"/>
          </a:p>
          <a:p>
            <a:r>
              <a:rPr lang="en-US" altLang="en-US"/>
              <a:t>It uses:</a:t>
            </a:r>
            <a:endParaRPr lang="en-US" altLang="en-US"/>
          </a:p>
          <a:p>
            <a:pPr lvl="1"/>
            <a:r>
              <a:rPr lang="en-US" altLang="en-US"/>
              <a:t>Adaptive Data Rate (ADR)</a:t>
            </a:r>
            <a:endParaRPr lang="en-US" altLang="en-US"/>
          </a:p>
          <a:p>
            <a:pPr lvl="1"/>
            <a:r>
              <a:rPr lang="en-US" altLang="en-US"/>
              <a:t>Multiple channels</a:t>
            </a:r>
            <a:endParaRPr lang="en-US" altLang="en-US"/>
          </a:p>
          <a:p>
            <a:pPr lvl="1"/>
            <a:r>
              <a:rPr lang="en-US" altLang="en-US"/>
              <a:t>Multi-modem gateways</a:t>
            </a:r>
            <a:endParaRPr lang="en-US" altLang="en-US"/>
          </a:p>
          <a:p>
            <a:pPr lvl="1"/>
            <a:r>
              <a:rPr lang="en-US" altLang="en-US"/>
              <a:t>Different spreading factors</a:t>
            </a:r>
            <a:endParaRPr lang="en-US" altLang="en-US"/>
          </a:p>
          <a:p>
            <a:pPr lvl="1"/>
            <a:r>
              <a:rPr lang="en-US" altLang="en-US"/>
              <a:t>ADR allows nearby devices with good connectivity to use a higher data rate, reducing transmission time and leaving more capacity for other devices.</a:t>
            </a:r>
            <a:endParaRPr lang="en-US" altLang="en-US"/>
          </a:p>
          <a:p>
            <a:r>
              <a:rPr lang="en-US" altLang="en-US"/>
              <a:t>Therefore, LoRaWAN networks are scalable—additional gateways can be added when more capacity is required.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479425"/>
            <a:ext cx="10968990" cy="5770245"/>
          </a:xfrm>
        </p:spPr>
        <p:txBody>
          <a:bodyPr>
            <a:normAutofit fontScale="90000"/>
          </a:bodyPr>
          <a:p>
            <a:r>
              <a:rPr lang="en-US" altLang="en-US"/>
              <a:t>4. Device Classes</a:t>
            </a:r>
            <a:endParaRPr lang="en-US" altLang="en-US"/>
          </a:p>
          <a:p>
            <a:r>
              <a:rPr lang="en-US" altLang="en-US"/>
              <a:t>LoRaWAN has three device classes based on the trade-off between battery life and downlink latency:</a:t>
            </a:r>
            <a:endParaRPr lang="en-US" altLang="en-US"/>
          </a:p>
          <a:p>
            <a:r>
              <a:rPr lang="en-US" altLang="en-US" b="1">
                <a:latin typeface="Arial Bold" panose="020B0604020202090204" charset="0"/>
                <a:cs typeface="Arial Bold" panose="020B0604020202090204" charset="0"/>
              </a:rPr>
              <a:t>Class	Main Feature						Battery</a:t>
            </a:r>
            <a:endParaRPr lang="en-US" altLang="en-US"/>
          </a:p>
          <a:p>
            <a:r>
              <a:rPr lang="en-US" altLang="en-US"/>
              <a:t>Class A	Downlink only after uplink transmission		Highest efficiency</a:t>
            </a:r>
            <a:endParaRPr lang="en-US" altLang="en-US"/>
          </a:p>
          <a:p>
            <a:r>
              <a:rPr lang="en-US" altLang="en-US"/>
              <a:t>Class B	Scheduled receive windows using gateway beacon	Moderate</a:t>
            </a:r>
            <a:endParaRPr lang="en-US" altLang="en-US"/>
          </a:p>
          <a:p>
            <a:r>
              <a:rPr lang="en-US" altLang="en-US"/>
              <a:t>Class C	Almost continuously listening				Highest power 										consumption</a:t>
            </a:r>
            <a:endParaRPr lang="en-US" altLang="en-US"/>
          </a:p>
          <a:p>
            <a:endParaRPr lang="en-US" altLang="en-US"/>
          </a:p>
          <a:p>
            <a:r>
              <a:rPr lang="en-US" altLang="en-US" b="1">
                <a:latin typeface="Arial Bold" panose="020B0604020202090204" charset="0"/>
                <a:cs typeface="Arial Bold" panose="020B0604020202090204" charset="0"/>
              </a:rPr>
              <a:t>5. Security</a:t>
            </a:r>
            <a:endParaRPr lang="en-US" altLang="en-US" b="1">
              <a:latin typeface="Arial Bold" panose="020B0604020202090204" charset="0"/>
              <a:cs typeface="Arial Bold" panose="020B0604020202090204" charset="0"/>
            </a:endParaRPr>
          </a:p>
          <a:p>
            <a:r>
              <a:rPr lang="en-US" altLang="en-US"/>
              <a:t>LoRaWAN provides two layers of security:</a:t>
            </a:r>
            <a:endParaRPr lang="en-US" altLang="en-US"/>
          </a:p>
          <a:p>
            <a:pPr lvl="1"/>
            <a:r>
              <a:rPr lang="en-US" altLang="en-US"/>
              <a:t>Network security → Ensures the authenticity of the device/node.</a:t>
            </a:r>
            <a:endParaRPr lang="en-US" altLang="en-US"/>
          </a:p>
          <a:p>
            <a:pPr lvl="1"/>
            <a:r>
              <a:rPr lang="en-US" altLang="en-US"/>
              <a:t>Application security → Protects application data from unauthorized access by the network operator.</a:t>
            </a:r>
            <a:endParaRPr lang="en-US" altLang="en-US"/>
          </a:p>
          <a:p>
            <a:r>
              <a:rPr lang="en-US" altLang="en-US"/>
              <a:t>It uses AES encryption for security.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Thank You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5951</Words>
  <Application>WPS Presentation</Application>
  <PresentationFormat>Widescreen</PresentationFormat>
  <Paragraphs>124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Arial Bold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 , LPWAN &amp; LoRaWAN </dc:title>
  <dc:creator>suratwalavraj</dc:creator>
  <cp:lastModifiedBy>Vraj Suratwala</cp:lastModifiedBy>
  <cp:revision>15</cp:revision>
  <dcterms:created xsi:type="dcterms:W3CDTF">2026-09-05T17:12:07Z</dcterms:created>
  <dcterms:modified xsi:type="dcterms:W3CDTF">2026-09-05T17:12:07Z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3B75AB3FC181BA2141469C6A6C8D6CC9_41</vt:lpwstr>
  </property>
</Properties>
</file>