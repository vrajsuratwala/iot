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1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2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3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9.xml"/><Relationship Id="rId3" Type="http://schemas.openxmlformats.org/officeDocument/2006/relationships/image" Target="../media/image4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CoAP Protocol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Vraj Suratwala</a:t>
            </a:r>
            <a:endParaRPr lang="en-US"/>
          </a:p>
          <a:p>
            <a:r>
              <a:rPr lang="en-US"/>
              <a:t>Department of ICT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Introduction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en-US" altLang="en-US"/>
              <a:t>Constrained Application Protocol (CoAP) is a specialized, lightweight web transfer protocol designed by the IETF (RFC 7252 / RFC 7228) specifically for resource-constrained IoT devices and networks. It brings standard RESTful web architecture to low-power, lossy environments.</a:t>
            </a:r>
            <a:endParaRPr lang="en-US" altLang="en-US"/>
          </a:p>
          <a:p>
            <a:r>
              <a:rPr lang="en-US" altLang="en-US"/>
              <a:t>Core Features &amp; Key Metrics</a:t>
            </a:r>
            <a:endParaRPr lang="en-US" altLang="en-US"/>
          </a:p>
          <a:p>
            <a:pPr lvl="1"/>
            <a:r>
              <a:rPr lang="en-US" altLang="en-US"/>
              <a:t>ransport: Operates over UDP (Port 5683 for standard, 5684 for DTLS secured) instead of TCP.  </a:t>
            </a:r>
            <a:endParaRPr lang="en-US" altLang="en-US"/>
          </a:p>
          <a:p>
            <a:pPr lvl="1"/>
            <a:r>
              <a:rPr lang="en-US" altLang="en-US"/>
              <a:t>Efficiency: Features a fixed 4-byte header, making header sizes up to 10× smaller than traditional HTTP headers.  </a:t>
            </a:r>
            <a:endParaRPr lang="en-US" altLang="en-US"/>
          </a:p>
          <a:p>
            <a:pPr lvl="1"/>
            <a:r>
              <a:rPr lang="en-US" altLang="en-US"/>
              <a:t>Performance Impact: Demonstrates up to 64x better performance and significantly lower power consumption compared to HTTP: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Difference Between COAP &amp; HTTP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48665" y="1517015"/>
            <a:ext cx="9580880" cy="26365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Protocol Architecture &amp; Two-Layer Structure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CoAP abstracts web functionality into two layers running over UDP:  </a:t>
            </a:r>
            <a:endParaRPr lang="en-US" altLang="en-US"/>
          </a:p>
          <a:p>
            <a:r>
              <a:rPr lang="en-US" altLang="en-US"/>
              <a:t>Transaction Layer: Manages single message exchanges, asynchronous messaging, congestion control via retransmissions, and multicasting.  </a:t>
            </a:r>
            <a:endParaRPr lang="en-US" altLang="en-US"/>
          </a:p>
          <a:p>
            <a:r>
              <a:rPr lang="en-US" altLang="en-US"/>
              <a:t>Request/Response Layer: Handles RESTful methods (GET, POST, PUT, DELETE) and response mapping. REST payload data is piggybacked inside transactional messages.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050" y="3723005"/>
            <a:ext cx="9613900" cy="30099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Four Basic Message Types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 lnSpcReduction="10000"/>
          </a:bodyPr>
          <a:p>
            <a:r>
              <a:rPr lang="en-US" altLang="en-US"/>
              <a:t>Because UDP lacks built-in reliability, CoAP introduces four distinct message types at the transaction layer to manage message delivery:  </a:t>
            </a:r>
            <a:endParaRPr lang="en-US" altLang="en-US"/>
          </a:p>
          <a:p>
            <a:r>
              <a:rPr lang="en-US" altLang="en-US"/>
              <a:t>Confirmable (CON): Requires an explicit Acknowledgment (ACK). If no ACK is received within a timeout period (ACK_TIMEOUT), exponential backoff retransmission occurs up to MAX_RETRANSMIT times.  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Non-Confirmable (NON): Reliable delivery is not required ("fire-and-forget" or broadcasts).  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Acknowledgement (ACK): Confirms receipt of a CON message; can piggyback data responses directly inside.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</a:t>
            </a:r>
            <a:endParaRPr lang="en-US" altLang="en-US"/>
          </a:p>
          <a:p>
            <a:r>
              <a:rPr lang="en-US" altLang="en-US"/>
              <a:t>Reset (RST): Sent when a CON message is received but context or processing capability is missing.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CoAP Key Architectural Actors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Endpoints: Message sources and destinations.  </a:t>
            </a:r>
            <a:endParaRPr lang="en-US" altLang="en-US"/>
          </a:p>
          <a:p>
            <a:r>
              <a:rPr lang="en-US" altLang="en-US"/>
              <a:t>Proxies (Intermediaries): Perform protocol translation (e.g., Cross-proxying between CoAP and standard HTTP/cloud services) or caching to allow sleeping edge nodes to conserve power.  </a:t>
            </a:r>
            <a:endParaRPr lang="en-US" altLang="en-US"/>
          </a:p>
          <a:p>
            <a:r>
              <a:rPr lang="en-US" altLang="en-US"/>
              <a:t>Observers: Clients that register interest in a resource using a modified GET request. The server automatically sends notifications to observers whenever the resource state updates (similar to the MQTT publish/subscribe model)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Message Structure &amp; REST Mapping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U</a:t>
            </a:r>
            <a:r>
              <a:rPr lang="en-US" altLang="en-US"/>
              <a:t>RI Scheme: Uses coap://host:port/path?query or coaps:// for DTLS security.</a:t>
            </a:r>
            <a:endParaRPr lang="en-US" altLang="en-US"/>
          </a:p>
          <a:p>
            <a:r>
              <a:rPr lang="en-US" altLang="en-US"/>
              <a:t>Response Codes: Maps HTTP-style status codes into a compact binary format (e.g., 2.01 Created, 2.04 Changed, 2.05 Content, 4.04 Not Found).</a:t>
            </a:r>
            <a:endParaRPr lang="en-US" altLang="en-US"/>
          </a:p>
          <a:p>
            <a:r>
              <a:rPr lang="en-US" altLang="en-US"/>
              <a:t>Resource Discovery: Exposes resources natively through a GET request to /.well-known/core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608330"/>
            <a:ext cx="11184890" cy="54375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COAP REQUEST-RESPONSE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26770" y="1606550"/>
            <a:ext cx="10544810" cy="39979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Thank You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Vraj Suratwala</a:t>
            </a:r>
            <a:endParaRPr lang="en-US"/>
          </a:p>
          <a:p>
            <a:r>
              <a:rPr lang="en-US"/>
              <a:t>Department of ICT, VNSGU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2661</Words>
  <Application>WPS Presentation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Wingdings</vt:lpstr>
      <vt:lpstr>Microsoft YaHei</vt:lpstr>
      <vt:lpstr>汉仪旗黑</vt:lpstr>
      <vt:lpstr>Arial Unicode MS</vt:lpstr>
      <vt:lpstr>Calibri</vt:lpstr>
      <vt:lpstr>Helvetica Neue</vt:lpstr>
      <vt:lpstr>宋体-简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COAP Protocol</dc:title>
  <dc:creator>suratwalavraj</dc:creator>
  <cp:lastModifiedBy>Vraj Suratwala</cp:lastModifiedBy>
  <cp:revision>4</cp:revision>
  <dcterms:created xsi:type="dcterms:W3CDTF">2026-09-05T20:04:22Z</dcterms:created>
  <dcterms:modified xsi:type="dcterms:W3CDTF">2026-09-05T20:04:22Z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3F594E674FB1918092739C6ADC7E447F_41</vt:lpwstr>
  </property>
</Properties>
</file>