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68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Data Management System for IoT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SQLite Database Introduction</a:t>
            </a:r>
            <a:endParaRPr lang="en-US"/>
          </a:p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SQLite is a lightweight, open-source, serverless, self-contained, and relational database management system (RDBMS). It stores the complete database in a single file on the device and does not require a separate database server.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SQLite is widely used in IoT devices, embedded systems, mobile applications, desktop applications, and small-scale applications where a simple and low-resource database is required.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Features of SQLite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0345"/>
            <a:ext cx="10515600" cy="4686935"/>
          </a:xfrm>
        </p:spPr>
        <p:txBody>
          <a:bodyPr>
            <a:normAutofit fontScale="75000"/>
          </a:bodyPr>
          <a:p>
            <a:r>
              <a:rPr lang="en-US" altLang="en-US"/>
              <a:t>Serverless</a:t>
            </a:r>
            <a:endParaRPr lang="en-US" altLang="en-US"/>
          </a:p>
          <a:p>
            <a:pPr lvl="1"/>
            <a:r>
              <a:rPr lang="en-US" altLang="en-US"/>
              <a:t>SQLite does not require a separate database server such as MySQL or PostgreSQL.</a:t>
            </a:r>
            <a:endParaRPr lang="en-US" altLang="en-US"/>
          </a:p>
          <a:p>
            <a:pPr lvl="1"/>
            <a:r>
              <a:rPr lang="en-US" altLang="en-US"/>
              <a:t>The application directly reads and writes the database file.</a:t>
            </a:r>
            <a:endParaRPr lang="en-US" altLang="en-US"/>
          </a:p>
          <a:p>
            <a:pPr lvl="0"/>
            <a:r>
              <a:rPr lang="en-US" altLang="en-US"/>
              <a:t>Lightweight</a:t>
            </a:r>
            <a:endParaRPr lang="en-US" altLang="en-US"/>
          </a:p>
          <a:p>
            <a:pPr lvl="1"/>
            <a:r>
              <a:rPr lang="en-US" altLang="en-US"/>
              <a:t>SQLite has a very small footprint and requires fewer system resources such as RAM, CPU, and storage. Therefore, it is suitable for resource-constrained IoT devices.</a:t>
            </a:r>
            <a:endParaRPr lang="en-US" altLang="en-US"/>
          </a:p>
          <a:p>
            <a:pPr lvl="0"/>
            <a:r>
              <a:rPr lang="en-US" altLang="en-US"/>
              <a:t>Self-Contained</a:t>
            </a:r>
            <a:endParaRPr lang="en-US" altLang="en-US"/>
          </a:p>
          <a:p>
            <a:pPr lvl="1"/>
            <a:r>
              <a:rPr lang="en-US" altLang="en-US"/>
              <a:t>SQLite contains all the necessary database functionality within the SQLite library itself. It does not depend on external database software.</a:t>
            </a:r>
            <a:endParaRPr lang="en-US" altLang="en-US"/>
          </a:p>
          <a:p>
            <a:pPr lvl="0"/>
            <a:r>
              <a:rPr lang="en-US" altLang="en-US"/>
              <a:t>Single Database File</a:t>
            </a:r>
            <a:endParaRPr lang="en-US" altLang="en-US"/>
          </a:p>
          <a:p>
            <a:pPr lvl="1"/>
            <a:r>
              <a:rPr lang="en-US" altLang="en-US"/>
              <a:t>The entire database—including tables, indexes, and data—is generally stored in a single file.</a:t>
            </a:r>
            <a:endParaRPr lang="en-US" altLang="en-US"/>
          </a:p>
          <a:p>
            <a:pPr lvl="1"/>
            <a:r>
              <a:rPr lang="en-US" altLang="en-US"/>
              <a:t>For example:iot_database.db</a:t>
            </a:r>
            <a:endParaRPr lang="en-US" altLang="en-US"/>
          </a:p>
          <a:p>
            <a:pPr lvl="1"/>
            <a:r>
              <a:rPr lang="en-US" altLang="en-US"/>
              <a:t>This makes database management, backup, and transfer easy.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Features of SQLite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Zero Configuration</a:t>
            </a:r>
            <a:endParaRPr lang="en-US" altLang="en-US"/>
          </a:p>
          <a:p>
            <a:pPr lvl="1"/>
            <a:r>
              <a:rPr lang="en-US" altLang="en-US"/>
              <a:t>SQLite does not require complicated installation, configuration, or administration of a database server.</a:t>
            </a:r>
            <a:endParaRPr lang="en-US" altLang="en-US"/>
          </a:p>
          <a:p>
            <a:r>
              <a:rPr lang="en-US" altLang="en-US"/>
              <a:t>Supports SQL</a:t>
            </a:r>
            <a:endParaRPr lang="en-US" altLang="en-US"/>
          </a:p>
          <a:p>
            <a:pPr lvl="1"/>
            <a:r>
              <a:rPr lang="en-US" altLang="en-US"/>
              <a:t>SQLite supports SQL (Structured Query Language) for creating, inserting, updating, deleting, and retrieving data.</a:t>
            </a:r>
            <a:endParaRPr lang="en-US" altLang="en-US"/>
          </a:p>
          <a:p>
            <a:pPr lvl="1"/>
            <a:r>
              <a:rPr lang="en-US" altLang="en-US"/>
              <a:t>Example:</a:t>
            </a:r>
            <a:endParaRPr lang="en-US" altLang="en-US"/>
          </a:p>
          <a:p>
            <a:pPr lvl="1"/>
            <a:r>
              <a:rPr lang="en-US" altLang="en-US"/>
              <a:t>CREATE TABLE Sensor (</a:t>
            </a:r>
            <a:endParaRPr lang="en-US" altLang="en-US"/>
          </a:p>
          <a:p>
            <a:pPr lvl="1"/>
            <a:r>
              <a:rPr lang="en-US" altLang="en-US"/>
              <a:t>    id INTEGER,</a:t>
            </a:r>
            <a:endParaRPr lang="en-US" altLang="en-US"/>
          </a:p>
          <a:p>
            <a:pPr lvl="1"/>
            <a:r>
              <a:rPr lang="en-US" altLang="en-US"/>
              <a:t>    temperature REAL</a:t>
            </a:r>
            <a:endParaRPr lang="en-US" altLang="en-US"/>
          </a:p>
          <a:p>
            <a:pPr lvl="1"/>
            <a:r>
              <a:rPr lang="en-US" altLang="en-US"/>
              <a:t>);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Features of  SQLite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Cross-Platform</a:t>
            </a:r>
            <a:endParaRPr lang="en-US" altLang="en-US"/>
          </a:p>
          <a:p>
            <a:pPr lvl="1"/>
            <a:r>
              <a:rPr lang="en-US" altLang="en-US"/>
              <a:t>SQLite can be used on different operating systems and platforms such as:</a:t>
            </a:r>
            <a:endParaRPr lang="en-US" altLang="en-US"/>
          </a:p>
          <a:p>
            <a:pPr lvl="1"/>
            <a:r>
              <a:rPr lang="en-US" altLang="en-US"/>
              <a:t>Windows</a:t>
            </a:r>
            <a:endParaRPr lang="en-US" altLang="en-US"/>
          </a:p>
          <a:p>
            <a:pPr lvl="1"/>
            <a:r>
              <a:rPr lang="en-US" altLang="en-US"/>
              <a:t>Linux</a:t>
            </a:r>
            <a:endParaRPr lang="en-US" altLang="en-US"/>
          </a:p>
          <a:p>
            <a:pPr lvl="1"/>
            <a:r>
              <a:rPr lang="en-US" altLang="en-US"/>
              <a:t>macOS</a:t>
            </a:r>
            <a:endParaRPr lang="en-US" altLang="en-US"/>
          </a:p>
          <a:p>
            <a:pPr lvl="1"/>
            <a:r>
              <a:rPr lang="en-US" altLang="en-US"/>
              <a:t>Android</a:t>
            </a:r>
            <a:endParaRPr lang="en-US" altLang="en-US"/>
          </a:p>
          <a:p>
            <a:pPr lvl="1"/>
            <a:r>
              <a:rPr lang="en-US" altLang="en-US"/>
              <a:t>Embedded systems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SQLite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SQLite follows a simple architecture where the application directly interacts with the SQLite database.</a:t>
            </a:r>
            <a:endParaRPr lang="en-US" altLang="en-US"/>
          </a:p>
          <a:p>
            <a:r>
              <a:rPr lang="en-US" altLang="en-US"/>
              <a:t>Unlike traditional database systems, there is no separate database server between the application and the database.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7380" y="3260725"/>
            <a:ext cx="2299335" cy="3418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SQLite in IoT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3175" y="1988820"/>
            <a:ext cx="2460625" cy="4351655"/>
          </a:xfrm>
        </p:spPr>
        <p:txBody>
          <a:bodyPr/>
          <a:p>
            <a:r>
              <a:rPr lang="en-US" altLang="en-US">
                <a:sym typeface="+mn-ea"/>
              </a:rPr>
              <a:t>SQLite is particularly useful in IoT systems for storing sensor data locally.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395" y="1400810"/>
            <a:ext cx="6896100" cy="4549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Advantages of SQLite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Simple to use</a:t>
            </a:r>
            <a:endParaRPr lang="en-US" altLang="en-US"/>
          </a:p>
          <a:p>
            <a:r>
              <a:rPr lang="en-US" altLang="en-US"/>
              <a:t>No database server required</a:t>
            </a:r>
            <a:endParaRPr lang="en-US" altLang="en-US"/>
          </a:p>
          <a:p>
            <a:r>
              <a:rPr lang="en-US" altLang="en-US"/>
              <a:t>Low memory and storage requirement</a:t>
            </a:r>
            <a:endParaRPr lang="en-US" altLang="en-US"/>
          </a:p>
          <a:p>
            <a:r>
              <a:rPr lang="en-US" altLang="en-US"/>
              <a:t>Easy to install and configure</a:t>
            </a:r>
            <a:endParaRPr lang="en-US" altLang="en-US"/>
          </a:p>
          <a:p>
            <a:r>
              <a:rPr lang="en-US" altLang="en-US"/>
              <a:t>Supports SQL</a:t>
            </a:r>
            <a:endParaRPr lang="en-US" altLang="en-US"/>
          </a:p>
          <a:p>
            <a:r>
              <a:rPr lang="en-US" altLang="en-US"/>
              <a:t>Portable because the database is stored in a file</a:t>
            </a:r>
            <a:endParaRPr lang="en-US" altLang="en-US"/>
          </a:p>
          <a:p>
            <a:r>
              <a:rPr lang="en-US" altLang="en-US"/>
              <a:t>Suitable for embedded and IoT applications</a:t>
            </a:r>
            <a:endParaRPr lang="en-US" altLang="en-US"/>
          </a:p>
          <a:p>
            <a:r>
              <a:rPr lang="en-US" altLang="en-US"/>
              <a:t>Provides transactions and data integrity</a:t>
            </a:r>
            <a:endParaRPr lang="en-US" altLang="en-US"/>
          </a:p>
          <a:p>
            <a:r>
              <a:rPr lang="en-US" altLang="en-US"/>
              <a:t>Open-source and free to use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Limitations of SQLite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Although SQLite is useful for IoT and small applications, it has some limitations: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It is not designed for large-scale client-server applications.</a:t>
            </a:r>
            <a:endParaRPr lang="en-US" altLang="en-US"/>
          </a:p>
          <a:p>
            <a:r>
              <a:rPr lang="en-US" altLang="en-US"/>
              <a:t>Concurrent writing is limited compared with server-based databases.</a:t>
            </a:r>
            <a:endParaRPr lang="en-US" altLang="en-US"/>
          </a:p>
          <a:p>
            <a:r>
              <a:rPr lang="en-US" altLang="en-US"/>
              <a:t>It does not provide the full range of features available in enterprise databases.</a:t>
            </a:r>
            <a:endParaRPr lang="en-US" altLang="en-US"/>
          </a:p>
          <a:p>
            <a:r>
              <a:rPr lang="en-US" altLang="en-US"/>
              <a:t>It is less suitable for applications requiring many simultaneous users and heavy database operations.</a:t>
            </a:r>
            <a:endParaRPr lang="en-US" altLang="en-US"/>
          </a:p>
          <a:p>
            <a:r>
              <a:rPr lang="en-US" altLang="en-US"/>
              <a:t>Database access is primarily local rather than through a dedicated database server.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385445" y="3587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Applications of SQLite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IoT and embedded systems</a:t>
            </a:r>
            <a:endParaRPr lang="en-US" altLang="en-US"/>
          </a:p>
          <a:p>
            <a:r>
              <a:rPr lang="en-US" altLang="en-US"/>
              <a:t>Mobile applications</a:t>
            </a:r>
            <a:endParaRPr lang="en-US" altLang="en-US"/>
          </a:p>
          <a:p>
            <a:r>
              <a:rPr lang="en-US" altLang="en-US"/>
              <a:t>Desktop applications</a:t>
            </a:r>
            <a:endParaRPr lang="en-US" altLang="en-US"/>
          </a:p>
          <a:p>
            <a:r>
              <a:rPr lang="en-US" altLang="en-US"/>
              <a:t>Web browsers</a:t>
            </a:r>
            <a:endParaRPr lang="en-US" altLang="en-US"/>
          </a:p>
          <a:p>
            <a:r>
              <a:rPr lang="en-US" altLang="en-US"/>
              <a:t>Local data storage</a:t>
            </a:r>
            <a:endParaRPr lang="en-US" altLang="en-US"/>
          </a:p>
          <a:p>
            <a:r>
              <a:rPr lang="en-US" altLang="en-US"/>
              <a:t>Sensor-data logging</a:t>
            </a:r>
            <a:endParaRPr lang="en-US" altLang="en-US"/>
          </a:p>
          <a:p>
            <a:r>
              <a:rPr lang="en-US" altLang="en-US"/>
              <a:t>Small-scale applications</a:t>
            </a:r>
            <a:endParaRPr lang="en-US" altLang="en-US"/>
          </a:p>
          <a:p>
            <a:r>
              <a:rPr lang="en-US" altLang="en-US"/>
              <a:t>Offline applications</a:t>
            </a:r>
            <a:endParaRPr lang="en-US" altLang="en-US"/>
          </a:p>
          <a:p>
            <a:r>
              <a:rPr lang="en-US" altLang="en-US"/>
              <a:t>Testing and prototyping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Practical Aspect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Basic SQLite Commands</a:t>
            </a:r>
            <a:endParaRPr lang="en-US" altLang="en-US"/>
          </a:p>
          <a:p>
            <a:pPr lvl="1"/>
            <a:r>
              <a:rPr lang="en-US" altLang="en-US"/>
              <a:t>Create/Open a Database</a:t>
            </a:r>
            <a:r>
              <a:rPr lang="en-IN" altLang="en-US"/>
              <a:t> :</a:t>
            </a:r>
            <a:endParaRPr lang="en-IN" altLang="en-US"/>
          </a:p>
          <a:p>
            <a:pPr lvl="2"/>
            <a:r>
              <a:rPr lang="en-US" altLang="en-US"/>
              <a:t>sqlite3 iot.db</a:t>
            </a:r>
            <a:endParaRPr lang="en-US" altLang="en-US"/>
          </a:p>
          <a:p>
            <a:pPr lvl="2"/>
            <a:endParaRPr lang="en-US" altLang="en-US"/>
          </a:p>
          <a:p>
            <a:pPr lvl="1"/>
            <a:r>
              <a:rPr lang="en-US" altLang="en-US"/>
              <a:t>Create a Table</a:t>
            </a:r>
            <a:endParaRPr lang="en-US" altLang="en-US"/>
          </a:p>
          <a:p>
            <a:pPr lvl="2"/>
            <a:r>
              <a:rPr lang="en-US" altLang="en-US"/>
              <a:t>CREATE TABLE Sensor (</a:t>
            </a:r>
            <a:endParaRPr lang="en-US" altLang="en-US"/>
          </a:p>
          <a:p>
            <a:pPr lvl="2"/>
            <a:r>
              <a:rPr lang="en-US" altLang="en-US"/>
              <a:t>    id INTEGER PRIMARY KEY,</a:t>
            </a:r>
            <a:endParaRPr lang="en-US" altLang="en-US"/>
          </a:p>
          <a:p>
            <a:pPr lvl="2"/>
            <a:r>
              <a:rPr lang="en-US" altLang="en-US"/>
              <a:t>    temperature REAL,</a:t>
            </a:r>
            <a:endParaRPr lang="en-US" altLang="en-US"/>
          </a:p>
          <a:p>
            <a:pPr lvl="2"/>
            <a:r>
              <a:rPr lang="en-US" altLang="en-US"/>
              <a:t>    humidity REAL</a:t>
            </a:r>
            <a:endParaRPr lang="en-US" altLang="en-US"/>
          </a:p>
          <a:p>
            <a:pPr lvl="2"/>
            <a:r>
              <a:rPr lang="en-US" altLang="en-US"/>
              <a:t>);</a:t>
            </a:r>
            <a:endParaRPr lang="en-US" altLang="en-US"/>
          </a:p>
          <a:p>
            <a:pPr lvl="2"/>
            <a:endParaRPr lang="en-US" altLang="en-US"/>
          </a:p>
          <a:p>
            <a:pPr lvl="1"/>
            <a:r>
              <a:rPr lang="en-US" altLang="en-US"/>
              <a:t>View Tables</a:t>
            </a:r>
            <a:endParaRPr lang="en-US" altLang="en-US"/>
          </a:p>
          <a:p>
            <a:pPr lvl="2"/>
            <a:r>
              <a:rPr lang="en-US" altLang="en-US"/>
              <a:t>.tables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Practical Aspect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View Table Structure</a:t>
            </a:r>
            <a:endParaRPr lang="en-US" altLang="en-US"/>
          </a:p>
          <a:p>
            <a:pPr lvl="1"/>
            <a:r>
              <a:rPr lang="en-US" altLang="en-US"/>
              <a:t>.schema Sensor</a:t>
            </a:r>
            <a:endParaRPr lang="en-US" altLang="en-US"/>
          </a:p>
          <a:p>
            <a:pPr lvl="0"/>
            <a:r>
              <a:rPr lang="en-US" altLang="en-US"/>
              <a:t>Insert Data</a:t>
            </a:r>
            <a:endParaRPr lang="en-US" altLang="en-US"/>
          </a:p>
          <a:p>
            <a:pPr lvl="1"/>
            <a:r>
              <a:rPr lang="en-US" altLang="en-US"/>
              <a:t>INSERT INTO Sensor (temperature, humidity</a:t>
            </a:r>
            <a:r>
              <a:rPr lang="en-IN" altLang="en-US"/>
              <a:t>) </a:t>
            </a:r>
            <a:r>
              <a:rPr lang="en-US" altLang="en-US"/>
              <a:t>VALUES (28.5, 65);</a:t>
            </a:r>
            <a:endParaRPr lang="en-US" altLang="en-US"/>
          </a:p>
          <a:p>
            <a:pPr lvl="0"/>
            <a:r>
              <a:rPr lang="en-US" altLang="en-US"/>
              <a:t>Display Data</a:t>
            </a:r>
            <a:endParaRPr lang="en-US" altLang="en-US"/>
          </a:p>
          <a:p>
            <a:pPr lvl="1"/>
            <a:r>
              <a:rPr lang="en-US" altLang="en-US"/>
              <a:t>SELECT * FROM Sensor;</a:t>
            </a:r>
            <a:endParaRPr lang="en-US" altLang="en-US"/>
          </a:p>
          <a:p>
            <a:pPr lvl="0"/>
            <a:r>
              <a:rPr lang="en-US" altLang="en-US"/>
              <a:t>Exit SQLite</a:t>
            </a:r>
            <a:endParaRPr lang="en-US" altLang="en-US"/>
          </a:p>
          <a:p>
            <a:pPr lvl="1"/>
            <a:r>
              <a:rPr lang="en-IN" altLang="en-US"/>
              <a:t>.</a:t>
            </a:r>
            <a:r>
              <a:rPr lang="en-US" altLang="en-US"/>
              <a:t>quit</a:t>
            </a:r>
            <a:r>
              <a:rPr lang="en-IN" altLang="en-US"/>
              <a:t> </a:t>
            </a:r>
            <a:r>
              <a:rPr lang="en-US" altLang="en-US"/>
              <a:t>or</a:t>
            </a:r>
            <a:r>
              <a:rPr lang="en-IN" altLang="en-US"/>
              <a:t> </a:t>
            </a:r>
            <a:r>
              <a:rPr lang="en-US" altLang="en-US"/>
              <a:t>.exit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Practical Aspect - Create/Insert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INSERT INTO Sensor (temperature, humidity)</a:t>
            </a:r>
            <a:r>
              <a:rPr lang="en-IN" altLang="en-US"/>
              <a:t> </a:t>
            </a:r>
            <a:r>
              <a:rPr lang="en-US" altLang="en-US"/>
              <a:t>VALUES (30.2, 60);</a:t>
            </a:r>
            <a:endParaRPr lang="en-US" altLang="en-US"/>
          </a:p>
          <a:p>
            <a:pPr lvl="1"/>
            <a:r>
              <a:rPr lang="en-IN" altLang="en-US"/>
              <a:t>OR</a:t>
            </a:r>
            <a:endParaRPr lang="en-IN" altLang="en-US"/>
          </a:p>
          <a:p>
            <a:pPr lvl="0"/>
            <a:r>
              <a:rPr lang="en-US" altLang="en-US"/>
              <a:t>INSERT INTO Sensor (temperature, humidity)</a:t>
            </a:r>
            <a:endParaRPr lang="en-US" altLang="en-US"/>
          </a:p>
          <a:p>
            <a:pPr lvl="0"/>
            <a:r>
              <a:rPr lang="en-US" altLang="en-US"/>
              <a:t>VALUES </a:t>
            </a:r>
            <a:endParaRPr lang="en-US" altLang="en-US"/>
          </a:p>
          <a:p>
            <a:pPr lvl="0"/>
            <a:r>
              <a:rPr lang="en-US" altLang="en-US"/>
              <a:t>(28.5, 65),</a:t>
            </a:r>
            <a:endParaRPr lang="en-US" altLang="en-US"/>
          </a:p>
          <a:p>
            <a:pPr lvl="0"/>
            <a:r>
              <a:rPr lang="en-US" altLang="en-US"/>
              <a:t>(29.1, 63),</a:t>
            </a:r>
            <a:endParaRPr lang="en-US" altLang="en-US"/>
          </a:p>
          <a:p>
            <a:pPr lvl="0"/>
            <a:r>
              <a:rPr lang="en-US" altLang="en-US"/>
              <a:t>(30.2, 60);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Practical Aspect - </a:t>
            </a:r>
            <a:r>
              <a:rPr lang="en-US" altLang="en-US"/>
              <a:t>Retrieve Data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Display all records:</a:t>
            </a:r>
            <a:endParaRPr lang="en-US" altLang="en-US"/>
          </a:p>
          <a:p>
            <a:pPr lvl="1"/>
            <a:r>
              <a:rPr lang="en-US" altLang="en-US"/>
              <a:t>SELECT * FROM Sensor;</a:t>
            </a:r>
            <a:endParaRPr lang="en-US" altLang="en-US"/>
          </a:p>
          <a:p>
            <a:pPr lvl="0"/>
            <a:r>
              <a:rPr lang="en-US" altLang="en-US"/>
              <a:t>Display specific columns:</a:t>
            </a:r>
            <a:endParaRPr lang="en-US" altLang="en-US"/>
          </a:p>
          <a:p>
            <a:pPr lvl="1"/>
            <a:r>
              <a:rPr lang="en-US" altLang="en-US"/>
              <a:t>SELECT temperature, humidity</a:t>
            </a:r>
            <a:r>
              <a:rPr lang="en-IN" altLang="en-US"/>
              <a:t> </a:t>
            </a:r>
            <a:r>
              <a:rPr lang="en-US" altLang="en-US"/>
              <a:t>FROM Sensor;</a:t>
            </a:r>
            <a:endParaRPr lang="en-US" altLang="en-US"/>
          </a:p>
          <a:p>
            <a:pPr lvl="0"/>
            <a:r>
              <a:rPr lang="en-US" altLang="en-US"/>
              <a:t>Retrieve a specific record:</a:t>
            </a:r>
            <a:endParaRPr lang="en-US" altLang="en-US"/>
          </a:p>
          <a:p>
            <a:pPr lvl="1"/>
            <a:r>
              <a:rPr lang="en-US" altLang="en-US"/>
              <a:t>SELECT * FROM Sensor</a:t>
            </a:r>
            <a:r>
              <a:rPr lang="en-IN" altLang="en-US"/>
              <a:t> </a:t>
            </a:r>
            <a:r>
              <a:rPr lang="en-US" altLang="en-US"/>
              <a:t>WHERE id = 2;</a:t>
            </a:r>
            <a:endParaRPr lang="en-US" altLang="en-US"/>
          </a:p>
          <a:p>
            <a:pPr lvl="0"/>
            <a:r>
              <a:rPr lang="en-US" altLang="en-US"/>
              <a:t>Retrieve temperature above 30°C:</a:t>
            </a:r>
            <a:endParaRPr lang="en-US" altLang="en-US"/>
          </a:p>
          <a:p>
            <a:pPr lvl="1"/>
            <a:r>
              <a:rPr lang="en-US" altLang="en-US"/>
              <a:t>SELECT * FROM Sensor</a:t>
            </a:r>
            <a:r>
              <a:rPr lang="en-IN" altLang="en-US"/>
              <a:t> </a:t>
            </a:r>
            <a:r>
              <a:rPr lang="en-US" altLang="en-US"/>
              <a:t>WHERE temperature &gt; 30;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ym typeface="+mn-ea"/>
              </a:rPr>
              <a:t>Practical Aspect - Remove Data</a:t>
            </a:r>
            <a:endParaRPr lang="en-IN" alt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Conditional Delete</a:t>
            </a:r>
            <a:endParaRPr lang="en-IN" altLang="en-US"/>
          </a:p>
          <a:p>
            <a:pPr lvl="1"/>
            <a:r>
              <a:rPr lang="en-US" altLang="en-US"/>
              <a:t>DELETE FROM Sensor</a:t>
            </a:r>
            <a:r>
              <a:rPr lang="en-IN" altLang="en-US"/>
              <a:t> </a:t>
            </a:r>
            <a:r>
              <a:rPr lang="en-US" altLang="en-US"/>
              <a:t>WHERE id = 2;</a:t>
            </a:r>
            <a:r>
              <a:rPr lang="en-IN" altLang="en-US"/>
              <a:t>	</a:t>
            </a:r>
            <a:endParaRPr lang="en-IN" altLang="en-US"/>
          </a:p>
          <a:p>
            <a:pPr lvl="0"/>
            <a:r>
              <a:rPr lang="en-US" altLang="en-US"/>
              <a:t>To delete all records:</a:t>
            </a:r>
            <a:endParaRPr lang="en-IN" altLang="en-US" sz="2800"/>
          </a:p>
          <a:p>
            <a:pPr lvl="1"/>
            <a:r>
              <a:rPr lang="en-US" altLang="en-US"/>
              <a:t>DELETE FROM Sensor;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Practical Aspect - </a:t>
            </a:r>
            <a:r>
              <a:rPr lang="en-US" altLang="en-US"/>
              <a:t>Modify Data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The UPDATE command modifies existing records.</a:t>
            </a:r>
            <a:endParaRPr lang="en-US" altLang="en-US"/>
          </a:p>
          <a:p>
            <a:endParaRPr lang="en-US" altLang="en-US"/>
          </a:p>
          <a:p>
            <a:pPr lvl="1"/>
            <a:r>
              <a:rPr lang="en-US" altLang="en-US"/>
              <a:t>UPDATE Sensor</a:t>
            </a:r>
            <a:endParaRPr lang="en-US" altLang="en-US"/>
          </a:p>
          <a:p>
            <a:pPr lvl="1"/>
            <a:r>
              <a:rPr lang="en-US" altLang="en-US"/>
              <a:t>SET temperature = 31.5</a:t>
            </a:r>
            <a:endParaRPr lang="en-US" altLang="en-US"/>
          </a:p>
          <a:p>
            <a:pPr lvl="1"/>
            <a:r>
              <a:rPr lang="en-US" altLang="en-US"/>
              <a:t>WHERE id = 2;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This changes the temperature of the record whose ID is 2.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Important: Always use a WHERE condition when updating specific records. Otherwise, all records may be modified.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CRUD Operation in SQLite</a:t>
            </a:r>
            <a:endParaRPr lang="en-I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5040" y="1579245"/>
            <a:ext cx="9103360" cy="38525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IN" altLang="en-US"/>
              <a:t>Thank you</a:t>
            </a:r>
            <a:endParaRPr lang="en-IN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IN" altLang="en-US"/>
              <a:t>Vraj Suratwala </a:t>
            </a:r>
            <a:endParaRPr lang="en-IN" altLang="en-US"/>
          </a:p>
          <a:p>
            <a:r>
              <a:rPr lang="en-IN" altLang="en-US"/>
              <a:t>Department of ICT, VNSGU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4334</Words>
  <Application>WPS Presentation</Application>
  <PresentationFormat>Widescreen</PresentationFormat>
  <Paragraphs>168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Vraj Suratwala</dc:creator>
  <cp:lastModifiedBy>Vraj Suratwala</cp:lastModifiedBy>
  <cp:revision>8</cp:revision>
  <dcterms:created xsi:type="dcterms:W3CDTF">2025-07-23T00:59:00Z</dcterms:created>
  <dcterms:modified xsi:type="dcterms:W3CDTF">2026-09-20T14:32:44Z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D7ADE6CED3704E80A14BEC2090E3D8FA_11</vt:lpwstr>
  </property>
  <property fmtid="{D5CDD505-2E9C-101B-9397-08002B2CF9AE}" pid="3" name="KSOProductBuildVer">
    <vt:lpwstr>1033-12.1.0.25862</vt:lpwstr>
  </property>
</Properties>
</file>