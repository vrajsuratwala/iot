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75" r:id="rId6"/>
    <p:sldId id="259" r:id="rId7"/>
    <p:sldId id="260" r:id="rId8"/>
    <p:sldId id="261" r:id="rId9"/>
    <p:sldId id="263" r:id="rId10"/>
    <p:sldId id="264" r:id="rId11"/>
    <p:sldId id="262" r:id="rId12"/>
    <p:sldId id="265" r:id="rId13"/>
    <p:sldId id="266" r:id="rId14"/>
    <p:sldId id="267" r:id="rId15"/>
    <p:sldId id="274" r:id="rId16"/>
    <p:sldId id="276" r:id="rId17"/>
    <p:sldId id="268" r:id="rId18"/>
    <p:sldId id="269" r:id="rId19"/>
    <p:sldId id="271" r:id="rId20"/>
    <p:sldId id="272" r:id="rId21"/>
    <p:sldId id="273" r:id="rId22"/>
    <p:sldId id="278" r:id="rId23"/>
    <p:sldId id="279" r:id="rId24"/>
    <p:sldId id="280" r:id="rId25"/>
    <p:sldId id="281" r:id="rId26"/>
    <p:sldId id="282" r:id="rId27"/>
    <p:sldId id="283" r:id="rId28"/>
    <p:sldId id="284" r:id="rId29"/>
    <p:sldId id="285" r:id="rId30"/>
    <p:sldId id="286" r:id="rId31"/>
    <p:sldId id="291" r:id="rId32"/>
    <p:sldId id="287" r:id="rId33"/>
    <p:sldId id="288" r:id="rId34"/>
    <p:sldId id="289" r:id="rId35"/>
    <p:sldId id="290"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1.pn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2.png"/><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3.png"/><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1.xml"/><Relationship Id="rId3" Type="http://schemas.openxmlformats.org/officeDocument/2006/relationships/image" Target="../media/image6.png"/><Relationship Id="rId2" Type="http://schemas.openxmlformats.org/officeDocument/2006/relationships/tags" Target="../tags/tag90.xml"/><Relationship Id="rId1" Type="http://schemas.openxmlformats.org/officeDocument/2006/relationships/tags" Target="../tags/tag8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1.xml"/><Relationship Id="rId3" Type="http://schemas.openxmlformats.org/officeDocument/2006/relationships/image" Target="../media/image8.png"/><Relationship Id="rId2" Type="http://schemas.openxmlformats.org/officeDocument/2006/relationships/tags" Target="../tags/tag100.xml"/><Relationship Id="rId1" Type="http://schemas.openxmlformats.org/officeDocument/2006/relationships/tags" Target="../tags/tag99.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4.xml"/><Relationship Id="rId3" Type="http://schemas.openxmlformats.org/officeDocument/2006/relationships/image" Target="../media/image9.png"/><Relationship Id="rId2" Type="http://schemas.openxmlformats.org/officeDocument/2006/relationships/tags" Target="../tags/tag103.xml"/><Relationship Id="rId1" Type="http://schemas.openxmlformats.org/officeDocument/2006/relationships/tags" Target="../tags/tag102.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7.xml"/><Relationship Id="rId3" Type="http://schemas.openxmlformats.org/officeDocument/2006/relationships/image" Target="../media/image10.png"/><Relationship Id="rId2" Type="http://schemas.openxmlformats.org/officeDocument/2006/relationships/tags" Target="../tags/tag106.xml"/><Relationship Id="rId1" Type="http://schemas.openxmlformats.org/officeDocument/2006/relationships/tags" Target="../tags/tag105.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2.xml"/><Relationship Id="rId2" Type="http://schemas.openxmlformats.org/officeDocument/2006/relationships/image" Target="../media/image11.png"/><Relationship Id="rId1" Type="http://schemas.openxmlformats.org/officeDocument/2006/relationships/tags" Target="../tags/tag11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image" Target="../media/image12.png"/><Relationship Id="rId1" Type="http://schemas.openxmlformats.org/officeDocument/2006/relationships/tags" Target="../tags/tag113.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17.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116.xml"/><Relationship Id="rId1" Type="http://schemas.openxmlformats.org/officeDocument/2006/relationships/tags" Target="../tags/tag115.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0.xml"/><Relationship Id="rId3" Type="http://schemas.openxmlformats.org/officeDocument/2006/relationships/image" Target="../media/image15.png"/><Relationship Id="rId2" Type="http://schemas.openxmlformats.org/officeDocument/2006/relationships/tags" Target="../tags/tag119.xml"/><Relationship Id="rId1" Type="http://schemas.openxmlformats.org/officeDocument/2006/relationships/tags" Target="../tags/tag118.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6.xml"/><Relationship Id="rId3" Type="http://schemas.openxmlformats.org/officeDocument/2006/relationships/image" Target="../media/image16.png"/><Relationship Id="rId2" Type="http://schemas.openxmlformats.org/officeDocument/2006/relationships/tags" Target="../tags/tag125.xml"/><Relationship Id="rId1" Type="http://schemas.openxmlformats.org/officeDocument/2006/relationships/tags" Target="../tags/tag124.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9.xml"/><Relationship Id="rId3" Type="http://schemas.openxmlformats.org/officeDocument/2006/relationships/image" Target="../media/image17.png"/><Relationship Id="rId2" Type="http://schemas.openxmlformats.org/officeDocument/2006/relationships/tags" Target="../tags/tag128.xml"/><Relationship Id="rId1" Type="http://schemas.openxmlformats.org/officeDocument/2006/relationships/tags" Target="../tags/tag127.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2.xml"/><Relationship Id="rId3" Type="http://schemas.openxmlformats.org/officeDocument/2006/relationships/image" Target="../media/image18.png"/><Relationship Id="rId2" Type="http://schemas.openxmlformats.org/officeDocument/2006/relationships/tags" Target="../tags/tag131.xml"/><Relationship Id="rId1" Type="http://schemas.openxmlformats.org/officeDocument/2006/relationships/tags" Target="../tags/tag130.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0.xml"/><Relationship Id="rId2" Type="http://schemas.openxmlformats.org/officeDocument/2006/relationships/image" Target="../media/image19.png"/><Relationship Id="rId1" Type="http://schemas.openxmlformats.org/officeDocument/2006/relationships/tags" Target="../tags/tag139.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6.xml"/><Relationship Id="rId3" Type="http://schemas.openxmlformats.org/officeDocument/2006/relationships/image" Target="../media/image20.png"/><Relationship Id="rId2" Type="http://schemas.openxmlformats.org/officeDocument/2006/relationships/tags" Target="../tags/tag145.xml"/><Relationship Id="rId1" Type="http://schemas.openxmlformats.org/officeDocument/2006/relationships/tags" Target="../tags/tag144.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2.xml"/><Relationship Id="rId3" Type="http://schemas.openxmlformats.org/officeDocument/2006/relationships/image" Target="../media/image21.png"/><Relationship Id="rId2" Type="http://schemas.openxmlformats.org/officeDocument/2006/relationships/tags" Target="../tags/tag151.xml"/><Relationship Id="rId1" Type="http://schemas.openxmlformats.org/officeDocument/2006/relationships/tags" Target="../tags/tag150.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4.xml"/><Relationship Id="rId2" Type="http://schemas.openxmlformats.org/officeDocument/2006/relationships/image" Target="../media/image22.png"/><Relationship Id="rId1" Type="http://schemas.openxmlformats.org/officeDocument/2006/relationships/tags" Target="../tags/tag153.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6.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155.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9.xml"/><Relationship Id="rId3" Type="http://schemas.openxmlformats.org/officeDocument/2006/relationships/image" Target="../media/image25.png"/><Relationship Id="rId2" Type="http://schemas.openxmlformats.org/officeDocument/2006/relationships/tags" Target="../tags/tag158.xml"/><Relationship Id="rId1" Type="http://schemas.openxmlformats.org/officeDocument/2006/relationships/tags" Target="../tags/tag157.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Sensors &amp; Actuators</a:t>
            </a:r>
            <a:endParaRPr lang="en-US"/>
          </a:p>
        </p:txBody>
      </p:sp>
      <p:sp>
        <p:nvSpPr>
          <p:cNvPr id="3" name="Subtitle 2"/>
          <p:cNvSpPr>
            <a:spLocks noGrp="1"/>
          </p:cNvSpPr>
          <p:nvPr>
            <p:ph type="subTitle" idx="1"/>
            <p:custDataLst>
              <p:tags r:id="rId2"/>
            </p:custDataLst>
          </p:nvPr>
        </p:nvSpPr>
        <p:spPr/>
        <p:txBody>
          <a:bodyPr/>
          <a:p>
            <a:r>
              <a:rPr lang="en-US"/>
              <a:t>IoT</a:t>
            </a:r>
            <a:endParaRPr lang="en-US"/>
          </a:p>
          <a:p>
            <a:r>
              <a:rPr lang="en-US"/>
              <a:t>Vraj Suratwala</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 to Sensors</a:t>
            </a:r>
            <a:endParaRPr lang="en-US"/>
          </a:p>
        </p:txBody>
      </p:sp>
      <p:sp>
        <p:nvSpPr>
          <p:cNvPr id="3" name="Content Placeholder 2"/>
          <p:cNvSpPr>
            <a:spLocks noGrp="1"/>
          </p:cNvSpPr>
          <p:nvPr>
            <p:ph idx="1"/>
            <p:custDataLst>
              <p:tags r:id="rId2"/>
            </p:custDataLst>
          </p:nvPr>
        </p:nvSpPr>
        <p:spPr/>
        <p:txBody>
          <a:bodyPr/>
          <a:p>
            <a:r>
              <a:rPr lang="en-US" altLang="en-US"/>
              <a:t>A sensor is a device that detects changes in the physical environment and converts them into signals that electronic systems can process.</a:t>
            </a:r>
            <a:endParaRPr lang="en-US" altLang="en-US"/>
          </a:p>
          <a:p>
            <a:r>
              <a:rPr lang="en-US" altLang="en-US"/>
              <a:t>1. Detection </a:t>
            </a:r>
            <a:endParaRPr lang="en-US" altLang="en-US"/>
          </a:p>
          <a:p>
            <a:r>
              <a:rPr lang="en-US" altLang="en-US"/>
              <a:t>2. Conversion</a:t>
            </a:r>
            <a:endParaRPr lang="en-US" altLang="en-US"/>
          </a:p>
          <a:p>
            <a:r>
              <a:rPr lang="en-US" altLang="en-US"/>
              <a:t>3. Transmission</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Ultrasonic Sensors</a:t>
            </a:r>
            <a:endParaRPr lang="en-US"/>
          </a:p>
        </p:txBody>
      </p:sp>
      <p:sp>
        <p:nvSpPr>
          <p:cNvPr id="3" name="Content Placeholder 2"/>
          <p:cNvSpPr>
            <a:spLocks noGrp="1"/>
          </p:cNvSpPr>
          <p:nvPr>
            <p:ph idx="1"/>
            <p:custDataLst>
              <p:tags r:id="rId2"/>
            </p:custDataLst>
          </p:nvPr>
        </p:nvSpPr>
        <p:spPr/>
        <p:txBody>
          <a:bodyPr>
            <a:normAutofit lnSpcReduction="20000"/>
          </a:bodyPr>
          <a:p>
            <a:r>
              <a:rPr lang="en-US" altLang="en-US"/>
              <a:t>An ultrasonic sensor is a device used to measure the distance between the sensor and an object using ultrasonic sound waves.</a:t>
            </a:r>
            <a:endParaRPr lang="en-US" altLang="en-US"/>
          </a:p>
          <a:p>
            <a:r>
              <a:rPr lang="en-US" altLang="en-US"/>
              <a:t>It sends a sound wave at a specific frequency toward an object. When the wave hits the object, it reflects back (echoes) to the sensor. The distance is calculated using the time taken by the sound wave to return.</a:t>
            </a:r>
            <a:endParaRPr lang="en-US" altLang="en-US"/>
          </a:p>
          <a:p>
            <a:r>
              <a:rPr lang="en-US" altLang="en-US"/>
              <a:t>The ultrasonic sensor works on the Echo / Time-of-Flight principle.</a:t>
            </a:r>
            <a:endParaRPr lang="en-US" altLang="en-US"/>
          </a:p>
          <a:p>
            <a:r>
              <a:rPr lang="en-US" altLang="en-US"/>
              <a:t>Basic principle:</a:t>
            </a:r>
            <a:endParaRPr lang="en-US" altLang="en-US"/>
          </a:p>
          <a:p>
            <a:r>
              <a:rPr lang="en-US" altLang="en-US"/>
              <a:t>Transmit → Sound travels → Hits object → Reflects → Echo received → Time measured → Distance calculated</a:t>
            </a:r>
            <a:endParaRPr lang="en-US" altLang="en-US"/>
          </a:p>
          <a:p>
            <a:r>
              <a:rPr lang="en-US" altLang="en-US"/>
              <a:t>The sensor emits an ultrasonic wave, typically around 40,000 Hz (40 kHz). If an obstacle is present in its path, the wave is reflected back toward the sensor. The sensor measures the travel time of this reflected wave</a:t>
            </a:r>
            <a:endParaRPr lang="en-US" altLang="en-US"/>
          </a:p>
          <a:p>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Diagram</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1701800" y="1490345"/>
            <a:ext cx="8781415" cy="4759325"/>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Distance Calculation</a:t>
            </a:r>
            <a:endParaRPr lang="en-US"/>
          </a:p>
        </p:txBody>
      </p:sp>
      <p:pic>
        <p:nvPicPr>
          <p:cNvPr id="5" name="Content Placeholder 4"/>
          <p:cNvPicPr>
            <a:picLocks noChangeAspect="1"/>
          </p:cNvPicPr>
          <p:nvPr>
            <p:ph idx="1"/>
            <p:custDataLst>
              <p:tags r:id="rId2"/>
            </p:custDataLst>
          </p:nvPr>
        </p:nvPicPr>
        <p:blipFill>
          <a:blip r:embed="rId3"/>
          <a:srcRect t="4163"/>
          <a:stretch>
            <a:fillRect/>
          </a:stretch>
        </p:blipFill>
        <p:spPr>
          <a:xfrm>
            <a:off x="697865" y="1384300"/>
            <a:ext cx="7430770" cy="5078730"/>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Configuration</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708025" y="1490345"/>
            <a:ext cx="6536055" cy="4759325"/>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7305040" cy="5816600"/>
          </a:xfrm>
          <a:prstGeom prst="rect">
            <a:avLst/>
          </a:prstGeom>
        </p:spPr>
      </p:pic>
      <p:pic>
        <p:nvPicPr>
          <p:cNvPr id="5" name="Picture 4"/>
          <p:cNvPicPr>
            <a:picLocks noChangeAspect="1"/>
          </p:cNvPicPr>
          <p:nvPr/>
        </p:nvPicPr>
        <p:blipFill>
          <a:blip r:embed="rId3"/>
          <a:stretch>
            <a:fillRect/>
          </a:stretch>
        </p:blipFill>
        <p:spPr>
          <a:xfrm>
            <a:off x="7010400" y="0"/>
            <a:ext cx="5181600" cy="397510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Advantages</a:t>
            </a:r>
            <a:endParaRPr lang="en-US"/>
          </a:p>
        </p:txBody>
      </p:sp>
      <p:sp>
        <p:nvSpPr>
          <p:cNvPr id="3" name="Content Placeholder 2"/>
          <p:cNvSpPr>
            <a:spLocks noGrp="1"/>
          </p:cNvSpPr>
          <p:nvPr>
            <p:ph idx="1"/>
            <p:custDataLst>
              <p:tags r:id="rId2"/>
            </p:custDataLst>
          </p:nvPr>
        </p:nvSpPr>
        <p:spPr/>
        <p:txBody>
          <a:bodyPr/>
          <a:p>
            <a:r>
              <a:rPr lang="en-US" altLang="en-US"/>
              <a:t>It can measure the distance to an object without physical contact.</a:t>
            </a:r>
            <a:endParaRPr lang="en-US" altLang="en-US"/>
          </a:p>
          <a:p>
            <a:r>
              <a:rPr lang="en-US" altLang="en-US"/>
              <a:t>It uses sound waves rather than visible light.</a:t>
            </a:r>
            <a:endParaRPr lang="en-US" altLang="en-US"/>
          </a:p>
          <a:p>
            <a:r>
              <a:rPr lang="en-US" altLang="en-US"/>
              <a:t>It can detect objects/obstacles in its path.</a:t>
            </a:r>
            <a:endParaRPr lang="en-US" altLang="en-US"/>
          </a:p>
          <a:p>
            <a:r>
              <a:rPr lang="en-US" altLang="en-US"/>
              <a:t>The distance can be calculated from the measured echo time.</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LDR (Light Dependent Resistor)</a:t>
            </a:r>
            <a:endParaRPr lang="en-US" altLang="en-US"/>
          </a:p>
        </p:txBody>
      </p:sp>
      <p:sp>
        <p:nvSpPr>
          <p:cNvPr id="3" name="Content Placeholder 2"/>
          <p:cNvSpPr>
            <a:spLocks noGrp="1"/>
          </p:cNvSpPr>
          <p:nvPr>
            <p:ph idx="1"/>
            <p:custDataLst>
              <p:tags r:id="rId2"/>
            </p:custDataLst>
          </p:nvPr>
        </p:nvSpPr>
        <p:spPr/>
        <p:txBody>
          <a:bodyPr/>
          <a:p>
            <a:r>
              <a:rPr lang="en-US" altLang="en-US"/>
              <a:t>LDR (Light Dependent Resistor) is a light-sensitive resistor whose resistance changes according to the intensity of light falling on it.</a:t>
            </a:r>
            <a:endParaRPr lang="en-US" altLang="en-US"/>
          </a:p>
          <a:p>
            <a:r>
              <a:rPr lang="en-US" altLang="en-US"/>
              <a:t>For the most common type of LDR:</a:t>
            </a:r>
            <a:endParaRPr lang="en-US" altLang="en-US"/>
          </a:p>
          <a:p>
            <a:r>
              <a:rPr lang="en-US" altLang="en-US"/>
              <a:t>More light → Lower resistance</a:t>
            </a:r>
            <a:endParaRPr lang="en-US" altLang="en-US"/>
          </a:p>
          <a:p>
            <a:r>
              <a:rPr lang="en-US" altLang="en-US"/>
              <a:t>Less light / darkness → Higher resistance</a:t>
            </a:r>
            <a:endParaRPr lang="en-US" altLang="en-US"/>
          </a:p>
          <a:p>
            <a:r>
              <a:rPr lang="en-US" altLang="en-US"/>
              <a:t>Therefore, LDRs are used in light-sensing circuits.</a:t>
            </a:r>
            <a:endParaRPr lang="en-US"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Working</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1490345"/>
            <a:ext cx="9074785" cy="4759325"/>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9-02 at 1.21.20 PM"/>
          <p:cNvPicPr>
            <a:picLocks noChangeAspect="1"/>
          </p:cNvPicPr>
          <p:nvPr/>
        </p:nvPicPr>
        <p:blipFill>
          <a:blip r:embed="rId1"/>
          <a:stretch>
            <a:fillRect/>
          </a:stretch>
        </p:blipFill>
        <p:spPr>
          <a:xfrm>
            <a:off x="488315" y="311150"/>
            <a:ext cx="10439400" cy="6235700"/>
          </a:xfrm>
          <a:prstGeom prst="rect">
            <a:avLst/>
          </a:prstGeom>
        </p:spPr>
      </p:pic>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Construction</a:t>
            </a:r>
            <a:endParaRPr lang="en-US"/>
          </a:p>
        </p:txBody>
      </p:sp>
      <p:sp>
        <p:nvSpPr>
          <p:cNvPr id="3" name="Content Placeholder 2"/>
          <p:cNvSpPr>
            <a:spLocks noGrp="1"/>
          </p:cNvSpPr>
          <p:nvPr>
            <p:ph idx="1"/>
            <p:custDataLst>
              <p:tags r:id="rId2"/>
            </p:custDataLst>
          </p:nvPr>
        </p:nvSpPr>
        <p:spPr/>
        <p:txBody>
          <a:bodyPr/>
          <a:p>
            <a:r>
              <a:rPr lang="en-US" altLang="en-US"/>
              <a:t>The PPT describes the manufacture of a cadmium sulfide (CdS) LDR.</a:t>
            </a:r>
            <a:endParaRPr lang="en-US" altLang="en-US"/>
          </a:p>
          <a:p>
            <a:r>
              <a:rPr lang="en-US" altLang="en-US"/>
              <a:t>Highly purified cadmium sulfide powder is mixed with inert binding materials.</a:t>
            </a:r>
            <a:endParaRPr lang="en-US" altLang="en-US"/>
          </a:p>
          <a:p>
            <a:r>
              <a:rPr lang="en-US" altLang="en-US"/>
              <a:t>The mixture is pressed and sintered.</a:t>
            </a:r>
            <a:endParaRPr lang="en-US" altLang="en-US"/>
          </a:p>
          <a:p>
            <a:r>
              <a:rPr lang="en-US" altLang="en-US"/>
              <a:t>Electrodes are vacuum evaporated onto the surface.</a:t>
            </a:r>
            <a:endParaRPr lang="en-US" altLang="en-US"/>
          </a:p>
          <a:p>
            <a:r>
              <a:rPr lang="en-US" altLang="en-US"/>
              <a:t>The electrodes form interleaving comb-like structures.</a:t>
            </a:r>
            <a:endParaRPr lang="en-US" altLang="en-US"/>
          </a:p>
          <a:p>
            <a:r>
              <a:rPr lang="en-US" altLang="en-US"/>
              <a:t>Connection leads are attached.</a:t>
            </a:r>
            <a:endParaRPr lang="en-US" altLang="en-US"/>
          </a:p>
          <a:p>
            <a:r>
              <a:rPr lang="en-US" altLang="en-US"/>
              <a:t>The disc is mounted inside a glass envelope or encapsulated in transparent plastic to prevent surface contamination.</a:t>
            </a:r>
            <a:endParaRPr lang="en-US" altLang="en-US"/>
          </a:p>
          <a:p>
            <a:r>
              <a:rPr lang="en-US" altLang="en-US"/>
              <a:t>The spectral response of CdS matches that of the human eye.</a:t>
            </a:r>
            <a:endParaRPr lang="en-US"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Application</a:t>
            </a:r>
            <a:endParaRPr lang="en-US"/>
          </a:p>
        </p:txBody>
      </p:sp>
      <p:sp>
        <p:nvSpPr>
          <p:cNvPr id="3" name="Content Placeholder 2"/>
          <p:cNvSpPr>
            <a:spLocks noGrp="1"/>
          </p:cNvSpPr>
          <p:nvPr>
            <p:ph idx="1"/>
            <p:custDataLst>
              <p:tags r:id="rId2"/>
            </p:custDataLst>
          </p:nvPr>
        </p:nvSpPr>
        <p:spPr/>
        <p:txBody>
          <a:bodyPr/>
          <a:p>
            <a:r>
              <a:rPr lang="en-US" altLang="en-US"/>
              <a:t>The PPT specifically states that LDRs are used in light-sensing circuits.</a:t>
            </a:r>
            <a:endParaRPr lang="en-US" altLang="en-US"/>
          </a:p>
          <a:p>
            <a:r>
              <a:rPr lang="en-US" altLang="en-US"/>
              <a:t>Examples of light-sensing applications include:</a:t>
            </a:r>
            <a:endParaRPr lang="en-US" altLang="en-US"/>
          </a:p>
          <a:p>
            <a:r>
              <a:rPr lang="en-US" altLang="en-US"/>
              <a:t>Automatic light control</a:t>
            </a:r>
            <a:endParaRPr lang="en-US" altLang="en-US"/>
          </a:p>
          <a:p>
            <a:r>
              <a:rPr lang="en-US" altLang="en-US"/>
              <a:t>Light/dark detection</a:t>
            </a:r>
            <a:endParaRPr lang="en-US" altLang="en-US"/>
          </a:p>
          <a:p>
            <a:r>
              <a:rPr lang="en-US" altLang="en-US"/>
              <a:t>Automatic street-light systems</a:t>
            </a:r>
            <a:endParaRPr lang="en-US" altLang="en-US"/>
          </a:p>
          <a:p>
            <a:r>
              <a:rPr lang="en-US" altLang="en-US"/>
              <a:t>Light intensity sensing</a:t>
            </a:r>
            <a:endParaRPr lang="en-US"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Graph</a:t>
            </a:r>
            <a:endParaRPr lang="en-US"/>
          </a:p>
        </p:txBody>
      </p:sp>
      <p:pic>
        <p:nvPicPr>
          <p:cNvPr id="6" name="Content Placeholder 5"/>
          <p:cNvPicPr>
            <a:picLocks noChangeAspect="1"/>
          </p:cNvPicPr>
          <p:nvPr>
            <p:ph idx="1"/>
            <p:custDataLst>
              <p:tags r:id="rId2"/>
            </p:custDataLst>
          </p:nvPr>
        </p:nvPicPr>
        <p:blipFill>
          <a:blip r:embed="rId3"/>
          <a:stretch>
            <a:fillRect/>
          </a:stretch>
        </p:blipFill>
        <p:spPr>
          <a:xfrm>
            <a:off x="1701800" y="1490345"/>
            <a:ext cx="8781415" cy="4759325"/>
          </a:xfrm>
          <a:prstGeom prst="rect">
            <a:avLst/>
          </a:prstGeo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Diagram</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2312670" y="1490345"/>
            <a:ext cx="7559675" cy="4759325"/>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Infrared (IR) Sensor</a:t>
            </a:r>
            <a:endParaRPr lang="en-US" altLang="en-US"/>
          </a:p>
        </p:txBody>
      </p:sp>
      <p:sp>
        <p:nvSpPr>
          <p:cNvPr id="3" name="Content Placeholder 2"/>
          <p:cNvSpPr>
            <a:spLocks noGrp="1"/>
          </p:cNvSpPr>
          <p:nvPr>
            <p:ph idx="1"/>
            <p:custDataLst>
              <p:tags r:id="rId2"/>
            </p:custDataLst>
          </p:nvPr>
        </p:nvSpPr>
        <p:spPr/>
        <p:txBody>
          <a:bodyPr/>
          <a:p>
            <a:r>
              <a:rPr lang="en-US" altLang="en-US"/>
              <a:t>An Infrared (IR) sensor is a sensor that uses infrared light to detect objects. It uses a light source, typically an IR LED, and a light-sensitive device such as a photodiode or phototransistor to detect the reflected IR ligh</a:t>
            </a:r>
            <a:endParaRPr lang="en-US" altLang="en-US"/>
          </a:p>
        </p:txBody>
      </p:sp>
      <p:pic>
        <p:nvPicPr>
          <p:cNvPr id="4" name="Picture 3"/>
          <p:cNvPicPr>
            <a:picLocks noChangeAspect="1"/>
          </p:cNvPicPr>
          <p:nvPr/>
        </p:nvPicPr>
        <p:blipFill>
          <a:blip r:embed="rId3"/>
          <a:srcRect r="27644"/>
          <a:stretch>
            <a:fillRect/>
          </a:stretch>
        </p:blipFill>
        <p:spPr>
          <a:xfrm>
            <a:off x="3267710" y="2797175"/>
            <a:ext cx="5017770" cy="3637280"/>
          </a:xfrm>
          <a:prstGeom prst="rect">
            <a:avLst/>
          </a:prstGeom>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Working Steps</a:t>
            </a:r>
            <a:endParaRPr lang="en-US"/>
          </a:p>
        </p:txBody>
      </p:sp>
      <p:sp>
        <p:nvSpPr>
          <p:cNvPr id="3" name="Content Placeholder 2"/>
          <p:cNvSpPr>
            <a:spLocks noGrp="1"/>
          </p:cNvSpPr>
          <p:nvPr>
            <p:ph idx="1"/>
            <p:custDataLst>
              <p:tags r:id="rId2"/>
            </p:custDataLst>
          </p:nvPr>
        </p:nvSpPr>
        <p:spPr/>
        <p:txBody>
          <a:bodyPr>
            <a:noAutofit/>
          </a:bodyPr>
          <a:p>
            <a:r>
              <a:rPr lang="en-US" altLang="en-US" sz="1600"/>
              <a:t>1. IR emission:</a:t>
            </a:r>
            <a:endParaRPr lang="en-US" altLang="en-US" sz="1600"/>
          </a:p>
          <a:p>
            <a:pPr lvl="1"/>
            <a:r>
              <a:rPr lang="en-US" altLang="en-US" sz="1400"/>
              <a:t>An IR LED emits infrared light at a particular wavelength.</a:t>
            </a:r>
            <a:endParaRPr lang="en-US" altLang="en-US" sz="1400"/>
          </a:p>
          <a:p>
            <a:r>
              <a:rPr lang="en-US" altLang="en-US" sz="1600"/>
              <a:t>2. Light falls on object:</a:t>
            </a:r>
            <a:endParaRPr lang="en-US" altLang="en-US" sz="1600"/>
          </a:p>
          <a:p>
            <a:pPr lvl="1"/>
            <a:r>
              <a:rPr lang="en-US" altLang="en-US" sz="1400"/>
              <a:t>The emitted IR light travels toward the object.</a:t>
            </a:r>
            <a:endParaRPr lang="en-US" altLang="en-US" sz="1400"/>
          </a:p>
          <a:p>
            <a:r>
              <a:rPr lang="en-US" altLang="en-US" sz="1600"/>
              <a:t>3. Reflection:</a:t>
            </a:r>
            <a:endParaRPr lang="en-US" altLang="en-US" sz="1600"/>
          </a:p>
          <a:p>
            <a:pPr lvl="1"/>
            <a:r>
              <a:rPr lang="en-US" altLang="en-US" sz="1400"/>
              <a:t>If an object is close to the sensor, the IR light bounces/refects from the object.</a:t>
            </a:r>
            <a:endParaRPr lang="en-US" altLang="en-US" sz="1400"/>
          </a:p>
          <a:p>
            <a:r>
              <a:rPr lang="en-US" altLang="en-US" sz="1600"/>
              <a:t>4. Light detection:</a:t>
            </a:r>
            <a:endParaRPr lang="en-US" altLang="en-US" sz="1600"/>
          </a:p>
          <a:p>
            <a:pPr lvl="1"/>
            <a:r>
              <a:rPr lang="en-US" altLang="en-US" sz="1400"/>
              <a:t>The reflected light reaches the photodiode or phototransistor.</a:t>
            </a:r>
            <a:endParaRPr lang="en-US" altLang="en-US" sz="1400"/>
          </a:p>
          <a:p>
            <a:r>
              <a:rPr lang="en-US" altLang="en-US" sz="1600"/>
              <a:t>5. Intensity change:</a:t>
            </a:r>
            <a:endParaRPr lang="en-US" altLang="en-US" sz="1600"/>
          </a:p>
          <a:p>
            <a:pPr lvl="1"/>
            <a:r>
              <a:rPr lang="en-US" altLang="en-US" sz="1400"/>
              <a:t>The received light intensity increases significantly.</a:t>
            </a:r>
            <a:endParaRPr lang="en-US" altLang="en-US" sz="1400"/>
          </a:p>
          <a:p>
            <a:r>
              <a:rPr lang="en-US" altLang="en-US" sz="1600"/>
              <a:t>6. Object detection:</a:t>
            </a:r>
            <a:endParaRPr lang="en-US" altLang="en-US" sz="1600"/>
          </a:p>
          <a:p>
            <a:pPr lvl="1"/>
            <a:r>
              <a:rPr lang="en-US" altLang="en-US" sz="1400"/>
              <a:t>This change can be detected using a threshold, allowing the system to determine whether an object is present.</a:t>
            </a:r>
            <a:endParaRPr lang="en-US" altLang="en-US" sz="1400"/>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526415"/>
            <a:ext cx="8220710" cy="5875655"/>
          </a:xfrm>
          <a:prstGeom prst="rect">
            <a:avLst/>
          </a:prstGeom>
        </p:spPr>
      </p:pic>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rcRect r="1426"/>
          <a:stretch>
            <a:fillRect/>
          </a:stretch>
        </p:blipFill>
        <p:spPr>
          <a:xfrm>
            <a:off x="608330" y="373380"/>
            <a:ext cx="7098030" cy="6155690"/>
          </a:xfrm>
          <a:prstGeom prst="rect">
            <a:avLst/>
          </a:prstGeom>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Working</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1490345"/>
            <a:ext cx="7559675" cy="4759325"/>
          </a:xfrm>
          <a:prstGeom prst="rect">
            <a:avLst/>
          </a:prstGeom>
        </p:spPr>
      </p:pic>
      <p:pic>
        <p:nvPicPr>
          <p:cNvPr id="5" name="Picture 4"/>
          <p:cNvPicPr>
            <a:picLocks noChangeAspect="1"/>
          </p:cNvPicPr>
          <p:nvPr/>
        </p:nvPicPr>
        <p:blipFill>
          <a:blip r:embed="rId4"/>
          <a:stretch>
            <a:fillRect/>
          </a:stretch>
        </p:blipFill>
        <p:spPr>
          <a:xfrm>
            <a:off x="7566660" y="234950"/>
            <a:ext cx="4394200" cy="63881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Thermistors</a:t>
            </a:r>
            <a:endParaRPr lang="en-US"/>
          </a:p>
        </p:txBody>
      </p:sp>
      <p:sp>
        <p:nvSpPr>
          <p:cNvPr id="3" name="Content Placeholder 2"/>
          <p:cNvSpPr>
            <a:spLocks noGrp="1"/>
          </p:cNvSpPr>
          <p:nvPr>
            <p:ph idx="1"/>
            <p:custDataLst>
              <p:tags r:id="rId2"/>
            </p:custDataLst>
          </p:nvPr>
        </p:nvSpPr>
        <p:spPr/>
        <p:txBody>
          <a:bodyPr/>
          <a:p>
            <a:r>
              <a:rPr lang="en-US" altLang="en-US"/>
              <a:t>A thermistor is a type of resistor used to measure temperature changes. Its resistance changes when the temperature changes.</a:t>
            </a:r>
            <a:endParaRPr lang="en-US" altLang="en-US"/>
          </a:p>
          <a:p>
            <a:pPr marL="0" indent="0" algn="ctr">
              <a:buNone/>
            </a:pPr>
            <a:r>
              <a:rPr lang="en-US" altLang="en-US" sz="2800"/>
              <a:t>THERMal + resISTOR = THERMISTOR</a:t>
            </a:r>
            <a:endParaRPr lang="en-US" altLang="en-US" sz="2800"/>
          </a:p>
          <a:p>
            <a:pPr marL="0" indent="0" algn="l">
              <a:buNone/>
            </a:pPr>
            <a:endParaRPr lang="en-US" altLang="en-US" sz="2800"/>
          </a:p>
          <a:p>
            <a:pPr marL="0" indent="0" algn="ctr">
              <a:buNone/>
            </a:pPr>
            <a:endParaRPr lang="en-US" altLang="en-US" sz="2800"/>
          </a:p>
        </p:txBody>
      </p:sp>
      <p:pic>
        <p:nvPicPr>
          <p:cNvPr id="4" name="Picture 3"/>
          <p:cNvPicPr>
            <a:picLocks noChangeAspect="1"/>
          </p:cNvPicPr>
          <p:nvPr/>
        </p:nvPicPr>
        <p:blipFill>
          <a:blip r:embed="rId3"/>
          <a:stretch>
            <a:fillRect/>
          </a:stretch>
        </p:blipFill>
        <p:spPr>
          <a:xfrm>
            <a:off x="3274060" y="2958465"/>
            <a:ext cx="5078095" cy="3721100"/>
          </a:xfrm>
          <a:prstGeom prst="rect">
            <a:avLst/>
          </a:prstGeom>
        </p:spPr>
      </p:pic>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Types of Thermistor</a:t>
            </a:r>
            <a:endParaRPr lang="en-US"/>
          </a:p>
        </p:txBody>
      </p:sp>
      <p:sp>
        <p:nvSpPr>
          <p:cNvPr id="3" name="Content Placeholder 2"/>
          <p:cNvSpPr>
            <a:spLocks noGrp="1"/>
          </p:cNvSpPr>
          <p:nvPr>
            <p:ph idx="1"/>
            <p:custDataLst>
              <p:tags r:id="rId2"/>
            </p:custDataLst>
          </p:nvPr>
        </p:nvSpPr>
        <p:spPr/>
        <p:txBody>
          <a:bodyPr/>
          <a:p>
            <a:r>
              <a:rPr lang="en-US" altLang="en-US"/>
              <a:t>1. PTC – Positive Temperature Coefficient</a:t>
            </a:r>
            <a:endParaRPr lang="en-US" altLang="en-US"/>
          </a:p>
          <a:p>
            <a:r>
              <a:rPr lang="en-US" altLang="en-US"/>
              <a:t>For a PTC thermistor:</a:t>
            </a:r>
            <a:endParaRPr lang="en-US" altLang="en-US"/>
          </a:p>
          <a:p>
            <a:r>
              <a:rPr lang="en-US" altLang="en-US"/>
              <a:t>Temperature ↑ → Resistance ↑</a:t>
            </a:r>
            <a:endParaRPr lang="en-US" altLang="en-US"/>
          </a:p>
          <a:p>
            <a:r>
              <a:rPr lang="en-US" altLang="en-US"/>
              <a:t>If k is positive, resistance increases as temperature increases.</a:t>
            </a:r>
            <a:endParaRPr lang="en-US" altLang="en-US"/>
          </a:p>
          <a:p>
            <a:r>
              <a:rPr lang="en-US" altLang="en-US"/>
              <a:t>It is also called a Posistor.</a:t>
            </a:r>
            <a:endParaRPr lang="en-US" altLang="en-US"/>
          </a:p>
          <a:p>
            <a:r>
              <a:rPr lang="en-US" altLang="en-US"/>
              <a:t>2. NTC – Negative Temperature Coefficient</a:t>
            </a:r>
            <a:endParaRPr lang="en-US" altLang="en-US"/>
          </a:p>
          <a:p>
            <a:r>
              <a:rPr lang="en-US" altLang="en-US"/>
              <a:t>For an NTC thermistor:</a:t>
            </a:r>
            <a:endParaRPr lang="en-US" altLang="en-US"/>
          </a:p>
          <a:p>
            <a:r>
              <a:rPr lang="en-US" altLang="en-US"/>
              <a:t>Temperature ↑ → Resistance ↓</a:t>
            </a:r>
            <a:endParaRPr lang="en-US" altLang="en-US"/>
          </a:p>
          <a:p>
            <a:r>
              <a:rPr lang="en-US" altLang="en-US"/>
              <a:t>If k is negative, resistance decreases as temperature increases.</a:t>
            </a:r>
            <a:endParaRPr lang="en-US"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Comparision</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704850" y="1617980"/>
            <a:ext cx="10350500" cy="3340100"/>
          </a:xfrm>
          <a:prstGeom prst="rect">
            <a:avLst/>
          </a:prstGeom>
        </p:spPr>
      </p:pic>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Explaination</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948055" y="1490345"/>
            <a:ext cx="10288270" cy="4759325"/>
          </a:xfrm>
          <a:prstGeom prst="rect">
            <a:avLst/>
          </a:prstGeom>
        </p:spPr>
      </p:pic>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Humidity Sensor</a:t>
            </a:r>
            <a:endParaRPr lang="en-US" altLang="en-US"/>
          </a:p>
        </p:txBody>
      </p:sp>
      <p:sp>
        <p:nvSpPr>
          <p:cNvPr id="3" name="Content Placeholder 2"/>
          <p:cNvSpPr>
            <a:spLocks noGrp="1"/>
          </p:cNvSpPr>
          <p:nvPr>
            <p:ph idx="1"/>
            <p:custDataLst>
              <p:tags r:id="rId2"/>
            </p:custDataLst>
          </p:nvPr>
        </p:nvSpPr>
        <p:spPr/>
        <p:txBody>
          <a:bodyPr>
            <a:normAutofit fontScale="90000" lnSpcReduction="10000"/>
          </a:bodyPr>
          <a:p>
            <a:r>
              <a:rPr lang="en-US" altLang="en-US"/>
              <a:t>A humidity sensor, also called a hygrometer, is a device used to sense, measure, and report the relative humidity of air.</a:t>
            </a:r>
            <a:endParaRPr lang="en-US" altLang="en-US"/>
          </a:p>
          <a:p>
            <a:r>
              <a:rPr lang="en-US" altLang="en-US"/>
              <a:t>Humidity represents the amount of moisture present in the air. Relative humidity is the ratio of the actual moisture in the air to the maximum amount of moisture that the air can hold at that temperature.</a:t>
            </a:r>
            <a:endParaRPr lang="en-US" altLang="en-US"/>
          </a:p>
          <a:p>
            <a:r>
              <a:rPr lang="en-US" altLang="en-US"/>
              <a:t>Classification of Humidity Sensors</a:t>
            </a:r>
            <a:endParaRPr lang="en-US" altLang="en-US"/>
          </a:p>
          <a:p>
            <a:r>
              <a:rPr lang="en-US" altLang="en-US"/>
              <a:t>A. Based on type of humidity measuredNAbsolute</a:t>
            </a:r>
            <a:br>
              <a:rPr lang="en-US" altLang="en-US"/>
            </a:br>
            <a:r>
              <a:rPr lang="en-US" altLang="en-US"/>
              <a:t> Humidity (AH) Sensor</a:t>
            </a:r>
            <a:endParaRPr lang="en-US" altLang="en-US"/>
          </a:p>
          <a:p>
            <a:pPr lvl="1"/>
            <a:r>
              <a:rPr lang="en-US" altLang="en-US"/>
              <a:t>Relative Humidity (RH) Sensor</a:t>
            </a:r>
            <a:endParaRPr lang="en-US" altLang="en-US"/>
          </a:p>
          <a:p>
            <a:r>
              <a:rPr lang="en-US" altLang="en-US"/>
              <a:t>B. Based on the parameter used for measurement</a:t>
            </a:r>
            <a:endParaRPr lang="en-US" altLang="en-US"/>
          </a:p>
          <a:p>
            <a:pPr lvl="1"/>
            <a:r>
              <a:rPr lang="en-US" altLang="en-US"/>
              <a:t>Capacitive Humidity Sensor</a:t>
            </a:r>
            <a:endParaRPr lang="en-US" altLang="en-US"/>
          </a:p>
          <a:p>
            <a:pPr lvl="1"/>
            <a:r>
              <a:rPr lang="en-US" altLang="en-US"/>
              <a:t>Electrical Conductivity / Resistive Humidity Sensor</a:t>
            </a:r>
            <a:endParaRPr lang="en-US" altLang="en-US"/>
          </a:p>
          <a:p>
            <a:pPr lvl="1"/>
            <a:r>
              <a:rPr lang="en-US" altLang="en-US"/>
              <a:t>Thermal Conductivity Humidity Sensor</a:t>
            </a:r>
            <a:endParaRPr lang="en-US" altLang="en-US"/>
          </a:p>
        </p:txBody>
      </p:sp>
      <p:pic>
        <p:nvPicPr>
          <p:cNvPr id="4" name="Picture 3"/>
          <p:cNvPicPr>
            <a:picLocks noChangeAspect="1"/>
          </p:cNvPicPr>
          <p:nvPr/>
        </p:nvPicPr>
        <p:blipFill>
          <a:blip r:embed="rId3"/>
          <a:stretch>
            <a:fillRect/>
          </a:stretch>
        </p:blipFill>
        <p:spPr>
          <a:xfrm>
            <a:off x="6965315" y="3653155"/>
            <a:ext cx="5226685" cy="3204845"/>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ltLang="en-US"/>
              <a:t>Relative Humidity</a:t>
            </a:r>
            <a:endParaRPr lang="en-US" altLang="en-US"/>
          </a:p>
        </p:txBody>
      </p:sp>
      <p:sp>
        <p:nvSpPr>
          <p:cNvPr id="3" name="Content Placeholder 2"/>
          <p:cNvSpPr>
            <a:spLocks noGrp="1"/>
          </p:cNvSpPr>
          <p:nvPr>
            <p:ph idx="1"/>
            <p:custDataLst>
              <p:tags r:id="rId2"/>
            </p:custDataLst>
          </p:nvPr>
        </p:nvSpPr>
        <p:spPr/>
        <p:txBody>
          <a:bodyPr/>
          <a:p>
            <a:r>
              <a:rPr lang="en-US" altLang="en-US"/>
              <a:t>Relative Humidity (RH) indicates how much moisture is present in the air compared with the maximum moisture that the air can hold at that temperature.</a:t>
            </a:r>
            <a:endParaRPr lang="en-US" altLang="en-US"/>
          </a:p>
          <a:p>
            <a:r>
              <a:rPr lang="en-US" altLang="en-US"/>
              <a:t>It is commonly expressed as a percentage (%).</a:t>
            </a:r>
            <a:endParaRPr lang="en-US" altLang="en-US"/>
          </a:p>
          <a:p>
            <a:r>
              <a:rPr lang="en-US" altLang="en-US"/>
              <a:t>For example:</a:t>
            </a:r>
            <a:endParaRPr lang="en-US" altLang="en-US"/>
          </a:p>
          <a:p>
            <a:r>
              <a:rPr lang="en-US" altLang="en-US"/>
              <a:t>50% RH means the air contains approximately half of the moisture it could hold at that temperature.</a:t>
            </a:r>
            <a:endParaRPr lang="en-US" altLang="en-US"/>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Capasitive Humidity Sensor</a:t>
            </a:r>
            <a:endParaRPr lang="en-US"/>
          </a:p>
        </p:txBody>
      </p:sp>
      <p:sp>
        <p:nvSpPr>
          <p:cNvPr id="3" name="Content Placeholder 2"/>
          <p:cNvSpPr>
            <a:spLocks noGrp="1"/>
          </p:cNvSpPr>
          <p:nvPr>
            <p:ph idx="1"/>
            <p:custDataLst>
              <p:tags r:id="rId2"/>
            </p:custDataLst>
          </p:nvPr>
        </p:nvSpPr>
        <p:spPr/>
        <p:txBody>
          <a:bodyPr/>
          <a:p>
            <a:r>
              <a:rPr lang="en-US" altLang="en-US"/>
              <a:t>A capacitive humidity sensor is a type of humidity sensor that works using the capacitive effect.</a:t>
            </a:r>
            <a:endParaRPr lang="en-US" altLang="en-US"/>
          </a:p>
          <a:p>
            <a:r>
              <a:rPr lang="en-US" altLang="en-US"/>
              <a:t>In a capacitive RH sensor, the electrical permittivity of the dielectric material changes when humidity changes.</a:t>
            </a:r>
            <a:endParaRPr lang="en-US" altLang="en-US"/>
          </a:p>
          <a:p>
            <a:r>
              <a:rPr lang="en-US" altLang="en-US"/>
              <a:t>Key Point</a:t>
            </a:r>
            <a:endParaRPr lang="en-US" altLang="en-US"/>
          </a:p>
          <a:p>
            <a:r>
              <a:rPr lang="en-US" altLang="en-US"/>
              <a:t>Humidity changes → Dielectric permittivity changes → Capacitance changes → Humidity detected</a:t>
            </a:r>
            <a:endParaRPr lang="en-US" alt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1524000" y="-635"/>
            <a:ext cx="9144000" cy="6858635"/>
          </a:xfrm>
          <a:prstGeom prst="rect">
            <a:avLst/>
          </a:prstGeom>
        </p:spPr>
      </p:pic>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Construction</a:t>
            </a:r>
            <a:endParaRPr lang="en-US"/>
          </a:p>
        </p:txBody>
      </p:sp>
      <p:sp>
        <p:nvSpPr>
          <p:cNvPr id="3" name="Content Placeholder 2"/>
          <p:cNvSpPr>
            <a:spLocks noGrp="1"/>
          </p:cNvSpPr>
          <p:nvPr>
            <p:ph idx="1"/>
            <p:custDataLst>
              <p:tags r:id="rId2"/>
            </p:custDataLst>
          </p:nvPr>
        </p:nvSpPr>
        <p:spPr/>
        <p:txBody>
          <a:bodyPr>
            <a:normAutofit fontScale="90000" lnSpcReduction="20000"/>
          </a:bodyPr>
          <a:p>
            <a:r>
              <a:rPr lang="en-US" altLang="en-US"/>
              <a:t>Two metal electrodes are deposited on the substrate.</a:t>
            </a:r>
            <a:endParaRPr lang="en-US" altLang="en-US"/>
          </a:p>
          <a:p>
            <a:r>
              <a:rPr lang="en-US" altLang="en-US"/>
              <a:t>The electrodes can be made from aluminium, platinum, or chromium.</a:t>
            </a:r>
            <a:endParaRPr lang="en-US" altLang="en-US"/>
          </a:p>
          <a:p>
            <a:r>
              <a:rPr lang="en-US" altLang="en-US"/>
              <a:t>The electrodes form an interdigitized pattern.</a:t>
            </a:r>
            <a:endParaRPr lang="en-US" altLang="en-US"/>
          </a:p>
          <a:p>
            <a:r>
              <a:rPr lang="en-US" altLang="en-US"/>
              <a:t>A dielectric layer is deposited over the electrodes.</a:t>
            </a:r>
            <a:endParaRPr lang="en-US" altLang="en-US"/>
          </a:p>
          <a:p>
            <a:r>
              <a:rPr lang="en-US" altLang="en-US"/>
              <a:t>Two temperature-sensitive resistors may also be placed on the same substrate for temperature compensation</a:t>
            </a:r>
            <a:endParaRPr lang="en-US" altLang="en-US"/>
          </a:p>
          <a:p>
            <a:endParaRPr lang="en-US" altLang="en-US"/>
          </a:p>
          <a:p>
            <a:r>
              <a:rPr lang="en-US" altLang="en-US" b="1">
                <a:latin typeface="Arial Bold" panose="020B0604020202090204" charset="0"/>
                <a:cs typeface="Arial Bold" panose="020B0604020202090204" charset="0"/>
              </a:rPr>
              <a:t>Advantages of Capacitive Humidity Sensors</a:t>
            </a:r>
            <a:endParaRPr lang="en-US" altLang="en-US" b="1">
              <a:latin typeface="Arial Bold" panose="020B0604020202090204" charset="0"/>
              <a:cs typeface="Arial Bold" panose="020B0604020202090204" charset="0"/>
            </a:endParaRPr>
          </a:p>
          <a:p>
            <a:r>
              <a:rPr lang="en-US" altLang="en-US"/>
              <a:t>According to the PPT, capacitive humidity sensors are useful when factors such as:</a:t>
            </a:r>
            <a:endParaRPr lang="en-US" altLang="en-US"/>
          </a:p>
          <a:p>
            <a:r>
              <a:rPr lang="en-US" altLang="en-US"/>
              <a:t>Cost</a:t>
            </a:r>
            <a:endParaRPr lang="en-US" altLang="en-US"/>
          </a:p>
          <a:p>
            <a:r>
              <a:rPr lang="en-US" altLang="en-US"/>
              <a:t>Rigidity</a:t>
            </a:r>
            <a:endParaRPr lang="en-US" altLang="en-US"/>
          </a:p>
          <a:p>
            <a:r>
              <a:rPr lang="en-US" altLang="en-US"/>
              <a:t>Size</a:t>
            </a:r>
            <a:endParaRPr lang="en-US" altLang="en-US"/>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Diargarm</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2996565" y="1490345"/>
            <a:ext cx="6191250" cy="4759325"/>
          </a:xfrm>
          <a:prstGeom prst="rect">
            <a:avLst/>
          </a:prstGeom>
        </p:spPr>
      </p:pic>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a:t>DHT11 / DHT22 Temperature &amp; Humidity Sensor</a:t>
            </a:r>
            <a:endParaRPr lang="en-US" altLang="en-US"/>
          </a:p>
        </p:txBody>
      </p:sp>
      <p:sp>
        <p:nvSpPr>
          <p:cNvPr id="3" name="Content Placeholder 2"/>
          <p:cNvSpPr>
            <a:spLocks noGrp="1"/>
          </p:cNvSpPr>
          <p:nvPr>
            <p:ph idx="1"/>
            <p:custDataLst>
              <p:tags r:id="rId2"/>
            </p:custDataLst>
          </p:nvPr>
        </p:nvSpPr>
        <p:spPr/>
        <p:txBody>
          <a:bodyPr/>
          <a:p>
            <a:r>
              <a:rPr lang="en-US" altLang="en-US"/>
              <a:t>DHT11 is a basic, low-cost digital temperature and humidity sensor.</a:t>
            </a:r>
            <a:endParaRPr lang="en-US" altLang="en-US"/>
          </a:p>
          <a:p>
            <a:r>
              <a:rPr lang="en-US" altLang="en-US"/>
              <a:t>It uses:</a:t>
            </a:r>
            <a:endParaRPr lang="en-US" altLang="en-US"/>
          </a:p>
          <a:p>
            <a:pPr lvl="1"/>
            <a:r>
              <a:rPr lang="en-US" altLang="en-US"/>
              <a:t>A capacitive humidity sensor to measure humidity</a:t>
            </a:r>
            <a:endParaRPr lang="en-US" altLang="en-US"/>
          </a:p>
          <a:p>
            <a:pPr lvl="1"/>
            <a:r>
              <a:rPr lang="en-US" altLang="en-US"/>
              <a:t>A thermistor to measure temperature</a:t>
            </a:r>
            <a:endParaRPr lang="en-US" altLang="en-US"/>
          </a:p>
          <a:p>
            <a:pPr lvl="1"/>
            <a:r>
              <a:rPr lang="en-US" altLang="en-US"/>
              <a:t>An internal IC to process the measurements</a:t>
            </a:r>
            <a:endParaRPr lang="en-US" altLang="en-US"/>
          </a:p>
          <a:p>
            <a:pPr lvl="1"/>
            <a:r>
              <a:rPr lang="en-US" altLang="en-US"/>
              <a:t>The output is provided as a digital signal, so an analog input pin is not required.</a:t>
            </a:r>
            <a:endParaRPr lang="en-US" altLang="en-US"/>
          </a:p>
          <a:p>
            <a:pPr lvl="1"/>
            <a:endParaRPr lang="en-US" altLang="en-US"/>
          </a:p>
          <a:p>
            <a:pPr lvl="0"/>
            <a:endParaRPr lang="en-US" altLang="en-US"/>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10968990" cy="6092825"/>
          </a:xfrm>
          <a:prstGeom prst="rect">
            <a:avLst/>
          </a:prstGeom>
        </p:spPr>
      </p:pic>
    </p:spTree>
    <p:custDataLst>
      <p:tags r:id="rId4"/>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7595870" cy="5798820"/>
          </a:xfrm>
          <a:prstGeom prst="rect">
            <a:avLst/>
          </a:prstGeom>
        </p:spPr>
      </p:pic>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9271000" cy="4572000"/>
          </a:xfrm>
          <a:prstGeom prst="rect">
            <a:avLst/>
          </a:prstGeom>
        </p:spPr>
      </p:pic>
      <p:pic>
        <p:nvPicPr>
          <p:cNvPr id="5" name="Picture 4"/>
          <p:cNvPicPr>
            <a:picLocks noChangeAspect="1"/>
          </p:cNvPicPr>
          <p:nvPr/>
        </p:nvPicPr>
        <p:blipFill>
          <a:blip r:embed="rId3"/>
          <a:stretch>
            <a:fillRect/>
          </a:stretch>
        </p:blipFill>
        <p:spPr>
          <a:xfrm>
            <a:off x="9207500" y="2543175"/>
            <a:ext cx="2984500" cy="4314825"/>
          </a:xfrm>
          <a:prstGeom prst="rect">
            <a:avLst/>
          </a:prstGeom>
        </p:spPr>
      </p:pic>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IMP</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2612390" y="0"/>
            <a:ext cx="9579610" cy="6845300"/>
          </a:xfrm>
          <a:prstGeom prst="rect">
            <a:avLst/>
          </a:prstGeom>
        </p:spPr>
      </p:pic>
    </p:spTree>
    <p:custDataLst>
      <p:tags r:id="rId4"/>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Thank you</a:t>
            </a:r>
            <a:endParaRPr lang="en-US"/>
          </a:p>
        </p:txBody>
      </p:sp>
      <p:sp>
        <p:nvSpPr>
          <p:cNvPr id="5" name="Subtitle 4"/>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08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BEAUTIFY_FLAG" val="#wm#"/>
  <p:tag name="KSO_WM_TEMPLATE_CATEGORY" val="custom"/>
  <p:tag name="KSO_WM_TEMPLATE_INDEX" val="2020508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p="http://schemas.openxmlformats.org/presentationml/2006/main">
  <p:tag name="KSO_WM_BEAUTIFY_FLAG" val="#wm#"/>
  <p:tag name="KSO_WM_TEMPLATE_CATEGORY" val="custom"/>
  <p:tag name="KSO_WM_TEMPLATE_INDEX" val="2020508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p="http://schemas.openxmlformats.org/presentationml/2006/main">
  <p:tag name="KSO_WM_BEAUTIFY_FLAG" val="#wm#"/>
  <p:tag name="KSO_WM_TEMPLATE_CATEGORY" val="custom"/>
  <p:tag name="KSO_WM_TEMPLATE_INDEX" val="2020508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KSO_WM_BEAUTIFY_FLAG" val="#wm#"/>
  <p:tag name="KSO_WM_TEMPLATE_CATEGORY" val="custom"/>
  <p:tag name="KSO_WM_TEMPLATE_INDEX" val="2020508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5802</Words>
  <Application>WPS Presentation</Application>
  <PresentationFormat>Widescreen</PresentationFormat>
  <Paragraphs>173</Paragraphs>
  <Slides>36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36</vt:i4>
      </vt:variant>
    </vt:vector>
  </HeadingPairs>
  <TitlesOfParts>
    <vt:vector size="48" baseType="lpstr">
      <vt:lpstr>Arial</vt:lpstr>
      <vt:lpstr>SimSun</vt:lpstr>
      <vt:lpstr>Wingdings</vt:lpstr>
      <vt:lpstr>Wingdings</vt:lpstr>
      <vt:lpstr>Microsoft YaHei</vt:lpstr>
      <vt:lpstr>汉仪旗黑</vt:lpstr>
      <vt:lpstr>Arial Unicode MS</vt:lpstr>
      <vt:lpstr>Calibri</vt:lpstr>
      <vt:lpstr>Helvetica Neue</vt:lpstr>
      <vt:lpstr>Arial Bold</vt:lpstr>
      <vt:lpstr>宋体-简</vt:lpstr>
      <vt:lpstr>WPS</vt:lpstr>
      <vt:lpstr>Sensors &amp; Actuators</vt:lpstr>
      <vt:lpstr>Introduction to Sensors</vt:lpstr>
      <vt:lpstr>Ultrasonic Sensors</vt:lpstr>
      <vt:lpstr>Diagram</vt:lpstr>
      <vt:lpstr>Distance Calculation</vt:lpstr>
      <vt:lpstr>Configuration</vt:lpstr>
      <vt:lpstr>PowerPoint 演示文稿</vt:lpstr>
      <vt:lpstr>Advantages</vt:lpstr>
      <vt:lpstr>LDR (Light Dependent Resistor)</vt:lpstr>
      <vt:lpstr>Working</vt:lpstr>
      <vt:lpstr>PowerPoint 演示文稿</vt:lpstr>
      <vt:lpstr>Construction</vt:lpstr>
      <vt:lpstr>Application</vt:lpstr>
      <vt:lpstr>Graph</vt:lpstr>
      <vt:lpstr>Diagram</vt:lpstr>
      <vt:lpstr>Infrared (IR) Sensor</vt:lpstr>
      <vt:lpstr>Working Steps</vt:lpstr>
      <vt:lpstr>PowerPoint 演示文稿</vt:lpstr>
      <vt:lpstr>PowerPoint 演示文稿</vt:lpstr>
      <vt:lpstr>Working</vt:lpstr>
      <vt:lpstr>Thermistors</vt:lpstr>
      <vt:lpstr>Types of Thermistor</vt:lpstr>
      <vt:lpstr>Comparision</vt:lpstr>
      <vt:lpstr>Explaination</vt:lpstr>
      <vt:lpstr>Humidity Sensor</vt:lpstr>
      <vt:lpstr>Relative Humidity</vt:lpstr>
      <vt:lpstr>Capasitive Humidity Sensor</vt:lpstr>
      <vt:lpstr>PowerPoint 演示文稿</vt:lpstr>
      <vt:lpstr>Construction</vt:lpstr>
      <vt:lpstr>Diargarm</vt:lpstr>
      <vt:lpstr>DHT11 / DHT22 Temperature &amp; Humidity Sensor</vt:lpstr>
      <vt:lpstr>PowerPoint 演示文稿</vt:lpstr>
      <vt:lpstr>PowerPoint 演示文稿</vt:lpstr>
      <vt:lpstr>PowerPoint 演示文稿</vt:lpstr>
      <vt:lpstr>IMP</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Sensors &amp; Actuators</dc:title>
  <dc:creator>suratwalavraj</dc:creator>
  <cp:lastModifiedBy>Vraj Suratwala</cp:lastModifiedBy>
  <cp:revision>12</cp:revision>
  <dcterms:created xsi:type="dcterms:W3CDTF">2026-09-05T08:37:13Z</dcterms:created>
  <dcterms:modified xsi:type="dcterms:W3CDTF">2026-09-05T08:37:13Z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2E0532B5A39F619C23D3976A4C6AD813_41</vt:lpwstr>
  </property>
</Properties>
</file>