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viewProps" Target="viewProps.xml"/><Relationship Id="rId8" Type="http://schemas.openxmlformats.org/officeDocument/2006/relationships/presProps" Target="presProps.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0" Type="http://schemas.openxmlformats.org/officeDocument/2006/relationships/tableStyles" Target="tableStyles.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en-US" dirty="0"/>
              <a:t>Click to edit Master title style</a:t>
            </a:r>
            <a:endParaRPr lang="en-US" dirty="0"/>
          </a:p>
        </p:txBody>
      </p:sp>
      <p:sp>
        <p:nvSpPr>
          <p:cNvPr id="3" name="Subtitle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16" name="Date Placeholder 15"/>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17" name="Footer Placeholder 16"/>
          <p:cNvSpPr>
            <a:spLocks noGrp="1"/>
          </p:cNvSpPr>
          <p:nvPr>
            <p:ph type="ftr" sz="quarter" idx="11"/>
            <p:custDataLst>
              <p:tags r:id="rId5"/>
            </p:custDataLst>
          </p:nvPr>
        </p:nvSpPr>
        <p:spPr/>
        <p:txBody>
          <a:bodyPr/>
          <a:lstStyle/>
          <a:p>
            <a:endParaRPr lang="en-US" dirty="0"/>
          </a:p>
        </p:txBody>
      </p:sp>
      <p:sp>
        <p:nvSpPr>
          <p:cNvPr id="18" name="Slide Number Placeholder 17"/>
          <p:cNvSpPr>
            <a:spLocks noGrp="1"/>
          </p:cNvSpPr>
          <p:nvPr>
            <p:ph type="sldNum" sz="quarter" idx="12"/>
            <p:custDataLst>
              <p:tags r:id="rId6"/>
            </p:custDataLst>
          </p:nvPr>
        </p:nvSpPr>
        <p:spPr/>
        <p:txBody>
          <a:bodyPr/>
          <a:lstStyle/>
          <a:p>
            <a:fld id="{49AE70B2-8BF9-45C0-BB95-33D1B9D3A854}" type="slidenum">
              <a:rPr lang="en-US" smtClean="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Content Placeholder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en-US" dirty="0"/>
              <a:t>Click to edit title</a:t>
            </a:r>
            <a:endParaRPr lang="en-US" dirty="0"/>
          </a:p>
        </p:txBody>
      </p:sp>
      <p:sp>
        <p:nvSpPr>
          <p:cNvPr id="3" name="Text Placeholder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text</a:t>
            </a:r>
            <a:endParaRPr lang="en-US" dirty="0"/>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Content Placeholder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5" name="Date Placeholder 4"/>
          <p:cNvSpPr>
            <a:spLocks noGrp="1"/>
          </p:cNvSpPr>
          <p:nvPr>
            <p:ph type="dt" sz="half" idx="10"/>
            <p:custDataLst>
              <p:tags r:id="rId5"/>
            </p:custDataLst>
          </p:nvPr>
        </p:nvSpPr>
        <p:spPr/>
        <p:txBody>
          <a:bodyPr/>
          <a:lstStyle/>
          <a:p>
            <a:fld id="{760FBDFE-C587-4B4C-A407-44438C67B59E}" type="datetimeFigureOut">
              <a:rPr lang="en-US" smtClean="0"/>
            </a:fld>
            <a:endParaRPr lang="en-US"/>
          </a:p>
        </p:txBody>
      </p:sp>
      <p:sp>
        <p:nvSpPr>
          <p:cNvPr id="6" name="Footer Placeholder 5"/>
          <p:cNvSpPr>
            <a:spLocks noGrp="1"/>
          </p:cNvSpPr>
          <p:nvPr>
            <p:ph type="ftr" sz="quarter" idx="11"/>
            <p:custDataLst>
              <p:tags r:id="rId6"/>
            </p:custDataLst>
          </p:nvPr>
        </p:nvSpPr>
        <p:spPr/>
        <p:txBody>
          <a:bodyPr/>
          <a:lstStyle/>
          <a:p>
            <a:endParaRPr lang="en-US"/>
          </a:p>
        </p:txBody>
      </p:sp>
      <p:sp>
        <p:nvSpPr>
          <p:cNvPr id="7" name="Slide Number Placeholder 6"/>
          <p:cNvSpPr>
            <a:spLocks noGrp="1"/>
          </p:cNvSpPr>
          <p:nvPr>
            <p:ph type="sldNum" sz="quarter" idx="12"/>
            <p:custDataLst>
              <p:tags r:id="rId7"/>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Text Placeholder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text</a:t>
            </a:r>
            <a:endParaRPr lang="en-US" dirty="0"/>
          </a:p>
        </p:txBody>
      </p:sp>
      <p:sp>
        <p:nvSpPr>
          <p:cNvPr id="4" name="Content Placeholder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text</a:t>
            </a:r>
            <a:endParaRPr lang="en-US"/>
          </a:p>
        </p:txBody>
      </p:sp>
      <p:sp>
        <p:nvSpPr>
          <p:cNvPr id="6" name="Content Placeholder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custDataLst>
              <p:tags r:id="rId7"/>
            </p:custDataLst>
          </p:nvPr>
        </p:nvSpPr>
        <p:spPr/>
        <p:txBody>
          <a:bodyPr/>
          <a:lstStyle/>
          <a:p>
            <a:fld id="{760FBDFE-C587-4B4C-A407-44438C67B59E}" type="datetimeFigureOut">
              <a:rPr lang="en-US" smtClean="0"/>
            </a:fld>
            <a:endParaRPr lang="en-US"/>
          </a:p>
        </p:txBody>
      </p:sp>
      <p:sp>
        <p:nvSpPr>
          <p:cNvPr id="8" name="Footer Placeholder 7"/>
          <p:cNvSpPr>
            <a:spLocks noGrp="1"/>
          </p:cNvSpPr>
          <p:nvPr>
            <p:ph type="ftr" sz="quarter" idx="11"/>
            <p:custDataLst>
              <p:tags r:id="rId8"/>
            </p:custDataLst>
          </p:nvPr>
        </p:nvSpPr>
        <p:spPr/>
        <p:txBody>
          <a:bodyPr/>
          <a:lstStyle/>
          <a:p>
            <a:endParaRPr lang="en-US"/>
          </a:p>
        </p:txBody>
      </p:sp>
      <p:sp>
        <p:nvSpPr>
          <p:cNvPr id="9" name="Slide Number Placeholder 8"/>
          <p:cNvSpPr>
            <a:spLocks noGrp="1"/>
          </p:cNvSpPr>
          <p:nvPr>
            <p:ph type="sldNum" sz="quarter" idx="12"/>
            <p:custDataLst>
              <p:tags r:id="rId9"/>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Date Placeholder 2"/>
          <p:cNvSpPr>
            <a:spLocks noGrp="1"/>
          </p:cNvSpPr>
          <p:nvPr>
            <p:ph type="dt" sz="half" idx="10"/>
            <p:custDataLst>
              <p:tags r:id="rId3"/>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4"/>
            </p:custDataLst>
          </p:nvPr>
        </p:nvSpPr>
        <p:spPr/>
        <p:txBody>
          <a:bodyPr/>
          <a:lstStyle/>
          <a:p>
            <a:endParaRPr lang="en-US"/>
          </a:p>
        </p:txBody>
      </p:sp>
      <p:sp>
        <p:nvSpPr>
          <p:cNvPr id="5" name="Slide Number Placeholder 4"/>
          <p:cNvSpPr>
            <a:spLocks noGrp="1"/>
          </p:cNvSpPr>
          <p:nvPr>
            <p:ph type="sldNum" sz="quarter" idx="12"/>
            <p:custDataLst>
              <p:tags r:id="rId5"/>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3" name="Footer Placeholder 2"/>
          <p:cNvSpPr>
            <a:spLocks noGrp="1"/>
          </p:cNvSpPr>
          <p:nvPr>
            <p:ph type="ftr" sz="quarter" idx="11"/>
            <p:custDataLst>
              <p:tags r:id="rId3"/>
            </p:custDataLst>
          </p:nvPr>
        </p:nvSpPr>
        <p:spPr/>
        <p:txBody>
          <a:bodyPr/>
          <a:lstStyle/>
          <a:p>
            <a:endParaRPr lang="en-US"/>
          </a:p>
        </p:txBody>
      </p:sp>
      <p:sp>
        <p:nvSpPr>
          <p:cNvPr id="4" name="Slide Number Placeholder 3"/>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en-US"/>
          </a:p>
        </p:txBody>
      </p:sp>
      <p:sp>
        <p:nvSpPr>
          <p:cNvPr id="4" name="Text Placeholder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en-US" smtClean="0"/>
              <a:t>Click to edit Master text styles</a:t>
            </a:r>
            <a:endParaRPr lang="en-US"/>
          </a:p>
        </p:txBody>
      </p:sp>
      <p:sp>
        <p:nvSpPr>
          <p:cNvPr id="5" name="Date Placeholder 4"/>
          <p:cNvSpPr>
            <a:spLocks noGrp="1"/>
          </p:cNvSpPr>
          <p:nvPr>
            <p:ph type="dt" sz="half" idx="10"/>
            <p:custDataLst>
              <p:tags r:id="rId4"/>
            </p:custDataLst>
          </p:nvPr>
        </p:nvSpPr>
        <p:spPr/>
        <p:txBody>
          <a:bodyPr/>
          <a:lstStyle/>
          <a:p>
            <a:fld id="{9EFD9D74-47D9-4702-A33C-335B63B48DBF}" type="datetimeFigureOut">
              <a:rPr lang="en-US" smtClean="0"/>
            </a:fld>
            <a:endParaRPr lang="en-US" dirty="0"/>
          </a:p>
        </p:txBody>
      </p:sp>
      <p:sp>
        <p:nvSpPr>
          <p:cNvPr id="6" name="Footer Placeholder 5"/>
          <p:cNvSpPr>
            <a:spLocks noGrp="1"/>
          </p:cNvSpPr>
          <p:nvPr>
            <p:ph type="ftr" sz="quarter" idx="11"/>
            <p:custDataLst>
              <p:tags r:id="rId5"/>
            </p:custDataLst>
          </p:nvPr>
        </p:nvSpPr>
        <p:spPr/>
        <p:txBody>
          <a:bodyPr/>
          <a:lstStyle/>
          <a:p>
            <a:endParaRPr lang="en-US" dirty="0"/>
          </a:p>
        </p:txBody>
      </p:sp>
      <p:sp>
        <p:nvSpPr>
          <p:cNvPr id="7" name="Slide Number Placeholder 6"/>
          <p:cNvSpPr>
            <a:spLocks noGrp="1"/>
          </p:cNvSpPr>
          <p:nvPr>
            <p:ph type="sldNum" sz="quarter" idx="12"/>
            <p:custDataLst>
              <p:tags r:id="rId6"/>
            </p:custDataLst>
          </p:nvPr>
        </p:nvSpPr>
        <p:spPr/>
        <p:txBody>
          <a:bodyPr/>
          <a:lstStyle/>
          <a:p>
            <a:fld id="{FABC47A4-756D-490B-A52F-7D9E2C9FC05F}" type="slidenum">
              <a:rPr lang="en-US" smtClean="0"/>
            </a:fld>
            <a:endParaRPr lang="en-US"/>
          </a:p>
        </p:txBody>
      </p:sp>
      <p:sp>
        <p:nvSpPr>
          <p:cNvPr id="9" name="Title 8"/>
          <p:cNvSpPr>
            <a:spLocks noGrp="1"/>
          </p:cNvSpPr>
          <p:nvPr>
            <p:ph type="title"/>
            <p:custDataLst>
              <p:tags r:id="rId7"/>
            </p:custDataLst>
          </p:nvPr>
        </p:nvSpPr>
        <p:spPr/>
        <p:txBody>
          <a:bodyPr/>
          <a:p>
            <a:r>
              <a:rPr lang="en-US"/>
              <a:t>Click to edit Master title style</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en-US" smtClean="0"/>
              <a:t>Click to edit title</a:t>
            </a:r>
            <a:endParaRPr lang="en-US"/>
          </a:p>
        </p:txBody>
      </p:sp>
      <p:sp>
        <p:nvSpPr>
          <p:cNvPr id="3" name="Vertical Text Placeholder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3"/>
            </p:custDataLst>
          </p:nvPr>
        </p:nvSpPr>
        <p:spPr/>
        <p:txBody>
          <a:bodyPr/>
          <a:lstStyle/>
          <a:p>
            <a:endParaRPr lang="en-US"/>
          </a:p>
        </p:txBody>
      </p:sp>
      <p:sp>
        <p:nvSpPr>
          <p:cNvPr id="5" name="Slide Number Placeholder 4"/>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
        <p:nvSpPr>
          <p:cNvPr id="7" name="Content Placeholder 6"/>
          <p:cNvSpPr>
            <a:spLocks noGrp="1"/>
          </p:cNvSpPr>
          <p:nvPr>
            <p:ph sz="quarter" idx="13"/>
            <p:custDataLst>
              <p:tags r:id="rId5"/>
            </p:custDataLst>
          </p:nvPr>
        </p:nvSpPr>
        <p:spPr>
          <a:xfrm>
            <a:off x="608400" y="774000"/>
            <a:ext cx="10972800" cy="5482800"/>
          </a:xfrm>
        </p:spPr>
        <p:txBody>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ast Slide">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3"/>
            </p:custDataLst>
          </p:nvPr>
        </p:nvSpPr>
        <p:spPr/>
        <p:txBody>
          <a:bodyPr/>
          <a:lstStyle/>
          <a:p>
            <a:endParaRPr lang="en-US"/>
          </a:p>
        </p:txBody>
      </p:sp>
      <p:sp>
        <p:nvSpPr>
          <p:cNvPr id="5" name="Slide Number Placeholder 4"/>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
        <p:nvSpPr>
          <p:cNvPr id="2" name="Title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en-US" smtClean="0"/>
              <a:t>Click to edit title</a:t>
            </a:r>
            <a:endParaRPr lang="en-US"/>
          </a:p>
        </p:txBody>
      </p:sp>
      <p:sp>
        <p:nvSpPr>
          <p:cNvPr id="7" name="Text Placeholder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en-US" dirty="0"/>
              <a:t>Click to edit Master text styles</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en-US" dirty="0"/>
              <a:t>Click to edit Master title style</a:t>
            </a:r>
            <a:endParaRPr lang="en-US" dirty="0"/>
          </a:p>
        </p:txBody>
      </p:sp>
      <p:sp>
        <p:nvSpPr>
          <p:cNvPr id="3" name="Text Placeholder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en-US" smtClean="0"/>
            </a:fld>
            <a:endParaRPr lang="en-US"/>
          </a:p>
        </p:txBody>
      </p:sp>
      <p:sp>
        <p:nvSpPr>
          <p:cNvPr id="5" name="Footer Placeholder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en-US" dirty="0"/>
          </a:p>
        </p:txBody>
      </p:sp>
      <p:sp>
        <p:nvSpPr>
          <p:cNvPr id="6" name="Slide Number Placeholder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en-US" smtClean="0"/>
            </a:fld>
            <a:endParaRPr 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9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9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9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9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tags" Target="../tags/tag63.xml"/></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68.xml"/><Relationship Id="rId2" Type="http://schemas.openxmlformats.org/officeDocument/2006/relationships/tags" Target="../tags/tag67.xml"/><Relationship Id="rId1" Type="http://schemas.openxmlformats.org/officeDocument/2006/relationships/tags" Target="../tags/tag66.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1.xml"/><Relationship Id="rId2" Type="http://schemas.openxmlformats.org/officeDocument/2006/relationships/tags" Target="../tags/tag70.xml"/><Relationship Id="rId1" Type="http://schemas.openxmlformats.org/officeDocument/2006/relationships/tags" Target="../tags/tag69.xml"/></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4.xml"/><Relationship Id="rId2" Type="http://schemas.openxmlformats.org/officeDocument/2006/relationships/tags" Target="../tags/tag73.xml"/><Relationship Id="rId1" Type="http://schemas.openxmlformats.org/officeDocument/2006/relationships/tags" Target="../tags/tag72.xml"/></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7.xml"/><Relationship Id="rId2" Type="http://schemas.openxmlformats.org/officeDocument/2006/relationships/tags" Target="../tags/tag76.xml"/><Relationship Id="rId1" Type="http://schemas.openxmlformats.org/officeDocument/2006/relationships/tags" Target="../tags/tag7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custDataLst>
              <p:tags r:id="rId1"/>
            </p:custDataLst>
          </p:nvPr>
        </p:nvSpPr>
        <p:spPr/>
        <p:txBody>
          <a:bodyPr/>
          <a:p>
            <a:r>
              <a:rPr lang="en-US"/>
              <a:t>ARM - 5 Marks Theory</a:t>
            </a:r>
            <a:endParaRPr lang="en-US"/>
          </a:p>
        </p:txBody>
      </p:sp>
      <p:sp>
        <p:nvSpPr>
          <p:cNvPr id="3" name="Subtitle 2"/>
          <p:cNvSpPr>
            <a:spLocks noGrp="1"/>
          </p:cNvSpPr>
          <p:nvPr>
            <p:ph type="subTitle" idx="1"/>
            <p:custDataLst>
              <p:tags r:id="rId2"/>
            </p:custDataLst>
          </p:nvPr>
        </p:nvSpPr>
        <p:spPr/>
        <p:txBody>
          <a:bodyPr/>
          <a:p>
            <a:r>
              <a:rPr lang="en-US"/>
              <a:t>Vraj Suratwala</a:t>
            </a:r>
            <a:endParaRPr lang="en-US"/>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t>Introduction</a:t>
            </a:r>
            <a:endParaRPr lang="en-US"/>
          </a:p>
        </p:txBody>
      </p:sp>
      <p:sp>
        <p:nvSpPr>
          <p:cNvPr id="3" name="Content Placeholder 2"/>
          <p:cNvSpPr>
            <a:spLocks noGrp="1"/>
          </p:cNvSpPr>
          <p:nvPr>
            <p:ph idx="1"/>
            <p:custDataLst>
              <p:tags r:id="rId2"/>
            </p:custDataLst>
          </p:nvPr>
        </p:nvSpPr>
        <p:spPr/>
        <p:txBody>
          <a:bodyPr/>
          <a:p>
            <a:pPr marL="0" indent="0">
              <a:buNone/>
            </a:pPr>
            <a:r>
              <a:rPr lang="en-US" altLang="en-US"/>
              <a:t>ARM (Advanced RISC Machine) is a family of 32-bit RISC processor cores designed mainly for embedded and low-power applications. </a:t>
            </a:r>
            <a:endParaRPr lang="en-US" altLang="en-US"/>
          </a:p>
          <a:p>
            <a:pPr marL="0" indent="0">
              <a:buNone/>
            </a:pPr>
            <a:r>
              <a:rPr lang="en-US" altLang="en-US"/>
              <a:t>ARM cores are known for high performance, low power consumption and low system cost. ARM Ltd designs and licenses ARM processor cores to semiconductor manufacturers rather than manufacturing the chips itself.</a:t>
            </a:r>
            <a:endParaRPr lang="en-US" altLang="en-US"/>
          </a:p>
          <a:p>
            <a:pPr marL="0" indent="0">
              <a:buNone/>
            </a:pPr>
            <a:endParaRPr lang="en-US" altLang="en-US"/>
          </a:p>
          <a:p>
            <a:pPr marL="0" indent="0">
              <a:buNone/>
            </a:pPr>
            <a:r>
              <a:rPr lang="en-US" altLang="en-US"/>
              <a:t>1. RISC Architecture</a:t>
            </a:r>
            <a:endParaRPr lang="en-US" altLang="en-US"/>
          </a:p>
          <a:p>
            <a:pPr marL="0" indent="0">
              <a:buNone/>
            </a:pPr>
            <a:r>
              <a:rPr lang="en-US" altLang="en-US"/>
              <a:t>ARM follows the RISC (Reduced Instruction Set Computer) architecture. It uses a relatively simple instruction set and is designed for efficient and fast execution. ARM is mainly used in embedded systems, mobile devices, automotive, industrial and networking applications.</a:t>
            </a:r>
            <a:endParaRPr lang="en-US" altLang="en-US"/>
          </a:p>
        </p:txBody>
      </p:sp>
    </p:spTree>
    <p:custDataLst>
      <p:tags r:id="rId3"/>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t>Components</a:t>
            </a:r>
            <a:endParaRPr lang="en-US"/>
          </a:p>
        </p:txBody>
      </p:sp>
      <p:sp>
        <p:nvSpPr>
          <p:cNvPr id="3" name="Content Placeholder 2"/>
          <p:cNvSpPr>
            <a:spLocks noGrp="1"/>
          </p:cNvSpPr>
          <p:nvPr>
            <p:ph idx="1"/>
            <p:custDataLst>
              <p:tags r:id="rId2"/>
            </p:custDataLst>
          </p:nvPr>
        </p:nvSpPr>
        <p:spPr/>
        <p:txBody>
          <a:bodyPr>
            <a:normAutofit fontScale="90000" lnSpcReduction="10000"/>
          </a:bodyPr>
          <a:p>
            <a:r>
              <a:rPr lang="en-US" altLang="en-US"/>
              <a:t>2. Registers</a:t>
            </a:r>
            <a:endParaRPr lang="en-US" altLang="en-US"/>
          </a:p>
          <a:p>
            <a:pPr lvl="1"/>
            <a:r>
              <a:rPr lang="en-US" altLang="en-US"/>
              <a:t>ARM has 37 registers, each 32 bits wide:</a:t>
            </a:r>
            <a:endParaRPr lang="en-US" altLang="en-US"/>
          </a:p>
          <a:p>
            <a:pPr lvl="1"/>
            <a:r>
              <a:rPr lang="en-US" altLang="en-US"/>
              <a:t>30 General-purpose registers</a:t>
            </a:r>
            <a:endParaRPr lang="en-US" altLang="en-US"/>
          </a:p>
          <a:p>
            <a:pPr lvl="1"/>
            <a:r>
              <a:rPr lang="en-US" altLang="en-US"/>
              <a:t>1 Program Counter (PC)</a:t>
            </a:r>
            <a:endParaRPr lang="en-US" altLang="en-US"/>
          </a:p>
          <a:p>
            <a:pPr lvl="1"/>
            <a:r>
              <a:rPr lang="en-US" altLang="en-US"/>
              <a:t>1 Current Program Status Register (CPSR)</a:t>
            </a:r>
            <a:endParaRPr lang="en-US" altLang="en-US"/>
          </a:p>
          <a:p>
            <a:pPr lvl="1"/>
            <a:r>
              <a:rPr lang="en-US" altLang="en-US"/>
              <a:t>5 Saved Program Status Registers (SPSR)</a:t>
            </a:r>
            <a:endParaRPr lang="en-US" altLang="en-US"/>
          </a:p>
          <a:p>
            <a:pPr lvl="1"/>
            <a:r>
              <a:rPr lang="en-US" altLang="en-US"/>
              <a:t>The registers are organized into different banks, and the accessible bank depends on the processor's current mode</a:t>
            </a:r>
            <a:endParaRPr lang="en-US" altLang="en-US"/>
          </a:p>
          <a:p>
            <a:pPr lvl="0"/>
            <a:r>
              <a:rPr lang="en-US" altLang="en-US"/>
              <a:t>3. Pipeline</a:t>
            </a:r>
            <a:endParaRPr lang="en-US" altLang="en-US"/>
          </a:p>
          <a:p>
            <a:pPr lvl="0"/>
            <a:r>
              <a:rPr lang="en-US" altLang="en-US"/>
              <a:t>ARM uses an instruction pipeline to improve execution speed. In the basic ARM core shown in the PPT, the pipeline has three stages:</a:t>
            </a:r>
            <a:endParaRPr lang="en-US" altLang="en-US"/>
          </a:p>
          <a:p>
            <a:pPr lvl="0"/>
            <a:r>
              <a:rPr lang="en-US" altLang="en-US"/>
              <a:t>Fetch → Decode → Execute</a:t>
            </a:r>
            <a:endParaRPr lang="en-US" altLang="en-US"/>
          </a:p>
          <a:p>
            <a:pPr lvl="0"/>
            <a:r>
              <a:rPr lang="en-US" altLang="en-US"/>
              <a:t>While one instruction is being executed, another can be decoded and another fetched, allowing multiple operations to occur simultaneously.</a:t>
            </a:r>
            <a:endParaRPr lang="en-US" altLang="en-US"/>
          </a:p>
        </p:txBody>
      </p:sp>
    </p:spTree>
    <p:custDataLst>
      <p:tags r:id="rId3"/>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t>Components</a:t>
            </a:r>
            <a:endParaRPr lang="en-US"/>
          </a:p>
        </p:txBody>
      </p:sp>
      <p:sp>
        <p:nvSpPr>
          <p:cNvPr id="3" name="Content Placeholder 2"/>
          <p:cNvSpPr>
            <a:spLocks noGrp="1"/>
          </p:cNvSpPr>
          <p:nvPr>
            <p:ph idx="1"/>
            <p:custDataLst>
              <p:tags r:id="rId2"/>
            </p:custDataLst>
          </p:nvPr>
        </p:nvSpPr>
        <p:spPr/>
        <p:txBody>
          <a:bodyPr>
            <a:normAutofit fontScale="90000" lnSpcReduction="10000"/>
          </a:bodyPr>
          <a:p>
            <a:r>
              <a:rPr lang="en-US" altLang="en-US"/>
              <a:t>4. Load/Store Architecture</a:t>
            </a:r>
            <a:endParaRPr lang="en-US" altLang="en-US"/>
          </a:p>
          <a:p>
            <a:r>
              <a:rPr lang="en-US" altLang="en-US"/>
              <a:t>ARM uses a Von Neumann load/store architecture. Memory is accessed mainly through load and store instructions, while arithmetic and logical operations are performed on registers. It has a 32-bit address space and supports 8-bit bytes, 16-bit half-words and 32-bit words.</a:t>
            </a:r>
            <a:endParaRPr lang="en-US" altLang="en-US"/>
          </a:p>
          <a:p>
            <a:r>
              <a:rPr lang="en-US" altLang="en-US"/>
              <a:t>5. ARM and Thumb States</a:t>
            </a:r>
            <a:endParaRPr lang="en-US" altLang="en-US"/>
          </a:p>
          <a:p>
            <a:r>
              <a:rPr lang="en-US" altLang="en-US"/>
              <a:t>ARM supports different execution states. In ARM state, instructions are 32 bits wide, while in Thumb state, instructions are 16 bits wide. Thumb provides better code density and is useful when memory is limited. The processor can switch between ARM and Thumb states using the BX instruction.</a:t>
            </a:r>
            <a:endParaRPr lang="en-US" altLang="en-US"/>
          </a:p>
          <a:p>
            <a:r>
              <a:rPr lang="en-US" altLang="en-US"/>
              <a:t>6. Barrel Shifter</a:t>
            </a:r>
            <a:endParaRPr lang="en-US" altLang="en-US"/>
          </a:p>
          <a:p>
            <a:r>
              <a:rPr lang="en-US" altLang="en-US"/>
              <a:t>A special feature of ARM is its barrel shifter, which allows shifting or rotating an operand as part of another instruction. It supports operations such as LSL, LSR, ASR, ROR and RRX. This helps ARM perform efficient arithmetic and logical operations.</a:t>
            </a:r>
            <a:endParaRPr lang="en-US" altLang="en-US"/>
          </a:p>
          <a:p>
            <a:endParaRPr lang="en-US" altLang="en-US"/>
          </a:p>
        </p:txBody>
      </p:sp>
    </p:spTree>
    <p:custDataLst>
      <p:tags r:id="rId3"/>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t>Simple ARM Flow</a:t>
            </a:r>
            <a:endParaRPr lang="en-US"/>
          </a:p>
        </p:txBody>
      </p:sp>
      <p:sp>
        <p:nvSpPr>
          <p:cNvPr id="3" name="Content Placeholder 2"/>
          <p:cNvSpPr>
            <a:spLocks noGrp="1"/>
          </p:cNvSpPr>
          <p:nvPr>
            <p:ph idx="1"/>
            <p:custDataLst>
              <p:tags r:id="rId2"/>
            </p:custDataLst>
          </p:nvPr>
        </p:nvSpPr>
        <p:spPr/>
        <p:txBody>
          <a:bodyPr>
            <a:normAutofit fontScale="50000"/>
          </a:bodyPr>
          <a:p>
            <a:pPr marL="0" indent="0">
              <a:buNone/>
            </a:pPr>
            <a:r>
              <a:rPr lang="en-US" altLang="en-US"/>
              <a:t>ARM PROCESSOR</a:t>
            </a:r>
            <a:endParaRPr lang="en-US" altLang="en-US"/>
          </a:p>
          <a:p>
            <a:pPr marL="0" indent="0">
              <a:buNone/>
            </a:pPr>
            <a:r>
              <a:rPr lang="en-US" altLang="en-US"/>
              <a:t>             ↓</a:t>
            </a:r>
            <a:endParaRPr lang="en-US" altLang="en-US"/>
          </a:p>
          <a:p>
            <a:pPr marL="0" indent="0">
              <a:buNone/>
            </a:pPr>
            <a:r>
              <a:rPr lang="en-US" altLang="en-US"/>
              <a:t>       Fetch Instruction</a:t>
            </a:r>
            <a:endParaRPr lang="en-US" altLang="en-US"/>
          </a:p>
          <a:p>
            <a:pPr marL="0" indent="0">
              <a:buNone/>
            </a:pPr>
            <a:r>
              <a:rPr lang="en-US" altLang="en-US"/>
              <a:t>             ↓</a:t>
            </a:r>
            <a:endParaRPr lang="en-US" altLang="en-US"/>
          </a:p>
          <a:p>
            <a:pPr marL="0" indent="0">
              <a:buNone/>
            </a:pPr>
            <a:r>
              <a:rPr lang="en-US" altLang="en-US"/>
              <a:t>           Decode</a:t>
            </a:r>
            <a:endParaRPr lang="en-US" altLang="en-US"/>
          </a:p>
          <a:p>
            <a:pPr marL="0" indent="0">
              <a:buNone/>
            </a:pPr>
            <a:r>
              <a:rPr lang="en-US" altLang="en-US"/>
              <a:t>             ↓</a:t>
            </a:r>
            <a:endParaRPr lang="en-US" altLang="en-US"/>
          </a:p>
          <a:p>
            <a:pPr marL="0" indent="0">
              <a:buNone/>
            </a:pPr>
            <a:r>
              <a:rPr lang="en-US" altLang="en-US"/>
              <a:t>      Read Registers</a:t>
            </a:r>
            <a:endParaRPr lang="en-US" altLang="en-US"/>
          </a:p>
          <a:p>
            <a:pPr marL="0" indent="0">
              <a:buNone/>
            </a:pPr>
            <a:r>
              <a:rPr lang="en-US" altLang="en-US"/>
              <a:t>             ↓</a:t>
            </a:r>
            <a:endParaRPr lang="en-US" altLang="en-US"/>
          </a:p>
          <a:p>
            <a:pPr marL="0" indent="0">
              <a:buNone/>
            </a:pPr>
            <a:r>
              <a:rPr lang="en-US" altLang="en-US"/>
              <a:t>     Barrel Shifter</a:t>
            </a:r>
            <a:endParaRPr lang="en-US" altLang="en-US"/>
          </a:p>
          <a:p>
            <a:pPr marL="0" indent="0">
              <a:buNone/>
            </a:pPr>
            <a:r>
              <a:rPr lang="en-US" altLang="en-US"/>
              <a:t>             ↓</a:t>
            </a:r>
            <a:endParaRPr lang="en-US" altLang="en-US"/>
          </a:p>
          <a:p>
            <a:pPr marL="0" indent="0">
              <a:buNone/>
            </a:pPr>
            <a:r>
              <a:rPr lang="en-US" altLang="en-US"/>
              <a:t>       ALU Operation</a:t>
            </a:r>
            <a:endParaRPr lang="en-US" altLang="en-US"/>
          </a:p>
          <a:p>
            <a:pPr marL="0" indent="0">
              <a:buNone/>
            </a:pPr>
            <a:r>
              <a:rPr lang="en-US" altLang="en-US"/>
              <a:t>             ↓</a:t>
            </a:r>
            <a:endParaRPr lang="en-US" altLang="en-US"/>
          </a:p>
          <a:p>
            <a:pPr marL="0" indent="0">
              <a:buNone/>
            </a:pPr>
            <a:r>
              <a:rPr lang="en-US" altLang="en-US"/>
              <a:t>      Write Back Result</a:t>
            </a:r>
            <a:endParaRPr lang="en-US" altLang="en-US"/>
          </a:p>
          <a:p>
            <a:pPr marL="0" indent="0">
              <a:buNone/>
            </a:pPr>
            <a:r>
              <a:rPr lang="en-US" altLang="en-US"/>
              <a:t>             ↓</a:t>
            </a:r>
            <a:endParaRPr lang="en-US" altLang="en-US"/>
          </a:p>
          <a:p>
            <a:pPr marL="0" indent="0">
              <a:buNone/>
            </a:pPr>
            <a:r>
              <a:rPr lang="en-US" altLang="en-US"/>
              <a:t>        Next Instruction</a:t>
            </a:r>
            <a:endParaRPr lang="en-US" altLang="en-US"/>
          </a:p>
        </p:txBody>
      </p:sp>
    </p:spTree>
    <p:custDataLst>
      <p:tags r:id="rId3"/>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64.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6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8.xml><?xml version="1.0" encoding="utf-8"?>
<p:tagLst xmlns:p="http://schemas.openxmlformats.org/presentationml/2006/main">
  <p:tag name="KSO_WM_BEAUTIFY_FLAG" val="#wm#"/>
  <p:tag name="KSO_WM_TEMPLATE_CATEGORY" val="custom"/>
  <p:tag name="KSO_WM_TEMPLATE_INDEX" val="20205081"/>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1.xml><?xml version="1.0" encoding="utf-8"?>
<p:tagLst xmlns:p="http://schemas.openxmlformats.org/presentationml/2006/main">
  <p:tag name="KSO_WM_BEAUTIFY_FLAG" val="#wm#"/>
  <p:tag name="KSO_WM_TEMPLATE_CATEGORY" val="custom"/>
  <p:tag name="KSO_WM_TEMPLATE_INDEX" val="20205081"/>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4.xml><?xml version="1.0" encoding="utf-8"?>
<p:tagLst xmlns:p="http://schemas.openxmlformats.org/presentationml/2006/main">
  <p:tag name="KSO_WM_BEAUTIFY_FLAG" val="#wm#"/>
  <p:tag name="KSO_WM_TEMPLATE_CATEGORY" val="custom"/>
  <p:tag name="KSO_WM_TEMPLATE_INDEX" val="20205081"/>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7.xml><?xml version="1.0" encoding="utf-8"?>
<p:tagLst xmlns:p="http://schemas.openxmlformats.org/presentationml/2006/main">
  <p:tag name="KSO_WM_BEAUTIFY_FLAG" val="#wm#"/>
  <p:tag name="KSO_WM_TEMPLATE_CATEGORY" val="custom"/>
  <p:tag name="KSO_WM_TEMPLATE_INDEX" val="20205081"/>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2442</Words>
  <Application>WPS Presentation</Application>
  <PresentationFormat>Widescreen</PresentationFormat>
  <Paragraphs>54</Paragraphs>
  <Slides>5</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5</vt:i4>
      </vt:variant>
    </vt:vector>
  </HeadingPairs>
  <TitlesOfParts>
    <vt:vector size="17" baseType="lpstr">
      <vt:lpstr>Arial</vt:lpstr>
      <vt:lpstr>SimSun</vt:lpstr>
      <vt:lpstr>Wingdings</vt:lpstr>
      <vt:lpstr>Wingdings</vt:lpstr>
      <vt:lpstr>Microsoft YaHei</vt:lpstr>
      <vt:lpstr>汉仪旗黑</vt:lpstr>
      <vt:lpstr>Arial Unicode MS</vt:lpstr>
      <vt:lpstr>Calibri</vt:lpstr>
      <vt:lpstr>Helvetica Neue</vt:lpstr>
      <vt:lpstr>Calibri</vt:lpstr>
      <vt:lpstr>Times New Roman</vt:lpstr>
      <vt:lpstr>WPS</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ARM - 5 Marks Theory</dc:title>
  <dc:creator>suratwalavraj</dc:creator>
  <cp:lastModifiedBy>Vraj Suratwala</cp:lastModifiedBy>
  <cp:revision>1</cp:revision>
  <dcterms:created xsi:type="dcterms:W3CDTF">2026-09-05T09:21:27Z</dcterms:created>
  <dcterms:modified xsi:type="dcterms:W3CDTF">2026-09-05T09:21:27Z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1033-12.1.26015.26015</vt:lpwstr>
  </property>
  <property fmtid="{D5CDD505-2E9C-101B-9397-08002B2CF9AE}" pid="3" name="ICV">
    <vt:lpwstr>DE99B6DD7F0201106ADE9B6ACC3A5B48_41</vt:lpwstr>
  </property>
</Properties>
</file>