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ltLang="en-US"/>
              <a:t>IoT Edge-to-Cloud</a:t>
            </a:r>
            <a:endParaRPr lang="en-US" altLang="en-US"/>
          </a:p>
        </p:txBody>
      </p:sp>
      <p:sp>
        <p:nvSpPr>
          <p:cNvPr id="3" name="Subtitle 2"/>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sz="2400"/>
              <a:t>IoT Edge-to-Cloud is an architecture in which data generated by IoT devices at the edge is collected, processed, and transmitted to cloud platforms for storage, advanced processing, analytics, and decision-making.</a:t>
            </a:r>
            <a:endParaRPr lang="en-US" altLang="en-US" sz="2400"/>
          </a:p>
          <a:p>
            <a:r>
              <a:rPr lang="en-US" altLang="en-US" sz="2400"/>
              <a:t>It creates a complete flow from physical devices → edge processing → network → cloud services → applications.</a:t>
            </a:r>
            <a:endParaRPr lang="en-US" altLang="en-US" sz="2400"/>
          </a:p>
          <a:p>
            <a:endParaRPr lang="en-US" altLang="en-US" sz="2400"/>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08330" y="612140"/>
            <a:ext cx="10968990" cy="5637530"/>
          </a:xfrm>
        </p:spPr>
        <p:txBody>
          <a:bodyPr>
            <a:normAutofit fontScale="90000" lnSpcReduction="10000"/>
          </a:bodyPr>
          <a:p>
            <a:r>
              <a:rPr lang="en-US" altLang="en-US"/>
              <a:t>Basic Architecture</a:t>
            </a:r>
            <a:endParaRPr lang="en-US" altLang="en-US"/>
          </a:p>
          <a:p>
            <a:pPr lvl="1"/>
            <a:r>
              <a:rPr lang="en-US" altLang="en-US"/>
              <a:t>IoT Devices → Edge/Gateway → Network/Internet → Cloud → Application/User</a:t>
            </a:r>
            <a:endParaRPr lang="en-US" altLang="en-US"/>
          </a:p>
          <a:p>
            <a:r>
              <a:rPr lang="en-US" altLang="en-US"/>
              <a:t>IoT Devices (Edge):</a:t>
            </a:r>
            <a:endParaRPr lang="en-US" altLang="en-US"/>
          </a:p>
          <a:p>
            <a:pPr lvl="1"/>
            <a:r>
              <a:rPr lang="en-US" altLang="en-US"/>
              <a:t>Sensors and actuators collect real-world data such as temperature, humidity, pressure, motion, etc.</a:t>
            </a:r>
            <a:endParaRPr lang="en-US" altLang="en-US"/>
          </a:p>
          <a:p>
            <a:pPr lvl="1"/>
            <a:r>
              <a:rPr lang="en-US" altLang="en-US"/>
              <a:t>Edge Computing:</a:t>
            </a:r>
            <a:endParaRPr lang="en-US" altLang="en-US"/>
          </a:p>
          <a:p>
            <a:pPr lvl="1"/>
            <a:r>
              <a:rPr lang="en-US" altLang="en-US"/>
              <a:t>Data is processed near the source using an edge device or gateway. It can perform filtering, aggregation, and quick decision-making without sending everything to the cloud.</a:t>
            </a:r>
            <a:endParaRPr lang="en-US" altLang="en-US"/>
          </a:p>
          <a:p>
            <a:r>
              <a:rPr lang="en-US" altLang="en-US"/>
              <a:t>Communication Network:</a:t>
            </a:r>
            <a:endParaRPr lang="en-US" altLang="en-US"/>
          </a:p>
          <a:p>
            <a:pPr lvl="1"/>
            <a:r>
              <a:rPr lang="en-US" altLang="en-US"/>
              <a:t>Processed data is transmitted to the cloud using technologies such as Wi-Fi, Ethernet, 4G/5G, LoRaWAN, or MQTT-based communication.</a:t>
            </a:r>
            <a:endParaRPr lang="en-US" altLang="en-US"/>
          </a:p>
          <a:p>
            <a:r>
              <a:rPr lang="en-US" altLang="en-US"/>
              <a:t>Cloud Platform:</a:t>
            </a:r>
            <a:endParaRPr lang="en-US" altLang="en-US"/>
          </a:p>
          <a:p>
            <a:pPr lvl="1"/>
            <a:r>
              <a:rPr lang="en-US" altLang="en-US"/>
              <a:t>The cloud provides large-scale data storage, processing, analytics, machine learning, and device management.</a:t>
            </a:r>
            <a:endParaRPr lang="en-US" altLang="en-US"/>
          </a:p>
          <a:p>
            <a:pPr lvl="0"/>
            <a:r>
              <a:rPr lang="en-US" altLang="en-US"/>
              <a:t>Application Layer:</a:t>
            </a:r>
            <a:endParaRPr lang="en-US" altLang="en-US"/>
          </a:p>
          <a:p>
            <a:pPr lvl="1"/>
            <a:r>
              <a:rPr lang="en-US" altLang="en-US"/>
              <a:t>Results are presented through dashboards, mobile applications, web applications, or automated control systems.</a:t>
            </a:r>
            <a:endParaRPr lang="en-US" altLang="en-US"/>
          </a:p>
          <a:p>
            <a:endParaRPr lang="en-US" altLang="en-US"/>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Advantages</a:t>
            </a:r>
            <a:endParaRPr lang="en-US"/>
          </a:p>
        </p:txBody>
      </p:sp>
      <p:sp>
        <p:nvSpPr>
          <p:cNvPr id="3" name="Content Placeholder 2"/>
          <p:cNvSpPr>
            <a:spLocks noGrp="1"/>
          </p:cNvSpPr>
          <p:nvPr>
            <p:ph idx="1"/>
            <p:custDataLst>
              <p:tags r:id="rId2"/>
            </p:custDataLst>
          </p:nvPr>
        </p:nvSpPr>
        <p:spPr/>
        <p:txBody>
          <a:bodyPr/>
          <a:p>
            <a:r>
              <a:rPr lang="en-US" altLang="en-US"/>
              <a:t>Low latency because some processing occurs at the edge.</a:t>
            </a:r>
            <a:endParaRPr lang="en-US" altLang="en-US"/>
          </a:p>
          <a:p>
            <a:r>
              <a:rPr lang="en-US" altLang="en-US"/>
              <a:t>Reduced bandwidth usage by filtering unnecessary data.</a:t>
            </a:r>
            <a:endParaRPr lang="en-US" altLang="en-US"/>
          </a:p>
          <a:p>
            <a:r>
              <a:rPr lang="en-US" altLang="en-US"/>
              <a:t>Scalable storage and computing through the cloud.</a:t>
            </a:r>
            <a:endParaRPr lang="en-US" altLang="en-US"/>
          </a:p>
          <a:p>
            <a:r>
              <a:rPr lang="en-US" altLang="en-US"/>
              <a:t>Enables real-time monitoring and decision-making.</a:t>
            </a:r>
            <a:endParaRPr lang="en-US" altLang="en-US"/>
          </a:p>
          <a:p>
            <a:r>
              <a:rPr lang="en-US" altLang="en-US"/>
              <a:t>Supports AI/ML analytics on large amounts of IoT data.</a:t>
            </a:r>
            <a:endParaRPr lang="en-US" altLang="en-US"/>
          </a:p>
          <a:p>
            <a:r>
              <a:rPr lang="en-US" altLang="en-US"/>
              <a:t>Centralized device and data management.</a:t>
            </a:r>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normAutofit fontScale="90000"/>
          </a:bodyPr>
          <a:p>
            <a:r>
              <a:rPr lang="en-US" altLang="en-US"/>
              <a:t>Introduction to Data Management System for IoT</a:t>
            </a:r>
            <a:endParaRPr lang="en-US" altLang="en-US"/>
          </a:p>
        </p:txBody>
      </p:sp>
      <p:sp>
        <p:nvSpPr>
          <p:cNvPr id="5" name="Subtitle 4"/>
          <p:cNvSpPr>
            <a:spLocks noGrp="1"/>
          </p:cNvSpPr>
          <p:nvPr>
            <p:ph type="subTitle" idx="1"/>
            <p:custDataLst>
              <p:tags r:id="rId2"/>
            </p:custDataLst>
          </p:nvPr>
        </p:nvSpPr>
        <p:spPr/>
        <p:txBody>
          <a:bodyPr/>
          <a:p>
            <a:r>
              <a:rPr lang="en-US"/>
              <a:t>Basic </a:t>
            </a:r>
            <a:endParaRPr 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Introduction</a:t>
            </a:r>
            <a:endParaRPr lang="en-US"/>
          </a:p>
        </p:txBody>
      </p:sp>
      <p:sp>
        <p:nvSpPr>
          <p:cNvPr id="3" name="Content Placeholder 2"/>
          <p:cNvSpPr>
            <a:spLocks noGrp="1"/>
          </p:cNvSpPr>
          <p:nvPr>
            <p:ph idx="1"/>
            <p:custDataLst>
              <p:tags r:id="rId2"/>
            </p:custDataLst>
          </p:nvPr>
        </p:nvSpPr>
        <p:spPr/>
        <p:txBody>
          <a:bodyPr/>
          <a:p>
            <a:r>
              <a:rPr lang="en-US" altLang="en-US"/>
              <a:t>An IoT Data Management System is a system used to collect, store, process, organize, secure, and analyze the huge amount of data generated by IoT devices and sensors.</a:t>
            </a:r>
            <a:endParaRPr lang="en-US" altLang="en-US"/>
          </a:p>
          <a:p>
            <a:r>
              <a:rPr lang="en-US" altLang="en-US"/>
              <a:t>IoT devices continuously generate data, so proper data management is required to convert this raw data into useful information.</a:t>
            </a:r>
            <a:endParaRPr lang="en-US" altLang="en-US"/>
          </a:p>
          <a:p>
            <a:endParaRPr lang="en-US" altLang="en-US"/>
          </a:p>
          <a:p>
            <a:pPr marL="0" indent="0" algn="ctr">
              <a:buNone/>
            </a:pPr>
            <a:r>
              <a:rPr lang="en-US" altLang="en-US" sz="2800"/>
              <a:t>IoT Sensors → Data Collection → Data Transmission → Data Storage → Data Processing &amp; Analysis → Application</a:t>
            </a:r>
            <a:endParaRPr lang="en-US" altLang="en-US" sz="280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custDataLst>
              <p:tags r:id="rId1"/>
            </p:custDataLst>
          </p:nvPr>
        </p:nvSpPr>
        <p:spPr>
          <a:xfrm>
            <a:off x="608330" y="433070"/>
            <a:ext cx="10968990" cy="5816600"/>
          </a:xfrm>
        </p:spPr>
        <p:txBody>
          <a:bodyPr>
            <a:noAutofit/>
          </a:bodyPr>
          <a:p>
            <a:r>
              <a:rPr lang="en-US" altLang="en-US" b="1" u="sng">
                <a:latin typeface="Arial Bold" panose="020B0604020202090204" charset="0"/>
                <a:cs typeface="Arial Bold" panose="020B0604020202090204" charset="0"/>
              </a:rPr>
              <a:t>Main Functions</a:t>
            </a:r>
            <a:endParaRPr lang="en-US" altLang="en-US" b="1" u="sng">
              <a:latin typeface="Arial Bold" panose="020B0604020202090204" charset="0"/>
              <a:cs typeface="Arial Bold" panose="020B0604020202090204" charset="0"/>
            </a:endParaRPr>
          </a:p>
          <a:p>
            <a:r>
              <a:rPr lang="en-US" altLang="en-US"/>
              <a:t>Data Collection</a:t>
            </a:r>
            <a:endParaRPr lang="en-US" altLang="en-US"/>
          </a:p>
          <a:p>
            <a:pPr lvl="1"/>
            <a:r>
              <a:rPr lang="en-US" altLang="en-US"/>
              <a:t>Collects data from sensors, actuators, machines, and other IoT devices.</a:t>
            </a:r>
            <a:endParaRPr lang="en-US" altLang="en-US"/>
          </a:p>
          <a:p>
            <a:r>
              <a:rPr lang="en-US" altLang="en-US"/>
              <a:t>Data Transmission</a:t>
            </a:r>
            <a:endParaRPr lang="en-US" altLang="en-US"/>
          </a:p>
          <a:p>
            <a:pPr lvl="1"/>
            <a:r>
              <a:rPr lang="en-US" altLang="en-US"/>
              <a:t>Transfers collected data through networks such as Wi-Fi, Bluetooth, 4G/5G, LoRaWAN, etc.</a:t>
            </a:r>
            <a:endParaRPr lang="en-US" altLang="en-US"/>
          </a:p>
          <a:p>
            <a:r>
              <a:rPr lang="en-US" altLang="en-US"/>
              <a:t>Data Storage</a:t>
            </a:r>
            <a:endParaRPr lang="en-US" altLang="en-US"/>
          </a:p>
          <a:p>
            <a:pPr lvl="1"/>
            <a:r>
              <a:rPr lang="en-US" altLang="en-US"/>
              <a:t>Stores large volumes of IoT data using databases, cloud storage, data lakes, or other storage systems.</a:t>
            </a:r>
            <a:endParaRPr lang="en-US" altLang="en-US"/>
          </a:p>
          <a:p>
            <a:r>
              <a:rPr lang="en-US" altLang="en-US"/>
              <a:t>Data Processing</a:t>
            </a:r>
            <a:endParaRPr lang="en-US" altLang="en-US"/>
          </a:p>
          <a:p>
            <a:pPr lvl="1"/>
            <a:r>
              <a:rPr lang="en-US" altLang="en-US"/>
              <a:t>Cleans, filters, aggregates, and transforms raw sensor data into a useful format.</a:t>
            </a:r>
            <a:endParaRPr lang="en-US" altLang="en-US"/>
          </a:p>
          <a:p>
            <a:r>
              <a:rPr lang="en-US" altLang="en-US"/>
              <a:t>Data Analysis</a:t>
            </a:r>
            <a:endParaRPr lang="en-US" altLang="en-US"/>
          </a:p>
          <a:p>
            <a:pPr lvl="1"/>
            <a:r>
              <a:rPr lang="en-US" altLang="en-US"/>
              <a:t>Uses analytics, AI, and machine learning to identify patterns, anomalies, and useful insights.</a:t>
            </a:r>
            <a:endParaRPr lang="en-US" altLang="en-US"/>
          </a:p>
          <a:p>
            <a:r>
              <a:rPr lang="en-US" altLang="en-US"/>
              <a:t>Data Security &amp; Privacy</a:t>
            </a:r>
            <a:endParaRPr lang="en-US" altLang="en-US"/>
          </a:p>
          <a:p>
            <a:pPr lvl="1"/>
            <a:r>
              <a:rPr lang="en-US" altLang="en-US"/>
              <a:t>Protects IoT data from unauthorized access, modification, and misuse.</a:t>
            </a:r>
            <a:endParaRPr lang="en-US" altLang="en-US"/>
          </a:p>
          <a:p>
            <a:endParaRPr lang="en-US"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sym typeface="+mn-ea"/>
              </a:rPr>
              <a:t>Characteristics of IoT Data Management</a:t>
            </a:r>
            <a:endParaRPr lang="en-US"/>
          </a:p>
        </p:txBody>
      </p:sp>
      <p:sp>
        <p:nvSpPr>
          <p:cNvPr id="3" name="Content Placeholder 2"/>
          <p:cNvSpPr>
            <a:spLocks noGrp="1"/>
          </p:cNvSpPr>
          <p:nvPr>
            <p:ph idx="1"/>
            <p:custDataLst>
              <p:tags r:id="rId2"/>
            </p:custDataLst>
          </p:nvPr>
        </p:nvSpPr>
        <p:spPr/>
        <p:txBody>
          <a:bodyPr>
            <a:normAutofit lnSpcReduction="10000"/>
          </a:bodyPr>
          <a:p>
            <a:r>
              <a:rPr lang="en-US" altLang="en-US"/>
              <a:t>Large volume: IoT devices generate massive amounts of data.</a:t>
            </a:r>
            <a:endParaRPr lang="en-US" altLang="en-US"/>
          </a:p>
          <a:p>
            <a:r>
              <a:rPr lang="en-US" altLang="en-US"/>
              <a:t>High velocity: Data may be generated continuously and rapidly.</a:t>
            </a:r>
            <a:endParaRPr lang="en-US" altLang="en-US"/>
          </a:p>
          <a:p>
            <a:r>
              <a:rPr lang="en-US" altLang="en-US"/>
              <a:t>Variety: Data can be structured, semi-structured, or unstructured.</a:t>
            </a:r>
            <a:endParaRPr lang="en-US" altLang="en-US"/>
          </a:p>
          <a:p>
            <a:r>
              <a:rPr lang="en-US" altLang="en-US"/>
              <a:t>Real-time requirements: Many applications require immediate processing.</a:t>
            </a:r>
            <a:endParaRPr lang="en-US" altLang="en-US"/>
          </a:p>
          <a:p>
            <a:r>
              <a:rPr lang="en-US" altLang="en-US"/>
              <a:t>Scalability: The system must support increasing numbers of devices.</a:t>
            </a:r>
            <a:endParaRPr lang="en-US" altLang="en-US"/>
          </a:p>
          <a:p>
            <a:r>
              <a:rPr lang="en-US" altLang="en-US"/>
              <a:t>Security: Sensitive device and user data must be protected.</a:t>
            </a:r>
            <a:endParaRPr lang="en-US" altLang="en-US"/>
          </a:p>
          <a:p>
            <a:endParaRPr lang="en-US" altLang="en-US"/>
          </a:p>
          <a:p>
            <a:r>
              <a:rPr lang="en-US" altLang="en-US"/>
              <a:t>Example</a:t>
            </a:r>
            <a:endParaRPr lang="en-US" altLang="en-US"/>
          </a:p>
          <a:p>
            <a:pPr lvl="1"/>
            <a:r>
              <a:rPr lang="en-US" altLang="en-US"/>
              <a:t>In a smart agriculture system, sensors collect soil moisture, temperature, and humidity data. The data management system collects and stores this data, processes it, and analyzes it. If soil moisture becomes too low, the system can automatically activate irrigation.</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custDataLst>
              <p:tags r:id="rId1"/>
            </p:custDataLst>
          </p:nvPr>
        </p:nvSpPr>
        <p:spPr/>
        <p:txBody>
          <a:bodyPr/>
          <a:p>
            <a:r>
              <a:rPr lang="en-US"/>
              <a:t>Thank You</a:t>
            </a:r>
            <a:endParaRPr lang="en-US"/>
          </a:p>
        </p:txBody>
      </p:sp>
      <p:sp>
        <p:nvSpPr>
          <p:cNvPr id="5" name="Subtitle 4"/>
          <p:cNvSpPr>
            <a:spLocks noGrp="1"/>
          </p:cNvSpPr>
          <p:nvPr>
            <p:ph type="subTitle" idx="1"/>
            <p:custDataLst>
              <p:tags r:id="rId2"/>
            </p:custDataLst>
          </p:nvPr>
        </p:nvSpPr>
        <p:spPr/>
        <p:txBody>
          <a:bodyPr/>
          <a:p>
            <a:r>
              <a:rPr lang="en-US"/>
              <a:t>Vraj Suratwala</a:t>
            </a:r>
            <a:endParaRPr lang="en-US"/>
          </a:p>
          <a:p>
            <a:r>
              <a:rPr lang="en-US"/>
              <a:t>Department of ICT, VNSGU</a:t>
            </a:r>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3318</Words>
  <Application>WPS Presentation</Application>
  <PresentationFormat>Widescreen</PresentationFormat>
  <Paragraphs>77</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SimSun</vt:lpstr>
      <vt:lpstr>Wingdings</vt:lpstr>
      <vt:lpstr>Wingdings</vt:lpstr>
      <vt:lpstr>Microsoft YaHei</vt:lpstr>
      <vt:lpstr>汉仪旗黑</vt:lpstr>
      <vt:lpstr>Arial Unicode MS</vt:lpstr>
      <vt:lpstr>Calibri</vt:lpstr>
      <vt:lpstr>Helvetica Neue</vt:lpstr>
      <vt:lpstr>宋体-简</vt:lpstr>
      <vt:lpstr>Arial Bold</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Edge-to-Cloud</dc:title>
  <dc:creator>suratwalavraj</dc:creator>
  <cp:lastModifiedBy>Vraj Suratwala</cp:lastModifiedBy>
  <cp:revision>2</cp:revision>
  <dcterms:created xsi:type="dcterms:W3CDTF">2026-09-05T17:31:47Z</dcterms:created>
  <dcterms:modified xsi:type="dcterms:W3CDTF">2026-09-05T17:31:47Z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970108DFC9CF2EAE79509C6AE9406059_41</vt:lpwstr>
  </property>
</Properties>
</file>