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US" dirty="0"/>
              <a:t>Introduction to Open-Source Tools Supported by Raspberry Pi for IoT</a:t>
            </a:r>
            <a:endParaRPr lang="en-US" altLang="en-US" dirty="0"/>
          </a:p>
        </p:txBody>
      </p:sp>
      <p:sp>
        <p:nvSpPr>
          <p:cNvPr id="3" name="Subtitle 2"/>
          <p:cNvSpPr>
            <a:spLocks noGrp="1"/>
          </p:cNvSpPr>
          <p:nvPr>
            <p:ph type="subTitle" idx="1"/>
          </p:nvPr>
        </p:nvSpPr>
        <p:spPr/>
        <p:txBody>
          <a:bodyPr/>
          <a:lstStyle/>
          <a:p>
            <a:r>
              <a:rPr lang="en-IN" altLang="en-US"/>
              <a:t>Vraj Suratwala </a:t>
            </a:r>
            <a:endParaRPr lang="en-IN" altLang="en-US"/>
          </a:p>
          <a:p>
            <a:r>
              <a:rPr lang="en-IN" altLang="en-US"/>
              <a:t>Department of ICT, VNSGU</a:t>
            </a:r>
            <a:endParaRPr lang="en-I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Introduction</a:t>
            </a:r>
            <a:endParaRPr lang="en-IN" altLang="en-US"/>
          </a:p>
        </p:txBody>
      </p:sp>
      <p:sp>
        <p:nvSpPr>
          <p:cNvPr id="3" name="Content Placeholder 2"/>
          <p:cNvSpPr>
            <a:spLocks noGrp="1"/>
          </p:cNvSpPr>
          <p:nvPr>
            <p:ph idx="1"/>
          </p:nvPr>
        </p:nvSpPr>
        <p:spPr/>
        <p:txBody>
          <a:bodyPr/>
          <a:p>
            <a:r>
              <a:rPr lang="en-US" altLang="en-US"/>
              <a:t>Raspberry Pi Foundation's Raspberry Pi is a low-cost, small-sized single-board computer (SBC) that is widely used for IoT (Internet of Things) applications.</a:t>
            </a:r>
            <a:endParaRPr lang="en-US" altLang="en-US"/>
          </a:p>
          <a:p>
            <a:endParaRPr lang="en-US" altLang="en-US"/>
          </a:p>
          <a:p>
            <a:r>
              <a:rPr lang="en-US" altLang="en-US"/>
              <a:t>Raspberry Pi supports many open-source tools, operating systems, programming languages, libraries, frameworks, and IoT platforms. These tools allow developers to connect sensors and actuators, collect data, process information, communicate with other devices, and build IoT applications.</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Simple IoT Architecture</a:t>
            </a:r>
            <a:endParaRPr lang="en-US" altLang="en-US"/>
          </a:p>
        </p:txBody>
      </p:sp>
      <p:pic>
        <p:nvPicPr>
          <p:cNvPr id="4" name="Content Placeholder 3"/>
          <p:cNvPicPr>
            <a:picLocks noChangeAspect="1"/>
          </p:cNvPicPr>
          <p:nvPr>
            <p:ph idx="1"/>
          </p:nvPr>
        </p:nvPicPr>
        <p:blipFill>
          <a:blip r:embed="rId1"/>
          <a:stretch>
            <a:fillRect/>
          </a:stretch>
        </p:blipFill>
        <p:spPr>
          <a:xfrm>
            <a:off x="7692390" y="1209040"/>
            <a:ext cx="4499610" cy="5648960"/>
          </a:xfrm>
          <a:prstGeom prst="rect">
            <a:avLst/>
          </a:prstGeom>
        </p:spPr>
      </p:pic>
      <p:pic>
        <p:nvPicPr>
          <p:cNvPr id="5" name="Picture 4"/>
          <p:cNvPicPr>
            <a:picLocks noChangeAspect="1"/>
          </p:cNvPicPr>
          <p:nvPr/>
        </p:nvPicPr>
        <p:blipFill>
          <a:blip r:embed="rId2"/>
          <a:stretch>
            <a:fillRect/>
          </a:stretch>
        </p:blipFill>
        <p:spPr>
          <a:xfrm>
            <a:off x="838200" y="1452880"/>
            <a:ext cx="6017260" cy="51549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Raspberry Pi OS</a:t>
            </a:r>
            <a:endParaRPr lang="en-US" altLang="en-US"/>
          </a:p>
        </p:txBody>
      </p:sp>
      <p:sp>
        <p:nvSpPr>
          <p:cNvPr id="3" name="Content Placeholder 2"/>
          <p:cNvSpPr>
            <a:spLocks noGrp="1"/>
          </p:cNvSpPr>
          <p:nvPr>
            <p:ph idx="1"/>
          </p:nvPr>
        </p:nvSpPr>
        <p:spPr>
          <a:xfrm>
            <a:off x="838200" y="1586230"/>
            <a:ext cx="10515600" cy="4591050"/>
          </a:xfrm>
        </p:spPr>
        <p:txBody>
          <a:bodyPr>
            <a:normAutofit fontScale="80000"/>
          </a:bodyPr>
          <a:p>
            <a:r>
              <a:rPr lang="en-US" altLang="en-US"/>
              <a:t>Raspberry Pi OS is the official operating system designed for Raspberry Pi computers. It is based on Debian Linux and provides a complete environment for developing and running IoT applications.</a:t>
            </a:r>
            <a:endParaRPr lang="en-US" altLang="en-US"/>
          </a:p>
          <a:p>
            <a:r>
              <a:rPr lang="en-US" altLang="en-US"/>
              <a:t>Features</a:t>
            </a:r>
            <a:endParaRPr lang="en-US" altLang="en-US"/>
          </a:p>
          <a:p>
            <a:pPr lvl="1"/>
            <a:r>
              <a:rPr lang="en-US" altLang="en-US"/>
              <a:t>Linux-based open-source environment</a:t>
            </a:r>
            <a:endParaRPr lang="en-US" altLang="en-US"/>
          </a:p>
          <a:p>
            <a:pPr lvl="1"/>
            <a:r>
              <a:rPr lang="en-US" altLang="en-US"/>
              <a:t>Supports Python and other programming languages</a:t>
            </a:r>
            <a:endParaRPr lang="en-US" altLang="en-US"/>
          </a:p>
          <a:p>
            <a:pPr lvl="1"/>
            <a:r>
              <a:rPr lang="en-US" altLang="en-US"/>
              <a:t>Provides command-line and graphical interfaces</a:t>
            </a:r>
            <a:endParaRPr lang="en-US" altLang="en-US"/>
          </a:p>
          <a:p>
            <a:pPr lvl="1"/>
            <a:r>
              <a:rPr lang="en-US" altLang="en-US"/>
              <a:t>Supports GPIO and hardware interfaces</a:t>
            </a:r>
            <a:endParaRPr lang="en-US" altLang="en-US"/>
          </a:p>
          <a:p>
            <a:pPr lvl="1"/>
            <a:r>
              <a:rPr lang="en-US" altLang="en-US"/>
              <a:t>Supports networking and Internet connectivity</a:t>
            </a:r>
            <a:endParaRPr lang="en-US" altLang="en-US"/>
          </a:p>
          <a:p>
            <a:pPr lvl="1"/>
            <a:r>
              <a:rPr lang="en-US" altLang="en-US"/>
              <a:t>Suitable for IoT and embedded applications</a:t>
            </a:r>
            <a:endParaRPr lang="en-US" altLang="en-US"/>
          </a:p>
          <a:p>
            <a:r>
              <a:rPr lang="en-US" altLang="en-US"/>
              <a:t>Example</a:t>
            </a:r>
            <a:endParaRPr lang="en-US" altLang="en-US"/>
          </a:p>
          <a:p>
            <a:r>
              <a:rPr lang="en-US" altLang="en-US"/>
              <a:t>A user can install Python packages and run an IoT program directly on Raspberry Pi OS.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Python</a:t>
            </a:r>
            <a:endParaRPr lang="en-US" altLang="en-US"/>
          </a:p>
        </p:txBody>
      </p:sp>
      <p:sp>
        <p:nvSpPr>
          <p:cNvPr id="3" name="Content Placeholder 2"/>
          <p:cNvSpPr>
            <a:spLocks noGrp="1"/>
          </p:cNvSpPr>
          <p:nvPr>
            <p:ph idx="1"/>
          </p:nvPr>
        </p:nvSpPr>
        <p:spPr/>
        <p:txBody>
          <a:bodyPr>
            <a:normAutofit fontScale="90000"/>
          </a:bodyPr>
          <a:p>
            <a:r>
              <a:rPr lang="en-US" altLang="en-US"/>
              <a:t>Python is one of the most commonly used programming languages for Raspberry Pi IoT development.</a:t>
            </a:r>
            <a:endParaRPr lang="en-US" altLang="en-US"/>
          </a:p>
          <a:p>
            <a:r>
              <a:rPr lang="en-US" altLang="en-US"/>
              <a:t>It can be used to:</a:t>
            </a:r>
            <a:endParaRPr lang="en-US" altLang="en-US"/>
          </a:p>
          <a:p>
            <a:pPr lvl="1"/>
            <a:r>
              <a:rPr lang="en-US" altLang="en-US"/>
              <a:t>Read sensor values</a:t>
            </a:r>
            <a:endParaRPr lang="en-US" altLang="en-US"/>
          </a:p>
          <a:p>
            <a:pPr lvl="1"/>
            <a:r>
              <a:rPr lang="en-US" altLang="en-US"/>
              <a:t>Control LEDs and motors</a:t>
            </a:r>
            <a:endParaRPr lang="en-US" altLang="en-US"/>
          </a:p>
          <a:p>
            <a:pPr lvl="1"/>
            <a:r>
              <a:rPr lang="en-US" altLang="en-US"/>
              <a:t>Communicate with IoT devices</a:t>
            </a:r>
            <a:endParaRPr lang="en-US" altLang="en-US"/>
          </a:p>
          <a:p>
            <a:pPr lvl="1"/>
            <a:r>
              <a:rPr lang="en-US" altLang="en-US"/>
              <a:t>Process sensor data</a:t>
            </a:r>
            <a:endParaRPr lang="en-US" altLang="en-US"/>
          </a:p>
          <a:p>
            <a:pPr lvl="1"/>
            <a:r>
              <a:rPr lang="en-US" altLang="en-US"/>
              <a:t>Connect to databases</a:t>
            </a:r>
            <a:endParaRPr lang="en-US" altLang="en-US"/>
          </a:p>
          <a:p>
            <a:pPr lvl="1"/>
            <a:r>
              <a:rPr lang="en-US" altLang="en-US"/>
              <a:t>Send data to cloud platforms</a:t>
            </a:r>
            <a:endParaRPr lang="en-US" altLang="en-US"/>
          </a:p>
          <a:p>
            <a:pPr lvl="0"/>
            <a:r>
              <a:rPr lang="en-US" altLang="en-US"/>
              <a:t>Example</a:t>
            </a:r>
            <a:endParaRPr lang="en-US" altLang="en-US"/>
          </a:p>
          <a:p>
            <a:pPr lvl="1"/>
            <a:r>
              <a:rPr lang="en-US" altLang="en-US"/>
              <a:t>print("IoT Application Running")</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Node-RED</a:t>
            </a:r>
            <a:endParaRPr lang="en-US" altLang="en-US"/>
          </a:p>
        </p:txBody>
      </p:sp>
      <p:sp>
        <p:nvSpPr>
          <p:cNvPr id="3" name="Content Placeholder 2"/>
          <p:cNvSpPr>
            <a:spLocks noGrp="1"/>
          </p:cNvSpPr>
          <p:nvPr>
            <p:ph idx="1"/>
          </p:nvPr>
        </p:nvSpPr>
        <p:spPr/>
        <p:txBody>
          <a:bodyPr>
            <a:normAutofit fontScale="60000"/>
          </a:bodyPr>
          <a:p>
            <a:r>
              <a:rPr lang="en-US" altLang="en-US"/>
              <a:t>Node-RED is an open-source, flow-based programming tool that is particularly useful for IoT applications.</a:t>
            </a:r>
            <a:endParaRPr lang="en-US" altLang="en-US"/>
          </a:p>
          <a:p>
            <a:r>
              <a:rPr lang="en-US" altLang="en-US"/>
              <a:t>Instead of writing large amounts of code, developers can create applications by connecting nodes in a visual flow.</a:t>
            </a:r>
            <a:endParaRPr lang="en-US" altLang="en-US"/>
          </a:p>
          <a:p>
            <a:r>
              <a:rPr lang="en-US" altLang="en-US"/>
              <a:t>Sensor</a:t>
            </a:r>
            <a:endParaRPr lang="en-US" altLang="en-US"/>
          </a:p>
          <a:p>
            <a:r>
              <a:rPr lang="en-US" altLang="en-US"/>
              <a:t>   ↓</a:t>
            </a:r>
            <a:endParaRPr lang="en-US" altLang="en-US"/>
          </a:p>
          <a:p>
            <a:r>
              <a:rPr lang="en-US" altLang="en-US"/>
              <a:t>[Input Node]</a:t>
            </a:r>
            <a:endParaRPr lang="en-US" altLang="en-US"/>
          </a:p>
          <a:p>
            <a:r>
              <a:rPr lang="en-US" altLang="en-US"/>
              <a:t>   ↓</a:t>
            </a:r>
            <a:endParaRPr lang="en-US" altLang="en-US"/>
          </a:p>
          <a:p>
            <a:r>
              <a:rPr lang="en-US" altLang="en-US"/>
              <a:t>[Process Node]</a:t>
            </a:r>
            <a:endParaRPr lang="en-US" altLang="en-US"/>
          </a:p>
          <a:p>
            <a:r>
              <a:rPr lang="en-US" altLang="en-US"/>
              <a:t>   ↓</a:t>
            </a:r>
            <a:endParaRPr lang="en-US" altLang="en-US"/>
          </a:p>
          <a:p>
            <a:r>
              <a:rPr lang="en-US" altLang="en-US"/>
              <a:t>[MQTT Node]</a:t>
            </a:r>
            <a:endParaRPr lang="en-US" altLang="en-US"/>
          </a:p>
          <a:p>
            <a:r>
              <a:rPr lang="en-US" altLang="en-US"/>
              <a:t>   ↓</a:t>
            </a:r>
            <a:endParaRPr lang="en-US" altLang="en-US"/>
          </a:p>
          <a:p>
            <a:r>
              <a:rPr lang="en-US" altLang="en-US"/>
              <a:t>Cloud / Database</a:t>
            </a:r>
            <a:endParaRPr lang="en-US" altLang="en-US"/>
          </a:p>
        </p:txBody>
      </p:sp>
      <p:sp>
        <p:nvSpPr>
          <p:cNvPr id="4" name="Text Box 3"/>
          <p:cNvSpPr txBox="1"/>
          <p:nvPr/>
        </p:nvSpPr>
        <p:spPr>
          <a:xfrm>
            <a:off x="4782185" y="2706053"/>
            <a:ext cx="5080000" cy="2154555"/>
          </a:xfrm>
          <a:prstGeom prst="rect">
            <a:avLst/>
          </a:prstGeom>
        </p:spPr>
        <p:txBody>
          <a:bodyPr>
            <a:spAutoFit/>
          </a:bodyPr>
          <a:p>
            <a:pPr>
              <a:spcAft>
                <a:spcPct val="60000"/>
              </a:spcAft>
            </a:pPr>
            <a:r>
              <a:rPr sz="2200" b="1"/>
              <a:t>Applications</a:t>
            </a:r>
            <a:endParaRPr sz="2200" b="1"/>
          </a:p>
          <a:p>
            <a:pPr>
              <a:buFont typeface="Arial" panose="020B0604020202020204"/>
              <a:buChar char="•"/>
            </a:pPr>
            <a:r>
              <a:rPr sz="1600"/>
              <a:t> Sensor monitoring </a:t>
            </a:r>
            <a:endParaRPr sz="1600"/>
          </a:p>
          <a:p>
            <a:pPr>
              <a:buFont typeface="Arial" panose="020B0604020202020204"/>
              <a:buChar char="•"/>
            </a:pPr>
            <a:r>
              <a:rPr sz="1600"/>
              <a:t> MQTT communication </a:t>
            </a:r>
            <a:endParaRPr sz="1600"/>
          </a:p>
          <a:p>
            <a:pPr>
              <a:buFont typeface="Arial" panose="020B0604020202020204"/>
              <a:buChar char="•"/>
            </a:pPr>
            <a:r>
              <a:rPr sz="1600"/>
              <a:t> Data processing </a:t>
            </a:r>
            <a:endParaRPr sz="1600"/>
          </a:p>
          <a:p>
            <a:pPr>
              <a:buFont typeface="Arial" panose="020B0604020202020204"/>
              <a:buChar char="•"/>
            </a:pPr>
            <a:r>
              <a:rPr sz="1600"/>
              <a:t> Automation </a:t>
            </a:r>
            <a:endParaRPr sz="1600"/>
          </a:p>
          <a:p>
            <a:pPr>
              <a:buFont typeface="Arial" panose="020B0604020202020204"/>
              <a:buChar char="•"/>
            </a:pPr>
            <a:r>
              <a:rPr sz="1600"/>
              <a:t> IoT dashboards </a:t>
            </a:r>
            <a:endParaRPr sz="1600"/>
          </a:p>
          <a:p>
            <a:pPr>
              <a:buFont typeface="Arial" panose="020B0604020202020204"/>
              <a:buChar char="•"/>
            </a:pPr>
            <a:r>
              <a:rPr sz="1600"/>
              <a:t> Home automation</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MQTT and Mosquitto</a:t>
            </a:r>
            <a:endParaRPr lang="en-US" altLang="en-US"/>
          </a:p>
        </p:txBody>
      </p:sp>
      <p:sp>
        <p:nvSpPr>
          <p:cNvPr id="3" name="Content Placeholder 2"/>
          <p:cNvSpPr>
            <a:spLocks noGrp="1"/>
          </p:cNvSpPr>
          <p:nvPr>
            <p:ph idx="1"/>
          </p:nvPr>
        </p:nvSpPr>
        <p:spPr/>
        <p:txBody>
          <a:bodyPr>
            <a:normAutofit fontScale="90000" lnSpcReduction="10000"/>
          </a:bodyPr>
          <a:p>
            <a:r>
              <a:rPr lang="en-US" altLang="en-US"/>
              <a:t>MQTT (Message Queuing Telemetry Transport) is a lightweight messaging protocol designed for devices with limited resources and unreliable networks.</a:t>
            </a:r>
            <a:endParaRPr lang="en-US" altLang="en-US"/>
          </a:p>
          <a:p>
            <a:endParaRPr lang="en-US" altLang="en-US"/>
          </a:p>
          <a:p>
            <a:r>
              <a:rPr lang="en-US" altLang="en-US"/>
              <a:t>It uses a Publisher–Subscriber model.</a:t>
            </a:r>
            <a:endParaRPr lang="en-US" altLang="en-US"/>
          </a:p>
          <a:p>
            <a:endParaRPr lang="en-US" altLang="en-US"/>
          </a:p>
          <a:p>
            <a:pPr marL="0" indent="0">
              <a:buNone/>
            </a:pPr>
            <a:r>
              <a:rPr lang="en-US" altLang="en-US"/>
              <a:t>             MQTT Broker</a:t>
            </a:r>
            <a:endParaRPr lang="en-US" altLang="en-US"/>
          </a:p>
          <a:p>
            <a:pPr marL="0" indent="0">
              <a:buNone/>
            </a:pPr>
            <a:r>
              <a:rPr lang="en-US" altLang="en-US"/>
              <a:t>            /    </a:t>
            </a:r>
            <a:r>
              <a:rPr lang="en-IN" altLang="en-US"/>
              <a:t>	</a:t>
            </a:r>
            <a:r>
              <a:rPr lang="en-US" altLang="en-US"/>
              <a:t> |     </a:t>
            </a:r>
            <a:r>
              <a:rPr lang="en-IN" altLang="en-US"/>
              <a:t>	</a:t>
            </a:r>
            <a:r>
              <a:rPr lang="en-US" altLang="en-US"/>
              <a:t> \</a:t>
            </a:r>
            <a:endParaRPr lang="en-US" altLang="en-US"/>
          </a:p>
          <a:p>
            <a:pPr marL="0" indent="0">
              <a:buNone/>
            </a:pPr>
            <a:r>
              <a:rPr lang="en-US" altLang="en-US"/>
              <a:t>           /      </a:t>
            </a:r>
            <a:r>
              <a:rPr lang="en-IN" altLang="en-US"/>
              <a:t>	 </a:t>
            </a:r>
            <a:r>
              <a:rPr lang="en-US" altLang="en-US"/>
              <a:t>|      </a:t>
            </a:r>
            <a:r>
              <a:rPr lang="en-IN" altLang="en-US"/>
              <a:t>	  </a:t>
            </a:r>
            <a:r>
              <a:rPr lang="en-US" altLang="en-US"/>
              <a:t> \</a:t>
            </a:r>
            <a:endParaRPr lang="en-US" altLang="en-US"/>
          </a:p>
          <a:p>
            <a:pPr marL="0" indent="0">
              <a:buNone/>
            </a:pPr>
            <a:r>
              <a:rPr lang="en-US" altLang="en-US"/>
              <a:t>      Sensor    Mobile    Dashboard</a:t>
            </a:r>
            <a:endParaRPr lang="en-US" altLang="en-US"/>
          </a:p>
          <a:p>
            <a:pPr marL="0" indent="0">
              <a:buNone/>
            </a:pPr>
            <a:r>
              <a:rPr lang="en-US" altLang="en-US"/>
              <a:t>    Publisher   Subscriber Subscriber</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Mosquitto</a:t>
            </a:r>
            <a:endParaRPr lang="en-US" altLang="en-US"/>
          </a:p>
        </p:txBody>
      </p:sp>
      <p:sp>
        <p:nvSpPr>
          <p:cNvPr id="3" name="Content Placeholder 2"/>
          <p:cNvSpPr>
            <a:spLocks noGrp="1"/>
          </p:cNvSpPr>
          <p:nvPr>
            <p:ph idx="1"/>
          </p:nvPr>
        </p:nvSpPr>
        <p:spPr/>
        <p:txBody>
          <a:bodyPr>
            <a:normAutofit fontScale="80000"/>
          </a:bodyPr>
          <a:p>
            <a:r>
              <a:rPr lang="en-US" altLang="en-US"/>
              <a:t>Eclipse Mosquitto is an open-source MQTT broker that can run on Raspberry Pi.</a:t>
            </a:r>
            <a:endParaRPr lang="en-US" altLang="en-US"/>
          </a:p>
          <a:p>
            <a:r>
              <a:rPr lang="en-US" altLang="en-US"/>
              <a:t>For example:</a:t>
            </a:r>
            <a:endParaRPr lang="en-US" altLang="en-US"/>
          </a:p>
          <a:p>
            <a:pPr marL="457200" lvl="1" indent="0">
              <a:buNone/>
            </a:pPr>
            <a:r>
              <a:rPr lang="en-US" altLang="en-US"/>
              <a:t>Temperature Sensor</a:t>
            </a:r>
            <a:endParaRPr lang="en-US" altLang="en-US"/>
          </a:p>
          <a:p>
            <a:pPr marL="457200" lvl="1" indent="0">
              <a:buNone/>
            </a:pPr>
            <a:r>
              <a:rPr lang="en-US" altLang="en-US"/>
              <a:t>        ↓</a:t>
            </a:r>
            <a:endParaRPr lang="en-US" altLang="en-US"/>
          </a:p>
          <a:p>
            <a:pPr marL="457200" lvl="1" indent="0">
              <a:buNone/>
            </a:pPr>
            <a:r>
              <a:rPr lang="en-US" altLang="en-US"/>
              <a:t>    MQTT Publish</a:t>
            </a:r>
            <a:endParaRPr lang="en-US" altLang="en-US"/>
          </a:p>
          <a:p>
            <a:pPr marL="457200" lvl="1" indent="0">
              <a:buNone/>
            </a:pPr>
            <a:r>
              <a:rPr lang="en-US" altLang="en-US"/>
              <a:t>        ↓</a:t>
            </a:r>
            <a:endParaRPr lang="en-US" altLang="en-US"/>
          </a:p>
          <a:p>
            <a:pPr marL="457200" lvl="1" indent="0">
              <a:buNone/>
            </a:pPr>
            <a:r>
              <a:rPr lang="en-US" altLang="en-US"/>
              <a:t> Raspberry Pi</a:t>
            </a:r>
            <a:endParaRPr lang="en-US" altLang="en-US"/>
          </a:p>
          <a:p>
            <a:pPr marL="457200" lvl="1" indent="0">
              <a:buNone/>
            </a:pPr>
            <a:r>
              <a:rPr lang="en-US" altLang="en-US"/>
              <a:t>  Mosquitto Broker</a:t>
            </a:r>
            <a:endParaRPr lang="en-US" altLang="en-US"/>
          </a:p>
          <a:p>
            <a:pPr marL="457200" lvl="1" indent="0">
              <a:buNone/>
            </a:pPr>
            <a:r>
              <a:rPr lang="en-US" altLang="en-US"/>
              <a:t>        ↓</a:t>
            </a:r>
            <a:endParaRPr lang="en-US" altLang="en-US"/>
          </a:p>
          <a:p>
            <a:pPr marL="457200" lvl="1" indent="0">
              <a:buNone/>
            </a:pPr>
            <a:r>
              <a:rPr lang="en-US" altLang="en-US"/>
              <a:t>    MQTT Subscribe</a:t>
            </a:r>
            <a:endParaRPr lang="en-US" altLang="en-US"/>
          </a:p>
          <a:p>
            <a:pPr marL="457200" lvl="1" indent="0">
              <a:buNone/>
            </a:pPr>
            <a:r>
              <a:rPr lang="en-US" altLang="en-US"/>
              <a:t>        ↓</a:t>
            </a:r>
            <a:endParaRPr lang="en-US" altLang="en-US"/>
          </a:p>
          <a:p>
            <a:pPr marL="457200" lvl="1" indent="0">
              <a:buNone/>
            </a:pPr>
            <a:r>
              <a:rPr lang="en-US" altLang="en-US"/>
              <a:t>   IoT Dashboard</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GPIO Libraries</a:t>
            </a:r>
            <a:endParaRPr lang="en-US" altLang="en-US"/>
          </a:p>
        </p:txBody>
      </p:sp>
      <p:sp>
        <p:nvSpPr>
          <p:cNvPr id="3" name="Content Placeholder 2"/>
          <p:cNvSpPr>
            <a:spLocks noGrp="1"/>
          </p:cNvSpPr>
          <p:nvPr>
            <p:ph idx="1"/>
          </p:nvPr>
        </p:nvSpPr>
        <p:spPr/>
        <p:txBody>
          <a:bodyPr>
            <a:normAutofit fontScale="60000"/>
          </a:bodyPr>
          <a:p>
            <a:r>
              <a:rPr lang="en-US" altLang="en-US"/>
              <a:t>Raspberry Pi provides GPIO (General Purpose Input/Output) pins that allow it to communicate with electronic components.</a:t>
            </a:r>
            <a:endParaRPr lang="en-US" altLang="en-US"/>
          </a:p>
          <a:p>
            <a:r>
              <a:rPr lang="en-US" altLang="en-US"/>
              <a:t>Python libraries can be used to control these pins.</a:t>
            </a:r>
            <a:endParaRPr lang="en-US" altLang="en-US"/>
          </a:p>
          <a:p>
            <a:r>
              <a:rPr lang="en-US" altLang="en-US"/>
              <a:t>For example:</a:t>
            </a:r>
            <a:endParaRPr lang="en-US" altLang="en-US"/>
          </a:p>
          <a:p>
            <a:endParaRPr lang="en-US" altLang="en-US"/>
          </a:p>
          <a:p>
            <a:r>
              <a:rPr lang="en-US" altLang="en-US"/>
              <a:t>Raspberry Pi</a:t>
            </a:r>
            <a:endParaRPr lang="en-US" altLang="en-US"/>
          </a:p>
          <a:p>
            <a:r>
              <a:rPr lang="en-US" altLang="en-US"/>
              <a:t>     │</a:t>
            </a:r>
            <a:endParaRPr lang="en-US" altLang="en-US"/>
          </a:p>
          <a:p>
            <a:r>
              <a:rPr lang="en-US" altLang="en-US"/>
              <a:t>     ├── LED</a:t>
            </a:r>
            <a:endParaRPr lang="en-US" altLang="en-US"/>
          </a:p>
          <a:p>
            <a:r>
              <a:rPr lang="en-US" altLang="en-US"/>
              <a:t>     ├── Temperature Sensor</a:t>
            </a:r>
            <a:endParaRPr lang="en-US" altLang="en-US"/>
          </a:p>
          <a:p>
            <a:r>
              <a:rPr lang="en-US" altLang="en-US"/>
              <a:t>     ├── Relay</a:t>
            </a:r>
            <a:endParaRPr lang="en-US" altLang="en-US"/>
          </a:p>
          <a:p>
            <a:r>
              <a:rPr lang="en-US" altLang="en-US"/>
              <a:t>     ├── Motor</a:t>
            </a:r>
            <a:endParaRPr lang="en-US" altLang="en-US"/>
          </a:p>
          <a:p>
            <a:r>
              <a:rPr lang="en-US" altLang="en-US"/>
              <a:t>     └── Button</a:t>
            </a:r>
            <a:endParaRPr lang="en-US" altLang="en-US"/>
          </a:p>
          <a:p>
            <a:endParaRPr lang="en-US" altLang="en-US"/>
          </a:p>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GPIO Libraries</a:t>
            </a:r>
            <a:endParaRPr lang="en-US"/>
          </a:p>
        </p:txBody>
      </p:sp>
      <p:sp>
        <p:nvSpPr>
          <p:cNvPr id="3" name="Content Placeholder 2"/>
          <p:cNvSpPr>
            <a:spLocks noGrp="1"/>
          </p:cNvSpPr>
          <p:nvPr>
            <p:ph idx="1"/>
          </p:nvPr>
        </p:nvSpPr>
        <p:spPr/>
        <p:txBody>
          <a:bodyPr/>
          <a:p>
            <a:r>
              <a:rPr lang="en-US" altLang="en-US">
                <a:sym typeface="+mn-ea"/>
              </a:rPr>
              <a:t>GPIO can therefore be used to:</a:t>
            </a:r>
            <a:endParaRPr lang="en-US" altLang="en-US"/>
          </a:p>
          <a:p>
            <a:pPr lvl="1"/>
            <a:r>
              <a:rPr lang="en-US" altLang="en-US">
                <a:sym typeface="+mn-ea"/>
              </a:rPr>
              <a:t>Read digital sensors</a:t>
            </a:r>
            <a:endParaRPr lang="en-US" altLang="en-US"/>
          </a:p>
          <a:p>
            <a:pPr lvl="1"/>
            <a:r>
              <a:rPr lang="en-US" altLang="en-US">
                <a:sym typeface="+mn-ea"/>
              </a:rPr>
              <a:t>Control LEDs</a:t>
            </a:r>
            <a:endParaRPr lang="en-US" altLang="en-US"/>
          </a:p>
          <a:p>
            <a:pPr lvl="1"/>
            <a:r>
              <a:rPr lang="en-US" altLang="en-US">
                <a:sym typeface="+mn-ea"/>
              </a:rPr>
              <a:t>Control relays</a:t>
            </a:r>
            <a:endParaRPr lang="en-US" altLang="en-US"/>
          </a:p>
          <a:p>
            <a:pPr lvl="1"/>
            <a:r>
              <a:rPr lang="en-US" altLang="en-US">
                <a:sym typeface="+mn-ea"/>
              </a:rPr>
              <a:t>Interface with actuators</a:t>
            </a:r>
            <a:endParaRPr lang="en-US" altLang="en-US"/>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Grafana and InfluxDB</a:t>
            </a:r>
            <a:endParaRPr lang="en-US" altLang="en-US"/>
          </a:p>
        </p:txBody>
      </p:sp>
      <p:sp>
        <p:nvSpPr>
          <p:cNvPr id="3" name="Content Placeholder 2"/>
          <p:cNvSpPr>
            <a:spLocks noGrp="1"/>
          </p:cNvSpPr>
          <p:nvPr>
            <p:ph idx="1"/>
          </p:nvPr>
        </p:nvSpPr>
        <p:spPr/>
        <p:txBody>
          <a:bodyPr>
            <a:normAutofit fontScale="90000" lnSpcReduction="20000"/>
          </a:bodyPr>
          <a:p>
            <a:r>
              <a:rPr lang="en-US" altLang="en-US"/>
              <a:t>InfluxDB</a:t>
            </a:r>
            <a:endParaRPr lang="en-US" altLang="en-US"/>
          </a:p>
          <a:p>
            <a:endParaRPr lang="en-US" altLang="en-US"/>
          </a:p>
          <a:p>
            <a:r>
              <a:rPr lang="en-US" altLang="en-US"/>
              <a:t>InfluxDB is a database designed particularly for time-series data, making it useful for continuously changing IoT sensor readings.</a:t>
            </a:r>
            <a:endParaRPr lang="en-US" altLang="en-US"/>
          </a:p>
          <a:p>
            <a:endParaRPr lang="en-US" altLang="en-US"/>
          </a:p>
          <a:p>
            <a:r>
              <a:rPr lang="en-US" altLang="en-US"/>
              <a:t>Example:</a:t>
            </a:r>
            <a:endParaRPr lang="en-US" altLang="en-US"/>
          </a:p>
          <a:p>
            <a:endParaRPr lang="en-US" altLang="en-US"/>
          </a:p>
          <a:p>
            <a:r>
              <a:rPr lang="en-US" altLang="en-US"/>
              <a:t>10:00 → 28°C</a:t>
            </a:r>
            <a:endParaRPr lang="en-US" altLang="en-US"/>
          </a:p>
          <a:p>
            <a:r>
              <a:rPr lang="en-US" altLang="en-US"/>
              <a:t>10:05 → 28.5°C</a:t>
            </a:r>
            <a:endParaRPr lang="en-US" altLang="en-US"/>
          </a:p>
          <a:p>
            <a:r>
              <a:rPr lang="en-US" altLang="en-US"/>
              <a:t>10:10 → 29°C</a:t>
            </a:r>
            <a:endParaRPr lang="en-US" altLang="en-US"/>
          </a:p>
          <a:p>
            <a:r>
              <a:rPr lang="en-US" altLang="en-US"/>
              <a:t>10:15 → 29.5°C</a:t>
            </a:r>
            <a:endParaRPr lang="en-US" altLang="en-US"/>
          </a:p>
          <a:p>
            <a:endParaRPr lang="en-US" altLang="en-US"/>
          </a:p>
        </p:txBody>
      </p:sp>
      <p:sp>
        <p:nvSpPr>
          <p:cNvPr id="4" name="Text Box 3"/>
          <p:cNvSpPr txBox="1"/>
          <p:nvPr/>
        </p:nvSpPr>
        <p:spPr>
          <a:xfrm>
            <a:off x="4954270" y="3429317"/>
            <a:ext cx="5080000" cy="2647315"/>
          </a:xfrm>
          <a:prstGeom prst="rect">
            <a:avLst/>
          </a:prstGeom>
        </p:spPr>
        <p:txBody>
          <a:bodyPr>
            <a:spAutoFit/>
          </a:bodyPr>
          <a:p>
            <a:pPr>
              <a:spcAft>
                <a:spcPct val="60000"/>
              </a:spcAft>
            </a:pPr>
            <a:r>
              <a:rPr sz="2200" b="1"/>
              <a:t>Grafana</a:t>
            </a:r>
            <a:endParaRPr sz="2200" b="1"/>
          </a:p>
          <a:p>
            <a:r>
              <a:rPr sz="1600"/>
              <a:t>Grafana can be used to create dashboards and visualize sensor data in graphs and charts.</a:t>
            </a:r>
            <a:endParaRPr sz="1600"/>
          </a:p>
          <a:p>
            <a:r>
              <a:rPr sz="1600"/>
              <a:t>Sensor
   ↓
InfluxDB
   ↓
Grafana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Docker</a:t>
            </a:r>
            <a:endParaRPr lang="en-US" altLang="en-US"/>
          </a:p>
        </p:txBody>
      </p:sp>
      <p:sp>
        <p:nvSpPr>
          <p:cNvPr id="3" name="Content Placeholder 2"/>
          <p:cNvSpPr>
            <a:spLocks noGrp="1"/>
          </p:cNvSpPr>
          <p:nvPr>
            <p:ph idx="1"/>
          </p:nvPr>
        </p:nvSpPr>
        <p:spPr/>
        <p:txBody>
          <a:bodyPr>
            <a:normAutofit fontScale="90000"/>
          </a:bodyPr>
          <a:p>
            <a:r>
              <a:rPr lang="en-US" altLang="en-US"/>
              <a:t>Docker is an open-source containerization platform.</a:t>
            </a:r>
            <a:endParaRPr lang="en-US" altLang="en-US"/>
          </a:p>
          <a:p>
            <a:r>
              <a:rPr lang="en-US" altLang="en-US"/>
              <a:t>On Raspberry Pi, Docker can be used to run IoT services in separate containers.</a:t>
            </a:r>
            <a:endParaRPr lang="en-US" altLang="en-US"/>
          </a:p>
          <a:p>
            <a:r>
              <a:rPr lang="en-US" altLang="en-US"/>
              <a:t>For example:</a:t>
            </a:r>
            <a:endParaRPr lang="en-US" altLang="en-US"/>
          </a:p>
          <a:p>
            <a:pPr lvl="1"/>
            <a:r>
              <a:rPr lang="en-US" altLang="en-US"/>
              <a:t>Raspberry Pi</a:t>
            </a:r>
            <a:endParaRPr lang="en-US" altLang="en-US"/>
          </a:p>
          <a:p>
            <a:pPr lvl="1"/>
            <a:r>
              <a:rPr lang="en-US" altLang="en-US"/>
              <a:t>│</a:t>
            </a:r>
            <a:endParaRPr lang="en-US" altLang="en-US"/>
          </a:p>
          <a:p>
            <a:pPr lvl="1"/>
            <a:r>
              <a:rPr lang="en-US" altLang="en-US"/>
              <a:t>├── MQTT Container</a:t>
            </a:r>
            <a:endParaRPr lang="en-US" altLang="en-US"/>
          </a:p>
          <a:p>
            <a:pPr lvl="1"/>
            <a:r>
              <a:rPr lang="en-US" altLang="en-US"/>
              <a:t>├── Node-RED Container</a:t>
            </a:r>
            <a:endParaRPr lang="en-US" altLang="en-US"/>
          </a:p>
          <a:p>
            <a:pPr lvl="1"/>
            <a:r>
              <a:rPr lang="en-US" altLang="en-US"/>
              <a:t>├── Database Container</a:t>
            </a:r>
            <a:endParaRPr lang="en-US" altLang="en-US"/>
          </a:p>
          <a:p>
            <a:pPr lvl="1"/>
            <a:r>
              <a:rPr lang="en-US" altLang="en-US"/>
              <a:t>└── Grafana Container</a:t>
            </a:r>
            <a:endParaRPr lang="en-US" altLang="en-US"/>
          </a:p>
          <a:p>
            <a:r>
              <a:rPr lang="en-US" altLang="en-US"/>
              <a:t>This makes IoT applications easier to deploy and manage.</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Advantages of Open-Source Tools in Raspberry Pi IoT</a:t>
            </a:r>
            <a:endParaRPr lang="en-US" altLang="en-US"/>
          </a:p>
        </p:txBody>
      </p:sp>
      <p:sp>
        <p:nvSpPr>
          <p:cNvPr id="3" name="Content Placeholder 2"/>
          <p:cNvSpPr>
            <a:spLocks noGrp="1"/>
          </p:cNvSpPr>
          <p:nvPr>
            <p:ph idx="1"/>
          </p:nvPr>
        </p:nvSpPr>
        <p:spPr/>
        <p:txBody>
          <a:bodyPr>
            <a:normAutofit lnSpcReduction="10000"/>
          </a:bodyPr>
          <a:p>
            <a:r>
              <a:rPr lang="en-US" altLang="en-US"/>
              <a:t>Low cost — Most tools are freely available.</a:t>
            </a:r>
            <a:endParaRPr lang="en-US" altLang="en-US"/>
          </a:p>
          <a:p>
            <a:r>
              <a:rPr lang="en-US" altLang="en-US"/>
              <a:t>Customizable — Source code can be modified according to requirements.</a:t>
            </a:r>
            <a:endParaRPr lang="en-US" altLang="en-US"/>
          </a:p>
          <a:p>
            <a:r>
              <a:rPr lang="en-US" altLang="en-US"/>
              <a:t>Large community support — Many tutorials and libraries are available.</a:t>
            </a:r>
            <a:endParaRPr lang="en-US" altLang="en-US"/>
          </a:p>
          <a:p>
            <a:r>
              <a:rPr lang="en-US" altLang="en-US"/>
              <a:t>Easy integration — Tools can work together.</a:t>
            </a:r>
            <a:endParaRPr lang="en-US" altLang="en-US"/>
          </a:p>
          <a:p>
            <a:r>
              <a:rPr lang="en-US" altLang="en-US"/>
              <a:t>Cross-platform support — Many tools run on Linux and other platforms.</a:t>
            </a:r>
            <a:endParaRPr lang="en-US" altLang="en-US"/>
          </a:p>
          <a:p>
            <a:r>
              <a:rPr lang="en-US" altLang="en-US"/>
              <a:t>Rapid development — Ready-made libraries and frameworks reduce development time.</a:t>
            </a:r>
            <a:endParaRPr lang="en-US" altLang="en-US"/>
          </a:p>
          <a:p>
            <a:r>
              <a:rPr lang="en-US" altLang="en-US"/>
              <a:t>Suitable for prototyping — Excellent for experimenting with IoT ideas.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IN" altLang="en-US"/>
              <a:t>Thank You</a:t>
            </a:r>
            <a:endParaRPr lang="en-IN" altLang="en-US"/>
          </a:p>
        </p:txBody>
      </p:sp>
      <p:sp>
        <p:nvSpPr>
          <p:cNvPr id="5" name="Subtitle 4"/>
          <p:cNvSpPr>
            <a:spLocks noGrp="1"/>
          </p:cNvSpPr>
          <p:nvPr>
            <p:ph type="subTitle" idx="1"/>
          </p:nvPr>
        </p:nvSpPr>
        <p:spPr/>
        <p:txBody>
          <a:bodyPr/>
          <a:p>
            <a:r>
              <a:rPr lang="en-IN" altLang="en-US"/>
              <a:t>Vraj Suratwala</a:t>
            </a:r>
            <a:endParaRPr lang="en-IN" altLang="en-US"/>
          </a:p>
          <a:p>
            <a:r>
              <a:rPr lang="en-IN" altLang="en-US"/>
              <a:t>Department of ICT, VNSGU</a:t>
            </a:r>
            <a:endParaRPr lang="en-I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4047</Words>
  <Application>WPS Presentation</Application>
  <PresentationFormat>Widescreen</PresentationFormat>
  <Paragraphs>159</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Calibri Light</vt:lpstr>
      <vt:lpstr>Calibri</vt:lpstr>
      <vt:lpstr>Microsoft YaHei</vt:lpstr>
      <vt:lpstr>Arial Unicode MS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20</cp:revision>
  <dcterms:created xsi:type="dcterms:W3CDTF">2025-07-23T00:59:00Z</dcterms:created>
  <dcterms:modified xsi:type="dcterms:W3CDTF">2026-09-20T14:52:26Z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31344C1B4F0E40E9A7FDD5A207963E6A_11</vt:lpwstr>
  </property>
  <property fmtid="{D5CDD505-2E9C-101B-9397-08002B2CF9AE}" pid="3" name="KSOProductBuildVer">
    <vt:lpwstr>1033-12.1.0.25862</vt:lpwstr>
  </property>
</Properties>
</file>