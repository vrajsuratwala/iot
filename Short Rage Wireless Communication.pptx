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8" r:id="rId6"/>
    <p:sldId id="279" r:id="rId7"/>
    <p:sldId id="280" r:id="rId8"/>
    <p:sldId id="259" r:id="rId9"/>
    <p:sldId id="272" r:id="rId10"/>
    <p:sldId id="273" r:id="rId11"/>
    <p:sldId id="274" r:id="rId12"/>
    <p:sldId id="275" r:id="rId13"/>
    <p:sldId id="276" r:id="rId14"/>
    <p:sldId id="277" r:id="rId15"/>
    <p:sldId id="260" r:id="rId16"/>
    <p:sldId id="264" r:id="rId17"/>
    <p:sldId id="265" r:id="rId18"/>
    <p:sldId id="266" r:id="rId19"/>
    <p:sldId id="267" r:id="rId20"/>
    <p:sldId id="268" r:id="rId21"/>
    <p:sldId id="261" r:id="rId22"/>
    <p:sldId id="269" r:id="rId23"/>
    <p:sldId id="270" r:id="rId24"/>
    <p:sldId id="271" r:id="rId25"/>
    <p:sldId id="262" r:id="rId26"/>
    <p:sldId id="26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1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2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3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image" Target="../media/image4.png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8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3" Type="http://schemas.openxmlformats.org/officeDocument/2006/relationships/image" Target="../media/image7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4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98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2.xml"/><Relationship Id="rId3" Type="http://schemas.openxmlformats.org/officeDocument/2006/relationships/image" Target="../media/image14.png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1.xml"/><Relationship Id="rId3" Type="http://schemas.openxmlformats.org/officeDocument/2006/relationships/image" Target="../media/image15.png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4.xml"/><Relationship Id="rId3" Type="http://schemas.openxmlformats.org/officeDocument/2006/relationships/image" Target="../media/image16.png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7.xml"/><Relationship Id="rId3" Type="http://schemas.openxmlformats.org/officeDocument/2006/relationships/image" Target="../media/image17.png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3.xml"/><Relationship Id="rId3" Type="http://schemas.openxmlformats.org/officeDocument/2006/relationships/image" Target="../media/image18.png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6.xml"/><Relationship Id="rId3" Type="http://schemas.openxmlformats.org/officeDocument/2006/relationships/image" Target="../media/image19.png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9.xml"/><Relationship Id="rId3" Type="http://schemas.openxmlformats.org/officeDocument/2006/relationships/image" Target="../media/image20.png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2.xml"/><Relationship Id="rId3" Type="http://schemas.openxmlformats.org/officeDocument/2006/relationships/image" Target="../media/image21.png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Short-Range Communication Used in IoT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WPAN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2400"/>
              <a:t>WPAN – Wireless Personal Area Network</a:t>
            </a:r>
            <a:endParaRPr lang="en-US" altLang="en-US" sz="2400"/>
          </a:p>
          <a:p>
            <a:r>
              <a:rPr lang="en-US" altLang="en-US" sz="2400"/>
              <a:t>WPAN is a wireless network designed for communication between devices within a short personal range.</a:t>
            </a:r>
            <a:endParaRPr lang="en-US" altLang="en-US" sz="2400"/>
          </a:p>
          <a:p>
            <a:r>
              <a:rPr lang="en-US" altLang="en-US" sz="2400"/>
              <a:t>Examples include communication between:</a:t>
            </a:r>
            <a:endParaRPr lang="en-US" altLang="en-US" sz="2400"/>
          </a:p>
          <a:p>
            <a:pPr lvl="1"/>
            <a:r>
              <a:rPr lang="en-US" altLang="en-US" sz="2000"/>
              <a:t>Smartphone and smartwatch</a:t>
            </a:r>
            <a:endParaRPr lang="en-US" altLang="en-US" sz="2000"/>
          </a:p>
          <a:p>
            <a:pPr lvl="1"/>
            <a:r>
              <a:rPr lang="en-US" altLang="en-US" sz="2000"/>
              <a:t>Sensors and a controller</a:t>
            </a:r>
            <a:endParaRPr lang="en-US" altLang="en-US" sz="2000"/>
          </a:p>
          <a:p>
            <a:pPr lvl="1"/>
            <a:r>
              <a:rPr lang="en-US" altLang="en-US" sz="2000"/>
              <a:t>Wireless headphones and mobile phones</a:t>
            </a:r>
            <a:endParaRPr lang="en-US" altLang="en-US" sz="2000"/>
          </a:p>
          <a:p>
            <a:pPr lvl="1"/>
            <a:r>
              <a:rPr lang="en-US" altLang="en-US" sz="2000"/>
              <a:t>IoT sensors and gateways</a:t>
            </a:r>
            <a:endParaRPr lang="en-US" altLang="en-US" sz="2000"/>
          </a:p>
          <a:p>
            <a:r>
              <a:rPr lang="en-US" altLang="en-US" sz="2400"/>
              <a:t>Important WPAN protocols used in IoT include:</a:t>
            </a:r>
            <a:endParaRPr lang="en-US" altLang="en-US" sz="2400"/>
          </a:p>
          <a:p>
            <a:pPr lvl="1"/>
            <a:r>
              <a:rPr lang="en-US" altLang="en-US" sz="2000"/>
              <a:t>Bluetooth, Bluetooth Low Energy (BLE), ZigBee and ANT</a:t>
            </a:r>
            <a:endParaRPr lang="en-US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1. Bluetooth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Bluetooth is a short-range wireless communication technology mainly designed for connecting personal devices.</a:t>
            </a:r>
            <a:endParaRPr lang="en-US" altLang="en-US"/>
          </a:p>
          <a:p>
            <a:r>
              <a:rPr lang="en-US" altLang="en-US"/>
              <a:t>Features:</a:t>
            </a:r>
            <a:endParaRPr lang="en-US" altLang="en-US"/>
          </a:p>
          <a:p>
            <a:pPr lvl="1"/>
            <a:r>
              <a:rPr lang="en-US" altLang="en-US"/>
              <a:t>Short-range communication</a:t>
            </a:r>
            <a:endParaRPr lang="en-US" altLang="en-US"/>
          </a:p>
          <a:p>
            <a:pPr lvl="1"/>
            <a:r>
              <a:rPr lang="en-US" altLang="en-US"/>
              <a:t>Wireless and cable-free</a:t>
            </a:r>
            <a:endParaRPr lang="en-US" altLang="en-US"/>
          </a:p>
          <a:p>
            <a:pPr lvl="1"/>
            <a:r>
              <a:rPr lang="en-US" altLang="en-US"/>
              <a:t>Suitable for device-to-device communication</a:t>
            </a:r>
            <a:endParaRPr lang="en-US" altLang="en-US"/>
          </a:p>
          <a:p>
            <a:pPr lvl="1"/>
            <a:r>
              <a:rPr lang="en-US" altLang="en-US"/>
              <a:t>Commonly used in smartphones, headphones, keyboards and other personal devices</a:t>
            </a:r>
            <a:endParaRPr lang="en-US" altLang="en-US"/>
          </a:p>
          <a:p>
            <a:pPr lvl="1"/>
            <a:r>
              <a:rPr lang="en-US" altLang="en-US"/>
              <a:t>Generally consumes more power than BLE</a:t>
            </a:r>
            <a:endParaRPr lang="en-US" altLang="en-US"/>
          </a:p>
          <a:p>
            <a:r>
              <a:rPr lang="en-US" altLang="en-US"/>
              <a:t>Applications:</a:t>
            </a:r>
            <a:endParaRPr lang="en-US" altLang="en-US"/>
          </a:p>
          <a:p>
            <a:pPr lvl="1"/>
            <a:r>
              <a:rPr lang="en-US" altLang="en-US"/>
              <a:t>Wireless headphones</a:t>
            </a:r>
            <a:endParaRPr lang="en-US" altLang="en-US"/>
          </a:p>
          <a:p>
            <a:pPr lvl="1"/>
            <a:r>
              <a:rPr lang="en-US" altLang="en-US"/>
              <a:t>Mobile-to-device communication</a:t>
            </a:r>
            <a:endParaRPr lang="en-US" altLang="en-US"/>
          </a:p>
          <a:p>
            <a:pPr lvl="1"/>
            <a:r>
              <a:rPr lang="en-US" altLang="en-US"/>
              <a:t>Keyboards and mice</a:t>
            </a:r>
            <a:endParaRPr lang="en-US" altLang="en-US"/>
          </a:p>
          <a:p>
            <a:pPr lvl="1"/>
            <a:r>
              <a:rPr lang="en-US" altLang="en-US"/>
              <a:t>Personal devices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8531225" cy="532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8577580" cy="60642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11076940" cy="36175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2.</a:t>
            </a:r>
            <a:r>
              <a:rPr lang="en-US" altLang="en-US"/>
              <a:t> Bluetooth Low Energy (BLE)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r>
              <a:rPr lang="en-US" altLang="en-US"/>
              <a:t>BLE is a low-power version of Bluetooth designed particularly for devices that need to operate for a long time using batteries.</a:t>
            </a:r>
            <a:endParaRPr lang="en-US" altLang="en-US"/>
          </a:p>
          <a:p>
            <a:r>
              <a:rPr lang="en-US" altLang="en-US"/>
              <a:t>Features:</a:t>
            </a:r>
            <a:endParaRPr lang="en-US" altLang="en-US"/>
          </a:p>
          <a:p>
            <a:pPr lvl="1"/>
            <a:r>
              <a:rPr lang="en-US" altLang="en-US"/>
              <a:t>Very low power consumption</a:t>
            </a:r>
            <a:endParaRPr lang="en-US" altLang="en-US"/>
          </a:p>
          <a:p>
            <a:pPr lvl="1"/>
            <a:r>
              <a:rPr lang="en-US" altLang="en-US"/>
              <a:t>Short-range communication</a:t>
            </a:r>
            <a:endParaRPr lang="en-US" altLang="en-US"/>
          </a:p>
          <a:p>
            <a:pPr lvl="1"/>
            <a:r>
              <a:rPr lang="en-US" altLang="en-US"/>
              <a:t>Suitable for small and periodic data transmission</a:t>
            </a:r>
            <a:endParaRPr lang="en-US" altLang="en-US"/>
          </a:p>
          <a:p>
            <a:pPr lvl="1"/>
            <a:r>
              <a:rPr lang="en-US" altLang="en-US"/>
              <a:t>Supports battery-powered IoT devices</a:t>
            </a:r>
            <a:endParaRPr lang="en-US" altLang="en-US"/>
          </a:p>
          <a:p>
            <a:pPr lvl="1"/>
            <a:r>
              <a:rPr lang="en-US" altLang="en-US"/>
              <a:t>Commonly used with smartphones</a:t>
            </a:r>
            <a:endParaRPr lang="en-US" altLang="en-US"/>
          </a:p>
          <a:p>
            <a:r>
              <a:rPr lang="en-US" altLang="en-US"/>
              <a:t>Applications:</a:t>
            </a:r>
            <a:endParaRPr lang="en-US" altLang="en-US"/>
          </a:p>
          <a:p>
            <a:pPr lvl="1"/>
            <a:r>
              <a:rPr lang="en-US" altLang="en-US"/>
              <a:t>Fitness bands</a:t>
            </a:r>
            <a:endParaRPr lang="en-US" altLang="en-US"/>
          </a:p>
          <a:p>
            <a:pPr lvl="1"/>
            <a:r>
              <a:rPr lang="en-US" altLang="en-US"/>
              <a:t>Smartwatches</a:t>
            </a:r>
            <a:endParaRPr lang="en-US" altLang="en-US"/>
          </a:p>
          <a:p>
            <a:pPr lvl="1"/>
            <a:r>
              <a:rPr lang="en-US" altLang="en-US"/>
              <a:t>Health sensors</a:t>
            </a:r>
            <a:endParaRPr lang="en-US" altLang="en-US"/>
          </a:p>
          <a:p>
            <a:pPr lvl="1"/>
            <a:r>
              <a:rPr lang="en-US" altLang="en-US"/>
              <a:t>Beacons</a:t>
            </a:r>
            <a:endParaRPr lang="en-US" altLang="en-US"/>
          </a:p>
          <a:p>
            <a:pPr lvl="1"/>
            <a:r>
              <a:rPr lang="en-US" altLang="en-US"/>
              <a:t>Smart-home sensors</a:t>
            </a:r>
            <a:endParaRPr lang="en-US" altLang="en-US"/>
          </a:p>
          <a:p>
            <a:pPr lvl="0"/>
            <a:r>
              <a:rPr lang="en-US" altLang="en-US"/>
              <a:t>BLE operates in the 2.4 GHz ISM (Industrial, Scientific and Medical) band.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6096000" y="4477702"/>
            <a:ext cx="5080000" cy="114871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sz="2200" b="1" i="0">
                <a:solidFill>
                  <a:srgbClr val="000000"/>
                </a:solidFill>
              </a:rPr>
              <a:t>Easy Difference:</a:t>
            </a:r>
            <a:endParaRPr sz="2200" b="1" i="0">
              <a:solidFill>
                <a:srgbClr val="000000"/>
              </a:solidFill>
            </a:endParaRPr>
          </a:p>
          <a:p>
            <a:pPr marL="0" indent="0"/>
            <a:r>
              <a:rPr sz="1600" b="0" i="0">
                <a:solidFill>
                  <a:srgbClr val="000000"/>
                </a:solidFill>
              </a:rPr>
              <a:t>Bluetooth → General short-range communication</a:t>
            </a:r>
            <a:endParaRPr sz="1600" b="0" i="0">
              <a:solidFill>
                <a:srgbClr val="000000"/>
              </a:solidFill>
            </a:endParaRPr>
          </a:p>
          <a:p>
            <a:pPr marL="0" indent="0"/>
            <a:r>
              <a:rPr sz="1600" b="0" i="0">
                <a:solidFill>
                  <a:srgbClr val="000000"/>
                </a:solidFill>
              </a:rPr>
              <a:t>BLE → Low-power IoT and sensor communication</a:t>
            </a:r>
            <a:endParaRPr sz="1600" b="0" i="0">
              <a:solidFill>
                <a:srgbClr val="00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7014845" cy="56718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BLE Device Role 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3580" y="1490345"/>
            <a:ext cx="5886450" cy="4759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rcRect r="11471"/>
          <a:stretch>
            <a:fillRect/>
          </a:stretch>
        </p:blipFill>
        <p:spPr>
          <a:xfrm>
            <a:off x="5629910" y="726440"/>
            <a:ext cx="6478905" cy="34550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7200265" cy="51917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7019925" cy="58343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160" y="3717925"/>
            <a:ext cx="7355840" cy="31400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6052820" cy="56610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040" y="0"/>
            <a:ext cx="6283960" cy="58769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4320540" cy="66522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385" y="0"/>
            <a:ext cx="758761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3. ZigBee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5158740"/>
          </a:xfrm>
        </p:spPr>
        <p:txBody>
          <a:bodyPr>
            <a:normAutofit fontScale="80000"/>
          </a:bodyPr>
          <a:p>
            <a:r>
              <a:rPr lang="en-US" altLang="en-US"/>
              <a:t>ZigBee is a low-power wireless communication technology designed for IoT and sensor networks.</a:t>
            </a:r>
            <a:endParaRPr lang="en-US" altLang="en-US"/>
          </a:p>
          <a:p>
            <a:r>
              <a:rPr lang="en-US" altLang="en-US"/>
              <a:t>One important feature of ZigBee is its ability to support mesh networking, where devices can communicate through other devices in the network.</a:t>
            </a:r>
            <a:endParaRPr lang="en-US" altLang="en-US"/>
          </a:p>
          <a:p>
            <a:r>
              <a:rPr lang="en-US" altLang="en-US"/>
              <a:t>Features:</a:t>
            </a:r>
            <a:endParaRPr lang="en-US" altLang="en-US"/>
          </a:p>
          <a:p>
            <a:pPr lvl="1"/>
            <a:r>
              <a:rPr lang="en-US" altLang="en-US"/>
              <a:t>Low power consumption</a:t>
            </a:r>
            <a:endParaRPr lang="en-US" altLang="en-US"/>
          </a:p>
          <a:p>
            <a:pPr lvl="1"/>
            <a:r>
              <a:rPr lang="en-US" altLang="en-US"/>
              <a:t>Suitable for sensor networks</a:t>
            </a:r>
            <a:endParaRPr lang="en-US" altLang="en-US"/>
          </a:p>
          <a:p>
            <a:pPr lvl="1"/>
            <a:r>
              <a:rPr lang="en-US" altLang="en-US"/>
              <a:t>Supports mesh networks</a:t>
            </a:r>
            <a:endParaRPr lang="en-US" altLang="en-US"/>
          </a:p>
          <a:p>
            <a:pPr lvl="1"/>
            <a:r>
              <a:rPr lang="en-US" altLang="en-US"/>
              <a:t>Can connect many devices</a:t>
            </a:r>
            <a:endParaRPr lang="en-US" altLang="en-US"/>
          </a:p>
          <a:p>
            <a:pPr lvl="1"/>
            <a:r>
              <a:rPr lang="en-US" altLang="en-US"/>
              <a:t>Suitable for relatively low data-rate applications</a:t>
            </a:r>
            <a:endParaRPr lang="en-US" altLang="en-US"/>
          </a:p>
          <a:p>
            <a:r>
              <a:rPr lang="en-US" altLang="en-US"/>
              <a:t>Applications:</a:t>
            </a:r>
            <a:endParaRPr lang="en-US" altLang="en-US"/>
          </a:p>
          <a:p>
            <a:pPr lvl="1"/>
            <a:r>
              <a:rPr lang="en-US" altLang="en-US"/>
              <a:t>Home automation</a:t>
            </a:r>
            <a:endParaRPr lang="en-US" altLang="en-US"/>
          </a:p>
          <a:p>
            <a:pPr lvl="1"/>
            <a:r>
              <a:rPr lang="en-US" altLang="en-US"/>
              <a:t>Smart lighting</a:t>
            </a:r>
            <a:endParaRPr lang="en-US" altLang="en-US"/>
          </a:p>
          <a:p>
            <a:pPr lvl="1"/>
            <a:r>
              <a:rPr lang="en-US" altLang="en-US"/>
              <a:t>Industrial monitoring</a:t>
            </a:r>
            <a:endParaRPr lang="en-US" altLang="en-US"/>
          </a:p>
          <a:p>
            <a:pPr lvl="1"/>
            <a:r>
              <a:rPr lang="en-US" altLang="en-US"/>
              <a:t>Security systems</a:t>
            </a:r>
            <a:endParaRPr lang="en-US" altLang="en-US"/>
          </a:p>
          <a:p>
            <a:pPr lvl="1"/>
            <a:r>
              <a:rPr lang="en-US" altLang="en-US"/>
              <a:t>Smart energy systems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50" y="4109085"/>
            <a:ext cx="5702300" cy="2540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ZigBee Device Types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1200"/>
              <a:t>ZigBee mainly has three types of devices:</a:t>
            </a:r>
            <a:endParaRPr lang="en-US" altLang="en-US" sz="1200"/>
          </a:p>
          <a:p>
            <a:r>
              <a:rPr lang="en-US" altLang="en-US" sz="1200"/>
              <a:t>1. ZigBee Coordinator (ZC)</a:t>
            </a:r>
            <a:endParaRPr lang="en-US" altLang="en-US" sz="1200"/>
          </a:p>
          <a:p>
            <a:pPr lvl="1"/>
            <a:r>
              <a:rPr lang="en-US" altLang="en-US" sz="1200"/>
              <a:t>It is the main device of a ZigBee network.</a:t>
            </a:r>
            <a:endParaRPr lang="en-US" altLang="en-US" sz="1200"/>
          </a:p>
          <a:p>
            <a:pPr lvl="1"/>
            <a:r>
              <a:rPr lang="en-US" altLang="en-US" sz="1200"/>
              <a:t>It starts and manages the network.</a:t>
            </a:r>
            <a:endParaRPr lang="en-US" altLang="en-US" sz="1200"/>
          </a:p>
          <a:p>
            <a:pPr lvl="1"/>
            <a:r>
              <a:rPr lang="en-US" altLang="en-US" sz="1200"/>
              <a:t>There is normally one coordinator in a ZigBee network.</a:t>
            </a:r>
            <a:endParaRPr lang="en-US" altLang="en-US" sz="1200"/>
          </a:p>
          <a:p>
            <a:pPr lvl="1"/>
            <a:r>
              <a:rPr lang="en-US" altLang="en-US" sz="1200"/>
              <a:t>It can store network information and security information.</a:t>
            </a:r>
            <a:endParaRPr lang="en-US" altLang="en-US" sz="1200"/>
          </a:p>
          <a:p>
            <a:r>
              <a:rPr lang="en-US" altLang="en-US" sz="1200"/>
              <a:t>2. ZigBee Router (ZR)</a:t>
            </a:r>
            <a:endParaRPr lang="en-US" altLang="en-US" sz="1200"/>
          </a:p>
          <a:p>
            <a:pPr lvl="1"/>
            <a:r>
              <a:rPr lang="en-US" altLang="en-US" sz="1200"/>
              <a:t>It forwards data between devices.</a:t>
            </a:r>
            <a:endParaRPr lang="en-US" altLang="en-US" sz="1200"/>
          </a:p>
          <a:p>
            <a:pPr lvl="1"/>
            <a:r>
              <a:rPr lang="en-US" altLang="en-US" sz="1200"/>
              <a:t>It extends the network coverage.</a:t>
            </a:r>
            <a:endParaRPr lang="en-US" altLang="en-US" sz="1200"/>
          </a:p>
          <a:p>
            <a:pPr lvl="1"/>
            <a:r>
              <a:rPr lang="en-US" altLang="en-US" sz="1200"/>
              <a:t>It can communicate with other routers and end devices.</a:t>
            </a:r>
            <a:endParaRPr lang="en-US" altLang="en-US" sz="1200"/>
          </a:p>
          <a:p>
            <a:pPr lvl="1"/>
            <a:r>
              <a:rPr lang="en-US" altLang="en-US" sz="1200"/>
              <a:t>It helps create a mesh network.</a:t>
            </a:r>
            <a:endParaRPr lang="en-US" altLang="en-US" sz="1200"/>
          </a:p>
          <a:p>
            <a:r>
              <a:rPr lang="en-US" altLang="en-US" sz="1200"/>
              <a:t>3. ZigBee End Device (ZED)</a:t>
            </a:r>
            <a:endParaRPr lang="en-US" altLang="en-US" sz="1200"/>
          </a:p>
          <a:p>
            <a:pPr lvl="1"/>
            <a:r>
              <a:rPr lang="en-US" altLang="en-US" sz="1200"/>
              <a:t>It is a simple, low-power device.</a:t>
            </a:r>
            <a:endParaRPr lang="en-US" altLang="en-US" sz="1200"/>
          </a:p>
          <a:p>
            <a:pPr lvl="1"/>
            <a:r>
              <a:rPr lang="en-US" altLang="en-US" sz="1200"/>
              <a:t>It usually communicates through a coordinator or router.</a:t>
            </a:r>
            <a:endParaRPr lang="en-US" altLang="en-US" sz="1200"/>
          </a:p>
          <a:p>
            <a:pPr lvl="1"/>
            <a:r>
              <a:rPr lang="en-US" altLang="en-US" sz="1200"/>
              <a:t>It can enter sleep mode to save battery.</a:t>
            </a:r>
            <a:endParaRPr lang="en-US" altLang="en-US" sz="1200"/>
          </a:p>
          <a:p>
            <a:pPr lvl="1"/>
            <a:r>
              <a:rPr lang="en-US" altLang="en-US" sz="1200"/>
              <a:t>Examples: temperature sensor, light sensor, motion sensor.</a:t>
            </a:r>
            <a:endParaRPr lang="en-US" altLang="en-US" sz="1200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ZigBee Network Topologies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ZigBee supports mainly three network topologies:</a:t>
            </a:r>
            <a:endParaRPr lang="en-US" altLang="en-US"/>
          </a:p>
          <a:p>
            <a:r>
              <a:rPr lang="en-US" altLang="en-US"/>
              <a:t>Star Topology</a:t>
            </a:r>
            <a:endParaRPr lang="en-US" altLang="en-US"/>
          </a:p>
          <a:p>
            <a:r>
              <a:rPr lang="en-US" altLang="en-US"/>
              <a:t>Tree Topology</a:t>
            </a:r>
            <a:endParaRPr lang="en-US" altLang="en-US"/>
          </a:p>
          <a:p>
            <a:r>
              <a:rPr lang="en-US" altLang="en-US"/>
              <a:t>Mesh Topology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1. Star Topology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59940" y="1577340"/>
            <a:ext cx="8064500" cy="4584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2. </a:t>
            </a:r>
            <a:r>
              <a:rPr lang="en-US" altLang="en-US"/>
              <a:t>Tree Topology</a:t>
            </a:r>
            <a:r>
              <a:rPr lang="en-US"/>
              <a:t> 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59940" y="1577340"/>
            <a:ext cx="8064500" cy="4584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3. </a:t>
            </a:r>
            <a:r>
              <a:rPr lang="en-US" altLang="en-US"/>
              <a:t>Mesh Topology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59940" y="1577340"/>
            <a:ext cx="8064500" cy="4584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4. ANT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1600"/>
              <a:t>ANT is a low-power wireless communication protocol mainly used for monitoring and sensor-based applications.</a:t>
            </a:r>
            <a:endParaRPr lang="en-US" altLang="en-US" sz="1600"/>
          </a:p>
          <a:p>
            <a:r>
              <a:rPr lang="en-US" altLang="en-US" sz="1600"/>
              <a:t>It is particularly associated with sports, fitness and health devices.</a:t>
            </a:r>
            <a:endParaRPr lang="en-US" altLang="en-US" sz="1600"/>
          </a:p>
          <a:p>
            <a:r>
              <a:rPr lang="en-US" altLang="en-US" sz="1600"/>
              <a:t>Features:</a:t>
            </a:r>
            <a:endParaRPr lang="en-US" altLang="en-US" sz="1600"/>
          </a:p>
          <a:p>
            <a:pPr lvl="1"/>
            <a:r>
              <a:rPr lang="en-US" altLang="en-US" sz="1400"/>
              <a:t>Low power consumption</a:t>
            </a:r>
            <a:endParaRPr lang="en-US" altLang="en-US" sz="1400"/>
          </a:p>
          <a:p>
            <a:pPr lvl="1"/>
            <a:r>
              <a:rPr lang="en-US" altLang="en-US" sz="1400"/>
              <a:t>Short-range wireless communication</a:t>
            </a:r>
            <a:endParaRPr lang="en-US" altLang="en-US" sz="1400"/>
          </a:p>
          <a:p>
            <a:pPr lvl="1"/>
            <a:r>
              <a:rPr lang="en-US" altLang="en-US" sz="1400"/>
              <a:t>Suitable for sensor data</a:t>
            </a:r>
            <a:endParaRPr lang="en-US" altLang="en-US" sz="1400"/>
          </a:p>
          <a:p>
            <a:pPr lvl="1"/>
            <a:r>
              <a:rPr lang="en-US" altLang="en-US" sz="1400"/>
              <a:t>Supports communication between multiple devices</a:t>
            </a:r>
            <a:endParaRPr lang="en-US" altLang="en-US" sz="1400"/>
          </a:p>
          <a:p>
            <a:pPr lvl="1"/>
            <a:r>
              <a:rPr lang="en-US" altLang="en-US" sz="1400"/>
              <a:t>Designed for applications requiring low data rates</a:t>
            </a:r>
            <a:endParaRPr lang="en-US" altLang="en-US" sz="1400"/>
          </a:p>
          <a:p>
            <a:r>
              <a:rPr lang="en-US" altLang="en-US" sz="1600"/>
              <a:t>Applications:</a:t>
            </a:r>
            <a:endParaRPr lang="en-US" altLang="en-US" sz="1600"/>
          </a:p>
          <a:p>
            <a:pPr lvl="1"/>
            <a:r>
              <a:rPr lang="en-US" altLang="en-US" sz="1400"/>
              <a:t>Heart-rate monitors</a:t>
            </a:r>
            <a:endParaRPr lang="en-US" altLang="en-US" sz="1400"/>
          </a:p>
          <a:p>
            <a:pPr lvl="1"/>
            <a:r>
              <a:rPr lang="en-US" altLang="en-US" sz="1400"/>
              <a:t>Cycling sensors</a:t>
            </a:r>
            <a:endParaRPr lang="en-US" altLang="en-US" sz="1400"/>
          </a:p>
          <a:p>
            <a:pPr lvl="1"/>
            <a:r>
              <a:rPr lang="en-US" altLang="en-US" sz="1400"/>
              <a:t>Fitness equipment</a:t>
            </a:r>
            <a:endParaRPr lang="en-US" altLang="en-US" sz="1400"/>
          </a:p>
          <a:p>
            <a:pPr lvl="1"/>
            <a:r>
              <a:rPr lang="en-US" altLang="en-US" sz="1400"/>
              <a:t>Sports monitoring</a:t>
            </a:r>
            <a:endParaRPr lang="en-US" altLang="en-US" sz="1400"/>
          </a:p>
          <a:p>
            <a:pPr lvl="1"/>
            <a:r>
              <a:rPr lang="en-US" altLang="en-US" sz="1400"/>
              <a:t>Wearable devices</a:t>
            </a:r>
            <a:endParaRPr lang="en-US" altLang="en-US" sz="1400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ANT Topology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59940" y="1577340"/>
            <a:ext cx="8064500" cy="4584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ANT Topology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9310" y="1396365"/>
            <a:ext cx="6692900" cy="51968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ANT Topology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96850"/>
            <a:ext cx="6771005" cy="64344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479425"/>
            <a:ext cx="11173460" cy="54870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3364</Words>
  <Application>WPS Presentation</Application>
  <PresentationFormat>Widescreen</PresentationFormat>
  <Paragraphs>132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Short-Range Communication Used in IoT</dc:title>
  <dc:creator>suratwalavraj</dc:creator>
  <cp:lastModifiedBy>Vraj Suratwala</cp:lastModifiedBy>
  <cp:revision>7</cp:revision>
  <dcterms:created xsi:type="dcterms:W3CDTF">2026-09-05T20:37:43Z</dcterms:created>
  <dcterms:modified xsi:type="dcterms:W3CDTF">2026-09-05T20:37:43Z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51635CD1E9C854E24A4E9C6AD128120A_41</vt:lpwstr>
  </property>
</Properties>
</file>