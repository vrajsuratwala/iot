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5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4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5.png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7.xml"/><Relationship Id="rId3" Type="http://schemas.openxmlformats.org/officeDocument/2006/relationships/image" Target="../media/image6.png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7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3.xml"/><Relationship Id="rId3" Type="http://schemas.openxmlformats.org/officeDocument/2006/relationships/image" Target="../media/image8.pn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Introduction Field Bus (wired) Communication for Embedded 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Index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sz="2400"/>
              <a:t>Basic Understaing of SPI</a:t>
            </a:r>
            <a:endParaRPr lang="en-US" sz="2400"/>
          </a:p>
          <a:p>
            <a:r>
              <a:rPr lang="en-US" sz="2400"/>
              <a:t>Introduction to I2C</a:t>
            </a:r>
            <a:endParaRPr lang="en-US" sz="2400"/>
          </a:p>
          <a:p>
            <a:r>
              <a:rPr lang="en-US" sz="2400"/>
              <a:t>Introduction to UART &amp; USART</a:t>
            </a:r>
            <a:endParaRPr lang="en-US" sz="24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1. SPI </a:t>
            </a:r>
            <a:r>
              <a:rPr lang="en-US" altLang="en-US"/>
              <a:t>(serial peripheral interface)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Advance 8051 microcontroller provides another </a:t>
            </a:r>
            <a:endParaRPr lang="en-US" altLang="en-US"/>
          </a:p>
          <a:p>
            <a:pPr lvl="1"/>
            <a:r>
              <a:rPr lang="en-US" altLang="en-US"/>
              <a:t> high-speed serial communication interface, the </a:t>
            </a:r>
            <a:endParaRPr lang="en-US" altLang="en-US"/>
          </a:p>
          <a:p>
            <a:pPr lvl="1"/>
            <a:r>
              <a:rPr lang="en-US" altLang="en-US"/>
              <a:t> SPI interface. SPI is a full-duplex, high-speed, </a:t>
            </a:r>
            <a:endParaRPr lang="en-US" altLang="en-US"/>
          </a:p>
          <a:p>
            <a:pPr lvl="1"/>
            <a:r>
              <a:rPr lang="en-US" altLang="en-US"/>
              <a:t> synchronous communication bus with two </a:t>
            </a:r>
            <a:endParaRPr lang="en-US" altLang="en-US"/>
          </a:p>
          <a:p>
            <a:r>
              <a:rPr lang="en-US" altLang="en-US"/>
              <a:t> operation modes: </a:t>
            </a:r>
            <a:endParaRPr lang="en-US" altLang="en-US"/>
          </a:p>
          <a:p>
            <a:pPr lvl="1"/>
            <a:r>
              <a:rPr lang="en-US" altLang="en-US"/>
              <a:t> – Master mode </a:t>
            </a:r>
            <a:endParaRPr lang="en-US" altLang="en-US"/>
          </a:p>
          <a:p>
            <a:pPr lvl="1"/>
            <a:r>
              <a:rPr lang="en-US" altLang="en-US"/>
              <a:t> – Slave mode. </a:t>
            </a:r>
            <a:endParaRPr lang="en-US" altLang="en-US"/>
          </a:p>
          <a:p>
            <a:r>
              <a:rPr lang="en-US" altLang="en-US"/>
              <a:t> Up to 3Mbit/s can be supported in either Master or Slave mode. </a:t>
            </a:r>
            <a:endParaRPr lang="en-US" altLang="en-US"/>
          </a:p>
          <a:p>
            <a:r>
              <a:rPr lang="en-US" altLang="en-US"/>
              <a:t> It has a Transfer Completion Flag and Write Collision Flag Protection.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Typical SPI Configuration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85240" y="1704340"/>
            <a:ext cx="9613900" cy="4330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Deatils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The SPI interface has four pins: </a:t>
            </a:r>
            <a:endParaRPr lang="en-US" altLang="en-US"/>
          </a:p>
          <a:p>
            <a:pPr lvl="1"/>
            <a:r>
              <a:rPr lang="en-US" altLang="en-US"/>
              <a:t>SPICLK, MOSI, MISO and SS:</a:t>
            </a:r>
            <a:endParaRPr lang="en-US" altLang="en-US"/>
          </a:p>
          <a:p>
            <a:r>
              <a:rPr lang="en-US" altLang="en-US"/>
              <a:t> SPICLK, MOSI and MISO are typically tied together between two or more SPI devices. </a:t>
            </a:r>
            <a:endParaRPr lang="en-US" altLang="en-US"/>
          </a:p>
          <a:p>
            <a:r>
              <a:rPr lang="en-US" altLang="en-US"/>
              <a:t> Data flows from master to slave on the MOSI (Master Out Slave In) pin and flows from slave to master on the MISO (Master In Slave Out) pin. </a:t>
            </a:r>
            <a:endParaRPr lang="en-US" altLang="en-US"/>
          </a:p>
          <a:p>
            <a:r>
              <a:rPr lang="en-US" altLang="en-US"/>
              <a:t> The SPICLK signal is output in the master mode and is input in the slave mode.If the SPI system is disabled, i.e. SPEN (SPCTL.6) = 0 (reset value), these pins are configured for port functions.</a:t>
            </a:r>
            <a:endParaRPr lang="en-US" altLang="en-US"/>
          </a:p>
          <a:p>
            <a:r>
              <a:rPr lang="en-US" altLang="en-US"/>
              <a:t>SS is the optional slave select pin. </a:t>
            </a:r>
            <a:endParaRPr lang="en-US" altLang="en-US"/>
          </a:p>
          <a:p>
            <a:r>
              <a:rPr lang="en-US" altLang="en-US"/>
              <a:t> In a typical configuration, an SPI master asserts one of its port pins to select one SPI device pin to determine whether it is selected.</a:t>
            </a:r>
            <a:endParaRPr lang="en-US" altLang="en-US"/>
          </a:p>
          <a:p>
            <a:r>
              <a:rPr lang="en-US" altLang="en-US"/>
              <a:t> The SS is ignored if any of the as the current slave.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5549265"/>
          </a:xfrm>
        </p:spPr>
        <p:txBody>
          <a:bodyPr/>
          <a:p>
            <a:r>
              <a:rPr lang="en-US"/>
              <a:t>Multiple </a:t>
            </a:r>
            <a:br>
              <a:rPr lang="en-US"/>
            </a:br>
            <a:r>
              <a:rPr lang="en-US"/>
              <a:t>Slaves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96615" y="608330"/>
            <a:ext cx="8180705" cy="5805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2. I2C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I²C (Inter-Integrated Circuit) is a synchronous serial communication protocol that allows multiple devices to communicate using only two communication lines: SDA and SCL.</a:t>
            </a:r>
            <a:endParaRPr lang="en-US" altLang="en-US"/>
          </a:p>
          <a:p>
            <a:r>
              <a:rPr lang="en-US" altLang="en-US"/>
              <a:t>Lines</a:t>
            </a:r>
            <a:endParaRPr lang="en-US" altLang="en-US"/>
          </a:p>
          <a:p>
            <a:pPr lvl="1"/>
            <a:r>
              <a:rPr lang="en-US" altLang="en-US"/>
              <a:t>SDA → Serial Data</a:t>
            </a:r>
            <a:endParaRPr lang="en-US" altLang="en-US"/>
          </a:p>
          <a:p>
            <a:pPr lvl="1"/>
            <a:r>
              <a:rPr lang="en-US" altLang="en-US"/>
              <a:t>SCL → Serial Clock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2552700"/>
            <a:ext cx="5067300" cy="430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I2C Working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200"/>
              <a:t>Master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│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│ START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▼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Slave Address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│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▼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Read / Write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│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▼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Data Transfer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│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  ▼</a:t>
            </a:r>
            <a:endParaRPr lang="en-US" altLang="en-US" sz="1200"/>
          </a:p>
          <a:p>
            <a:pPr marL="0" indent="0">
              <a:buNone/>
            </a:pPr>
            <a:r>
              <a:rPr lang="en-US" altLang="en-US" sz="1200"/>
              <a:t> STOP</a:t>
            </a:r>
            <a:endParaRPr lang="en-US" altLang="en-US" sz="1200"/>
          </a:p>
        </p:txBody>
      </p:sp>
      <p:sp>
        <p:nvSpPr>
          <p:cNvPr id="4" name="Text Box 3"/>
          <p:cNvSpPr txBox="1"/>
          <p:nvPr/>
        </p:nvSpPr>
        <p:spPr>
          <a:xfrm>
            <a:off x="3556000" y="1490345"/>
            <a:ext cx="8147685" cy="449389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sz="2000" b="0" i="0">
                <a:solidFill>
                  <a:srgbClr val="000000"/>
                </a:solidFill>
              </a:rPr>
              <a:t>T</a:t>
            </a:r>
            <a:r>
              <a:rPr sz="2000" b="0" i="0">
                <a:solidFill>
                  <a:srgbClr val="000000"/>
                </a:solidFill>
              </a:rPr>
              <a:t>he master generates the clock and selects a slave using its address.</a:t>
            </a:r>
            <a:endParaRPr sz="2000" b="0" i="0">
              <a:solidFill>
                <a:srgbClr val="000000"/>
              </a:solidFill>
            </a:endParaRPr>
          </a:p>
          <a:p>
            <a:pPr marL="0" indent="0">
              <a:spcAft>
                <a:spcPct val="60000"/>
              </a:spcAft>
            </a:pPr>
            <a:r>
              <a:rPr sz="2800" b="1" i="0">
                <a:solidFill>
                  <a:srgbClr val="000000"/>
                </a:solidFill>
              </a:rPr>
              <a:t>Key Points</a:t>
            </a:r>
            <a:endParaRPr sz="2800" b="1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sz="2000" b="0" i="0">
                <a:solidFill>
                  <a:srgbClr val="000000"/>
                </a:solidFill>
              </a:rPr>
              <a:t>Only 2 wires are required.</a:t>
            </a:r>
            <a:endParaRPr sz="20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sz="2000" b="0" i="0">
                <a:solidFill>
                  <a:srgbClr val="000000"/>
                </a:solidFill>
              </a:rPr>
              <a:t>Supports multiple devices.</a:t>
            </a:r>
            <a:endParaRPr sz="20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sz="2000" b="0" i="0">
                <a:solidFill>
                  <a:srgbClr val="000000"/>
                </a:solidFill>
              </a:rPr>
              <a:t>Uses device addressing.</a:t>
            </a:r>
            <a:endParaRPr sz="20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sz="2000" b="0" i="0">
                <a:solidFill>
                  <a:srgbClr val="000000"/>
                </a:solidFill>
              </a:rPr>
              <a:t>Synchronous communication.</a:t>
            </a:r>
            <a:endParaRPr sz="2000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Char char="•"/>
            </a:pPr>
            <a:r>
              <a:rPr sz="2000" b="0" i="0">
                <a:solidFill>
                  <a:srgbClr val="000000"/>
                </a:solidFill>
              </a:rPr>
              <a:t>Commonly used for sensors, RTC, EEPROM, OLED displays, etc.</a:t>
            </a:r>
            <a:endParaRPr sz="2000" b="0" i="0">
              <a:solidFill>
                <a:srgbClr val="0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3. </a:t>
            </a:r>
            <a:r>
              <a:rPr lang="en-US" altLang="en-US"/>
              <a:t>UART — Universal Asynchronous Receiver/Transmitter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UART is an asynchronous serial communication interface used for communication between two devices.</a:t>
            </a:r>
            <a:endParaRPr lang="en-US" altLang="en-US"/>
          </a:p>
          <a:p>
            <a:r>
              <a:rPr lang="en-US" altLang="en-US"/>
              <a:t>Unlike I²C and SPI, UART does not use a separate clock signal.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2810" y="2984500"/>
            <a:ext cx="5067300" cy="34290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500110" y="5265102"/>
            <a:ext cx="5080000" cy="114871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Aft>
                <a:spcPct val="60000"/>
              </a:spcAft>
            </a:pPr>
            <a:r>
              <a:rPr lang="en-US" sz="2200" b="1" i="0">
                <a:solidFill>
                  <a:srgbClr val="000000"/>
                </a:solidFill>
              </a:rPr>
              <a:t>I</a:t>
            </a:r>
            <a:r>
              <a:rPr sz="2200" b="1" i="0">
                <a:solidFill>
                  <a:srgbClr val="000000"/>
                </a:solidFill>
              </a:rPr>
              <a:t>mportant</a:t>
            </a:r>
            <a:endParaRPr sz="2200" b="1" i="0">
              <a:solidFill>
                <a:srgbClr val="000000"/>
              </a:solidFill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</a:rPr>
              <a:t>TX of Device 1 → RX of Device 2</a:t>
            </a:r>
            <a:endParaRPr sz="1600" b="0" i="0">
              <a:solidFill>
                <a:srgbClr val="000000"/>
              </a:solidFill>
            </a:endParaRPr>
          </a:p>
          <a:p>
            <a:pPr marL="0" indent="0"/>
            <a:r>
              <a:rPr sz="1600" b="0" i="0">
                <a:solidFill>
                  <a:srgbClr val="000000"/>
                </a:solidFill>
              </a:rPr>
              <a:t>RX of Device 1 ← TX of Device 2</a:t>
            </a:r>
            <a:endParaRPr sz="1600" b="0" i="0">
              <a:solidFill>
                <a:srgbClr val="00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608330"/>
            <a:ext cx="10133965" cy="60204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4. USART — Universal Synchronous/Asynchronous Receiver/Transmitter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USART is a serial communication interface capable of operating in both synchronous and asynchronous modes.</a:t>
            </a:r>
            <a:endParaRPr lang="en-US" altLang="en-US"/>
          </a:p>
          <a:p>
            <a:r>
              <a:rPr lang="en-US" altLang="en-US"/>
              <a:t>Therefore:</a:t>
            </a:r>
            <a:endParaRPr lang="en-US" altLang="en-US"/>
          </a:p>
          <a:p>
            <a:r>
              <a:rPr lang="en-US" altLang="en-US"/>
              <a:t>USART = UART + Synchronous Communication Capability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USART Diagram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22550" y="1490345"/>
            <a:ext cx="69399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455295"/>
            <a:ext cx="8388985" cy="61785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Summary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9112885" cy="49072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Thank You</a:t>
            </a: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Vraj Suratwala</a:t>
            </a:r>
            <a:endParaRPr lang="en-US"/>
          </a:p>
          <a:p>
            <a:r>
              <a:rPr lang="en-US"/>
              <a:t>Department of ICT, VNSGU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2477</Words>
  <Application>WPS Presentation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Wingdings</vt:lpstr>
      <vt:lpstr>Microsoft YaHei</vt:lpstr>
      <vt:lpstr>汉仪旗黑</vt:lpstr>
      <vt:lpstr>Arial Unicode MS</vt:lpstr>
      <vt:lpstr>Calibri</vt:lpstr>
      <vt:lpstr>Helvetica Neue</vt:lpstr>
      <vt:lpstr>宋体-简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Field Bus (wired) Communication for Embedded System</dc:title>
  <dc:creator>suratwalavraj</dc:creator>
  <cp:lastModifiedBy>Vraj Suratwala</cp:lastModifiedBy>
  <cp:revision>5</cp:revision>
  <dcterms:created xsi:type="dcterms:W3CDTF">2026-09-05T20:19:04Z</dcterms:created>
  <dcterms:modified xsi:type="dcterms:W3CDTF">2026-09-05T20:19:04Z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E45C3CD01A55D3B7A9759C6A874754DB_41</vt:lpwstr>
  </property>
</Properties>
</file>